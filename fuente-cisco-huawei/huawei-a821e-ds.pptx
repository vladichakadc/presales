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handoutMasterIdLst>
    <p:handoutMasterId r:id="rId9"/>
  </p:handoutMasterIdLst>
  <p:sldIdLst>
    <p:sldId id="275" r:id="rId3"/>
    <p:sldId id="267" r:id="rId4"/>
    <p:sldId id="276" r:id="rId5"/>
    <p:sldId id="272" r:id="rId6"/>
    <p:sldId id="273" r:id="rId7"/>
    <p:sldId id="274" r:id="rId8"/>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8" userDrawn="1">
          <p15:clr>
            <a:srgbClr val="A4A3A4"/>
          </p15:clr>
        </p15:guide>
        <p15:guide id="2" pos="2140" userDrawn="1">
          <p15:clr>
            <a:srgbClr val="A4A3A4"/>
          </p15:clr>
        </p15:guide>
        <p15:guide id="3" pos="364" userDrawn="1">
          <p15:clr>
            <a:srgbClr val="A4A3A4"/>
          </p15:clr>
        </p15:guide>
        <p15:guide id="4" orient="horz" pos="63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zhiyong" initials="f" lastIdx="1" clrIdx="0">
    <p:extLst>
      <p:ext uri="{19B8F6BF-5375-455C-9EA6-DF929625EA0E}">
        <p15:presenceInfo xmlns:p15="http://schemas.microsoft.com/office/powerpoint/2012/main" userId="S-1-5-21-147214757-305610072-1517763936-53943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3" autoAdjust="0"/>
    <p:restoredTop sz="92815" autoAdjust="0"/>
  </p:normalViewPr>
  <p:slideViewPr>
    <p:cSldViewPr>
      <p:cViewPr>
        <p:scale>
          <a:sx n="100" d="100"/>
          <a:sy n="100" d="100"/>
        </p:scale>
        <p:origin x="4512" y="72"/>
      </p:cViewPr>
      <p:guideLst>
        <p:guide orient="horz" pos="2888"/>
        <p:guide pos="2140"/>
        <p:guide pos="364"/>
        <p:guide orient="horz" pos="632"/>
      </p:guideLst>
    </p:cSldViewPr>
  </p:slideViewPr>
  <p:notesTextViewPr>
    <p:cViewPr>
      <p:scale>
        <a:sx n="100" d="100"/>
        <a:sy n="100" d="100"/>
      </p:scale>
      <p:origin x="0" y="0"/>
    </p:cViewPr>
  </p:notesTextViewPr>
  <p:notesViewPr>
    <p:cSldViewPr>
      <p:cViewPr varScale="1">
        <p:scale>
          <a:sx n="74" d="100"/>
          <a:sy n="74" d="100"/>
        </p:scale>
        <p:origin x="30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6E6DAE-60DC-4DDF-AF62-59B625E88943}"/>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B7142C5-1043-487D-AEA9-46CF6D027A9F}"/>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BD275801-415F-44D2-BF38-E4A19A32CE63}" type="datetimeFigureOut">
              <a:rPr lang="zh-CN" altLang="en-US" smtClean="0"/>
              <a:t>2025/7/9</a:t>
            </a:fld>
            <a:endParaRPr lang="zh-CN" altLang="en-US"/>
          </a:p>
        </p:txBody>
      </p:sp>
      <p:sp>
        <p:nvSpPr>
          <p:cNvPr id="4" name="页脚占位符 3">
            <a:extLst>
              <a:ext uri="{FF2B5EF4-FFF2-40B4-BE49-F238E27FC236}">
                <a16:creationId xmlns:a16="http://schemas.microsoft.com/office/drawing/2014/main" id="{56BE2A84-136B-4E0D-9937-1794271C4568}"/>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64A8BF2-D2FE-4645-9EBE-23CC7E682F3A}"/>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ED88567C-02EE-4E1E-AE35-C6A862B5B0EF}" type="slidenum">
              <a:rPr lang="zh-CN" altLang="en-US" smtClean="0"/>
              <a:t>‹#›</a:t>
            </a:fld>
            <a:endParaRPr lang="zh-CN" altLang="en-US"/>
          </a:p>
        </p:txBody>
      </p:sp>
    </p:spTree>
    <p:extLst>
      <p:ext uri="{BB962C8B-B14F-4D97-AF65-F5344CB8AC3E}">
        <p14:creationId xmlns:p14="http://schemas.microsoft.com/office/powerpoint/2010/main" val="262036023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7/9/2025</a:t>
            </a:fld>
            <a:endParaRPr lang="en-US" dirty="0"/>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0103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7/9/2025</a:t>
            </a:fld>
            <a:endParaRPr lang="en-US" dirty="0"/>
          </a:p>
        </p:txBody>
      </p:sp>
      <p:sp>
        <p:nvSpPr>
          <p:cNvPr id="7" name="Holder 7"/>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微软雅黑"/>
                <a:cs typeface="微软雅黑"/>
              </a:defRPr>
            </a:lvl1pPr>
          </a:lstStyle>
          <a:p>
            <a:endParaRPr/>
          </a:p>
        </p:txBody>
      </p:sp>
      <p:sp>
        <p:nvSpPr>
          <p:cNvPr id="3" name="Holder 3"/>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7/9/2025</a:t>
            </a:fld>
            <a:endParaRPr lang="en-US" dirty="0"/>
          </a:p>
        </p:txBody>
      </p:sp>
      <p:sp>
        <p:nvSpPr>
          <p:cNvPr id="5" name="Holder 5"/>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571369" y="9944862"/>
            <a:ext cx="2420112" cy="534670"/>
          </a:xfrm>
          <a:prstGeom prst="rect">
            <a:avLst/>
          </a:prstGeom>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a:xfrm>
            <a:off x="378142" y="9944862"/>
            <a:ext cx="1739455" cy="53467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7/9/2025</a:t>
            </a:fld>
            <a:endParaRPr lang="en-US" dirty="0"/>
          </a:p>
        </p:txBody>
      </p:sp>
      <p:sp>
        <p:nvSpPr>
          <p:cNvPr id="4" name="Holder 4"/>
          <p:cNvSpPr>
            <a:spLocks noGrp="1"/>
          </p:cNvSpPr>
          <p:nvPr>
            <p:ph type="sldNum" sz="quarter" idx="7"/>
          </p:nvPr>
        </p:nvSpPr>
        <p:spPr/>
        <p:txBody>
          <a:bodyPr lIns="0" tIns="0" rIns="0" bIns="0"/>
          <a:lstStyle>
            <a:lvl1pPr>
              <a:defRPr sz="1000" b="0" i="0">
                <a:solidFill>
                  <a:schemeClr val="bg1"/>
                </a:solidFill>
                <a:latin typeface="微软雅黑"/>
                <a:cs typeface="微软雅黑"/>
              </a:defRPr>
            </a:lvl1pPr>
          </a:lstStyle>
          <a:p>
            <a:pPr marL="38100">
              <a:lnSpc>
                <a:spcPct val="100000"/>
              </a:lnSpc>
              <a:spcBef>
                <a:spcPts val="155"/>
              </a:spcBef>
            </a:pPr>
            <a:fld id="{81D60167-4931-47E6-BA6A-407CBD079E47}" type="slidenum">
              <a:rPr spc="-25" dirty="0"/>
              <a:t>‹#›</a:t>
            </a:fld>
            <a:endParaRPr spc="-25"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58F1B02A-EEB7-46F0-BCEC-A7A924F99B8E}"/>
              </a:ext>
            </a:extLst>
          </p:cNvPr>
          <p:cNvCxnSpPr>
            <a:cxnSpLocks/>
          </p:cNvCxnSpPr>
          <p:nvPr userDrawn="1"/>
        </p:nvCxnSpPr>
        <p:spPr>
          <a:xfrm>
            <a:off x="526097" y="4699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17CD144-1468-4182-99C2-4E83273F048A}"/>
              </a:ext>
            </a:extLst>
          </p:cNvPr>
          <p:cNvCxnSpPr>
            <a:cxnSpLocks/>
          </p:cNvCxnSpPr>
          <p:nvPr userDrawn="1"/>
        </p:nvCxnSpPr>
        <p:spPr>
          <a:xfrm>
            <a:off x="527261" y="4699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484C911-4A8C-4522-B20E-BEBBA09BAA7E}"/>
              </a:ext>
            </a:extLst>
          </p:cNvPr>
          <p:cNvCxnSpPr>
            <a:cxnSpLocks/>
          </p:cNvCxnSpPr>
          <p:nvPr userDrawn="1"/>
        </p:nvCxnSpPr>
        <p:spPr>
          <a:xfrm>
            <a:off x="6201091" y="10071100"/>
            <a:ext cx="813753"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78F7ED6-594D-484E-B7CD-C8E841883CFF}"/>
              </a:ext>
            </a:extLst>
          </p:cNvPr>
          <p:cNvCxnSpPr>
            <a:cxnSpLocks/>
          </p:cNvCxnSpPr>
          <p:nvPr userDrawn="1"/>
        </p:nvCxnSpPr>
        <p:spPr>
          <a:xfrm>
            <a:off x="7014844" y="9309100"/>
            <a:ext cx="0" cy="7620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89860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7217" y="1801748"/>
            <a:ext cx="6368414" cy="452119"/>
          </a:xfrm>
          <a:prstGeom prst="rect">
            <a:avLst/>
          </a:prstGeom>
        </p:spPr>
        <p:txBody>
          <a:bodyPr wrap="square" lIns="0" tIns="0" rIns="0" bIns="0">
            <a:spAutoFit/>
          </a:bodyPr>
          <a:lstStyle>
            <a:lvl1pPr>
              <a:defRPr sz="2400" b="1" i="0">
                <a:solidFill>
                  <a:schemeClr val="bg1"/>
                </a:solidFill>
                <a:latin typeface="微软雅黑"/>
                <a:cs typeface="微软雅黑"/>
              </a:defRPr>
            </a:lvl1pPr>
          </a:lstStyle>
          <a:p>
            <a:endParaRPr/>
          </a:p>
        </p:txBody>
      </p:sp>
      <p:sp>
        <p:nvSpPr>
          <p:cNvPr id="3" name="Holder 3"/>
          <p:cNvSpPr>
            <a:spLocks noGrp="1"/>
          </p:cNvSpPr>
          <p:nvPr>
            <p:ph type="body" idx="1"/>
          </p:nvPr>
        </p:nvSpPr>
        <p:spPr>
          <a:xfrm>
            <a:off x="526097" y="3575684"/>
            <a:ext cx="6435725" cy="2778125"/>
          </a:xfrm>
          <a:prstGeom prst="rect">
            <a:avLst/>
          </a:prstGeom>
        </p:spPr>
        <p:txBody>
          <a:bodyPr wrap="square" lIns="0" tIns="0" rIns="0" bIns="0">
            <a:spAutoFit/>
          </a:bodyPr>
          <a:lstStyle>
            <a:lvl1pPr>
              <a:defRPr sz="1800" b="1" i="0">
                <a:solidFill>
                  <a:srgbClr val="0079C3"/>
                </a:solidFill>
                <a:latin typeface="微软雅黑"/>
                <a:cs typeface="微软雅黑"/>
              </a:defRPr>
            </a:lvl1pPr>
          </a:lstStyle>
          <a:p>
            <a:endParaRPr/>
          </a:p>
        </p:txBody>
      </p:sp>
      <p:sp>
        <p:nvSpPr>
          <p:cNvPr id="6" name="Holder 6"/>
          <p:cNvSpPr>
            <a:spLocks noGrp="1"/>
          </p:cNvSpPr>
          <p:nvPr>
            <p:ph type="sldNum" sz="quarter" idx="7"/>
          </p:nvPr>
        </p:nvSpPr>
        <p:spPr>
          <a:xfrm>
            <a:off x="6889750" y="10272000"/>
            <a:ext cx="241300" cy="153888"/>
          </a:xfrm>
          <a:prstGeom prst="rect">
            <a:avLst/>
          </a:prstGeom>
        </p:spPr>
        <p:txBody>
          <a:bodyPr wrap="square" lIns="0" tIns="0" rIns="0" bIns="0">
            <a:spAutoFit/>
          </a:bodyPr>
          <a:lstStyle>
            <a:lvl1pPr>
              <a:defRPr sz="1000" b="0" i="0">
                <a:solidFill>
                  <a:schemeClr val="tx1"/>
                </a:solidFill>
                <a:latin typeface="微软雅黑"/>
                <a:cs typeface="微软雅黑"/>
              </a:defRPr>
            </a:lvl1pPr>
          </a:lstStyle>
          <a:p>
            <a:pPr marL="38100">
              <a:spcBef>
                <a:spcPts val="155"/>
              </a:spcBef>
            </a:pPr>
            <a:fld id="{81D60167-4931-47E6-BA6A-407CBD079E47}" type="slidenum">
              <a:rPr lang="en-US" altLang="zh-CN" spc="-25" smtClean="0"/>
              <a:pPr marL="38100">
                <a:spcBef>
                  <a:spcPts val="155"/>
                </a:spcBef>
              </a:pPr>
              <a:t>‹#›</a:t>
            </a:fld>
            <a:endParaRPr lang="en-US" altLang="zh-CN" spc="-25" dirty="0"/>
          </a:p>
        </p:txBody>
      </p:sp>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cxnSp>
        <p:nvCxnSpPr>
          <p:cNvPr id="9" name="直接连接符 8">
            <a:extLst>
              <a:ext uri="{FF2B5EF4-FFF2-40B4-BE49-F238E27FC236}">
                <a16:creationId xmlns:a16="http://schemas.microsoft.com/office/drawing/2014/main" id="{971B8ECB-DB06-454E-8475-E055C0F5123B}"/>
              </a:ext>
            </a:extLst>
          </p:cNvPr>
          <p:cNvCxnSpPr>
            <a:cxnSpLocks/>
          </p:cNvCxnSpPr>
          <p:nvPr userDrawn="1"/>
        </p:nvCxnSpPr>
        <p:spPr>
          <a:xfrm>
            <a:off x="526097" y="10071100"/>
            <a:ext cx="6488747"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6" r:id="rId2"/>
    <p:sldLayoutId id="2147483662" r:id="rId3"/>
    <p:sldLayoutId id="2147483663" r:id="rId4"/>
    <p:sldLayoutId id="2147483664" r:id="rId5"/>
    <p:sldLayoutId id="2147483665"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0E9099A5-0BC1-4841-A674-FC86976DBD5F}"/>
              </a:ext>
            </a:extLst>
          </p:cNvPr>
          <p:cNvSpPr txBox="1"/>
          <p:nvPr userDrawn="1"/>
        </p:nvSpPr>
        <p:spPr>
          <a:xfrm>
            <a:off x="526097" y="10261219"/>
            <a:ext cx="608965" cy="153888"/>
          </a:xfrm>
          <a:prstGeom prst="rect">
            <a:avLst/>
          </a:prstGeom>
        </p:spPr>
        <p:txBody>
          <a:bodyPr vert="horz" wrap="square" lIns="0" tIns="0" rIns="0" bIns="0" rtlCol="0">
            <a:spAutoFit/>
          </a:bodyPr>
          <a:lstStyle/>
          <a:p>
            <a:pPr marL="12700">
              <a:lnSpc>
                <a:spcPct val="100000"/>
              </a:lnSpc>
              <a:spcBef>
                <a:spcPts val="100"/>
              </a:spcBef>
            </a:pPr>
            <a:r>
              <a:rPr sz="1000" spc="-10" dirty="0">
                <a:latin typeface="Arial"/>
                <a:cs typeface="Arial"/>
              </a:rPr>
              <a:t>Datasheet</a:t>
            </a:r>
            <a:endParaRPr sz="1000" dirty="0">
              <a:latin typeface="Arial"/>
              <a:cs typeface="Arial"/>
            </a:endParaRPr>
          </a:p>
        </p:txBody>
      </p:sp>
    </p:spTree>
    <p:extLst>
      <p:ext uri="{BB962C8B-B14F-4D97-AF65-F5344CB8AC3E}">
        <p14:creationId xmlns:p14="http://schemas.microsoft.com/office/powerpoint/2010/main" val="755297996"/>
      </p:ext>
    </p:extLst>
  </p:cSld>
  <p:clrMap bg1="lt1" tx1="dk1" bg2="lt2" tx2="dk2" accent1="accent1" accent2="accent2" accent3="accent3" accent4="accent4" accent5="accent5" accent6="accent6" hlink="hlink" folHlink="folHlink"/>
  <p:sldLayoutIdLst>
    <p:sldLayoutId id="2147483668"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tiff"/><Relationship Id="rId7" Type="http://schemas.microsoft.com/office/2007/relationships/hdphoto" Target="../media/hdphoto1.wdp"/><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upport.huawei.com/enterprise/en/router/ne20e-s-pid-19896202/"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e.huawei.com/cn/service-hotline" TargetMode="External"/><Relationship Id="rId7" Type="http://schemas.openxmlformats.org/officeDocument/2006/relationships/image" Target="../media/image12.png"/><Relationship Id="rId2" Type="http://schemas.openxmlformats.org/officeDocument/2006/relationships/hyperlink" Target="http://e.huawei.com/" TargetMode="External"/><Relationship Id="rId1" Type="http://schemas.openxmlformats.org/officeDocument/2006/relationships/slideLayout" Target="../slideLayouts/slideLayout6.xml"/><Relationship Id="rId6" Type="http://schemas.openxmlformats.org/officeDocument/2006/relationships/hyperlink" Target="http://www.huawei.com/" TargetMode="External"/><Relationship Id="rId5" Type="http://schemas.openxmlformats.org/officeDocument/2006/relationships/hyperlink" Target="mailto:support_e@huawei.com" TargetMode="External"/><Relationship Id="rId4" Type="http://schemas.openxmlformats.org/officeDocument/2006/relationships/hyperlink" Target="https://support.huawei.com/enterpri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D0C80065-7919-4E37-9999-6D29505F1C19}"/>
              </a:ext>
            </a:extLst>
          </p:cNvPr>
          <p:cNvPicPr>
            <a:picLocks noChangeAspect="1"/>
          </p:cNvPicPr>
          <p:nvPr/>
        </p:nvPicPr>
        <p:blipFill>
          <a:blip r:embed="rId2"/>
          <a:stretch>
            <a:fillRect/>
          </a:stretch>
        </p:blipFill>
        <p:spPr>
          <a:xfrm>
            <a:off x="0" y="-4286"/>
            <a:ext cx="7556498" cy="1843980"/>
          </a:xfrm>
          <a:prstGeom prst="rect">
            <a:avLst/>
          </a:prstGeom>
        </p:spPr>
      </p:pic>
      <p:sp>
        <p:nvSpPr>
          <p:cNvPr id="6" name="object 6"/>
          <p:cNvSpPr txBox="1">
            <a:spLocks noGrp="1"/>
          </p:cNvSpPr>
          <p:nvPr>
            <p:ph type="title"/>
          </p:nvPr>
        </p:nvSpPr>
        <p:spPr>
          <a:xfrm>
            <a:off x="577850" y="698500"/>
            <a:ext cx="6858000" cy="670953"/>
          </a:xfrm>
          <a:prstGeom prst="rect">
            <a:avLst/>
          </a:prstGeom>
          <a:noFill/>
        </p:spPr>
        <p:txBody>
          <a:bodyPr vert="horz" wrap="square" lIns="0" tIns="0" rIns="0" bIns="0" rtlCol="0">
            <a:spAutoFit/>
          </a:bodyPr>
          <a:lstStyle/>
          <a:p>
            <a:pPr marL="12700">
              <a:spcBef>
                <a:spcPts val="100"/>
              </a:spcBef>
            </a:pPr>
            <a:r>
              <a:rPr lang="en-US" sz="1960" dirty="0" err="1">
                <a:solidFill>
                  <a:schemeClr val="tx1"/>
                </a:solidFill>
              </a:rPr>
              <a:t>NetEngine</a:t>
            </a:r>
            <a:r>
              <a:rPr lang="en-US" sz="1960" dirty="0">
                <a:solidFill>
                  <a:schemeClr val="tx1"/>
                </a:solidFill>
              </a:rPr>
              <a:t> A821 E</a:t>
            </a:r>
            <a:br>
              <a:rPr lang="en-US" altLang="zh-CN" sz="2800" dirty="0">
                <a:solidFill>
                  <a:schemeClr val="tx1"/>
                </a:solidFill>
              </a:rPr>
            </a:br>
            <a:r>
              <a:rPr lang="en-US" altLang="zh-CN" sz="2400" dirty="0">
                <a:solidFill>
                  <a:schemeClr val="tx1"/>
                </a:solidFill>
              </a:rPr>
              <a:t>1U </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IPv6+ 10 Gigabit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H</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ard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S</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lice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A</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ccess </a:t>
            </a:r>
            <a:r>
              <a:rPr lang="en-US" altLang="en-US" sz="2239"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R</a:t>
            </a:r>
            <a:r>
              <a:rPr lang="en-US" altLang="en-US" sz="2239" b="1" dirty="0">
                <a:solidFill>
                  <a:srgbClr val="1D1D1A"/>
                </a:solidFill>
                <a:latin typeface="微软雅黑" panose="020B0503020204020204" pitchFamily="34" charset="-122"/>
                <a:ea typeface="微软雅黑" panose="020B0503020204020204" pitchFamily="34" charset="-122"/>
                <a:cs typeface="Huawei Sans" panose="020C0503030203020204" pitchFamily="34" charset="0"/>
              </a:rPr>
              <a:t>outer</a:t>
            </a:r>
            <a:endParaRPr lang="zh-CN" altLang="en-US" sz="2800" spc="-10" dirty="0">
              <a:solidFill>
                <a:schemeClr val="tx1"/>
              </a:solidFill>
            </a:endParaRPr>
          </a:p>
        </p:txBody>
      </p:sp>
      <p:cxnSp>
        <p:nvCxnSpPr>
          <p:cNvPr id="45" name="直接连接符 44">
            <a:extLst>
              <a:ext uri="{FF2B5EF4-FFF2-40B4-BE49-F238E27FC236}">
                <a16:creationId xmlns:a16="http://schemas.microsoft.com/office/drawing/2014/main" id="{29DFE4FD-D048-4D9E-B89A-D37A38A291C6}"/>
              </a:ext>
            </a:extLst>
          </p:cNvPr>
          <p:cNvCxnSpPr>
            <a:cxnSpLocks/>
          </p:cNvCxnSpPr>
          <p:nvPr/>
        </p:nvCxnSpPr>
        <p:spPr>
          <a:xfrm>
            <a:off x="2" y="1839694"/>
            <a:ext cx="755649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pic>
        <p:nvPicPr>
          <p:cNvPr id="15" name="Picture 45">
            <a:extLst>
              <a:ext uri="{FF2B5EF4-FFF2-40B4-BE49-F238E27FC236}">
                <a16:creationId xmlns:a16="http://schemas.microsoft.com/office/drawing/2014/main" id="{ABC81B88-EFB4-4931-897D-AC862C6B72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5650" y="236545"/>
            <a:ext cx="1270800" cy="275024"/>
          </a:xfrm>
          <a:prstGeom prst="rect">
            <a:avLst/>
          </a:prstGeom>
        </p:spPr>
      </p:pic>
      <p:sp>
        <p:nvSpPr>
          <p:cNvPr id="20" name="object 10">
            <a:extLst>
              <a:ext uri="{FF2B5EF4-FFF2-40B4-BE49-F238E27FC236}">
                <a16:creationId xmlns:a16="http://schemas.microsoft.com/office/drawing/2014/main" id="{F188AA78-CF4C-4561-868B-A4EB2E2E9BCC}"/>
              </a:ext>
            </a:extLst>
          </p:cNvPr>
          <p:cNvSpPr txBox="1"/>
          <p:nvPr/>
        </p:nvSpPr>
        <p:spPr>
          <a:xfrm>
            <a:off x="620557" y="2206244"/>
            <a:ext cx="1328893" cy="228268"/>
          </a:xfrm>
          <a:prstGeom prst="rect">
            <a:avLst/>
          </a:prstGeom>
        </p:spPr>
        <p:txBody>
          <a:bodyPr vert="horz" wrap="square" lIns="0" tIns="12700" rIns="0" bIns="0" rtlCol="0">
            <a:spAutoFit/>
          </a:bodyPr>
          <a:lstStyle/>
          <a:p>
            <a:pPr marL="12700">
              <a:spcBef>
                <a:spcPts val="100"/>
              </a:spcBef>
            </a:pPr>
            <a:r>
              <a:rPr lang="en-US" altLang="zh-CN" sz="1400" b="1" spc="-15" dirty="0">
                <a:solidFill>
                  <a:srgbClr val="C00000"/>
                </a:solidFill>
                <a:latin typeface="微软雅黑"/>
              </a:rPr>
              <a:t>Overview</a:t>
            </a:r>
          </a:p>
        </p:txBody>
      </p:sp>
      <p:sp>
        <p:nvSpPr>
          <p:cNvPr id="16" name="object 7">
            <a:extLst>
              <a:ext uri="{FF2B5EF4-FFF2-40B4-BE49-F238E27FC236}">
                <a16:creationId xmlns:a16="http://schemas.microsoft.com/office/drawing/2014/main" id="{C5D1CEDB-70F9-4281-B66F-619A9879F6CF}"/>
              </a:ext>
            </a:extLst>
          </p:cNvPr>
          <p:cNvSpPr txBox="1">
            <a:spLocks/>
          </p:cNvSpPr>
          <p:nvPr/>
        </p:nvSpPr>
        <p:spPr>
          <a:xfrm>
            <a:off x="569519" y="2451100"/>
            <a:ext cx="6536932" cy="3990772"/>
          </a:xfrm>
          <a:prstGeom prst="rect">
            <a:avLst/>
          </a:prstGeom>
        </p:spPr>
        <p:txBody>
          <a:bodyPr vert="horz" wrap="square" lIns="0" tIns="12700" rIns="0" bIns="0" rtlCol="0">
            <a:spAutoFit/>
          </a:bodyPr>
          <a:lstStyle>
            <a:lvl1pPr marL="0">
              <a:defRPr sz="1800" b="1" i="0">
                <a:solidFill>
                  <a:srgbClr val="0079C3"/>
                </a:solidFill>
                <a:latin typeface="微软雅黑"/>
                <a:ea typeface="+mn-ea"/>
                <a:cs typeface="微软雅黑"/>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158115" indent="345440" algn="l">
              <a:lnSpc>
                <a:spcPct val="144600"/>
              </a:lnSpc>
              <a:spcBef>
                <a:spcPts val="1614"/>
              </a:spcBef>
            </a:pPr>
            <a:r>
              <a:rPr lang="en-US" altLang="zh-CN" sz="900" b="0" spc="-10" dirty="0">
                <a:solidFill>
                  <a:srgbClr val="000000"/>
                </a:solidFill>
                <a:latin typeface="微软雅黑" panose="020B0503020204020204" pitchFamily="34" charset="-122"/>
                <a:ea typeface="微软雅黑" panose="020B0503020204020204" pitchFamily="34" charset="-122"/>
              </a:rPr>
              <a:t>HUAWEI </a:t>
            </a:r>
            <a:r>
              <a:rPr lang="en-US" altLang="zh-CN" sz="900" b="0" spc="-10" dirty="0" err="1">
                <a:solidFill>
                  <a:srgbClr val="000000"/>
                </a:solidFill>
                <a:latin typeface="微软雅黑" panose="020B0503020204020204" pitchFamily="34" charset="-122"/>
                <a:ea typeface="微软雅黑" panose="020B0503020204020204" pitchFamily="34" charset="-122"/>
              </a:rPr>
              <a:t>NetEngine</a:t>
            </a:r>
            <a:r>
              <a:rPr lang="en-US" altLang="zh-CN" sz="900" b="0" spc="-10" dirty="0">
                <a:solidFill>
                  <a:srgbClr val="000000"/>
                </a:solidFill>
                <a:latin typeface="微软雅黑" panose="020B0503020204020204" pitchFamily="34" charset="-122"/>
                <a:ea typeface="微软雅黑" panose="020B0503020204020204" pitchFamily="34" charset="-122"/>
              </a:rPr>
              <a:t> A821 E is an integrated access router oriented to the 5G and cloud era. It is mainly used in government commissions and bureaus, MAN access in villages and towns, financial outlets, railway stations, and enterprise branches. The details are as follows:</a:t>
            </a:r>
            <a:endParaRPr lang="zh-CN" altLang="en-US" sz="900" dirty="0">
              <a:latin typeface="微软雅黑" panose="020B0503020204020204" pitchFamily="34" charset="-122"/>
              <a:ea typeface="微软雅黑" panose="020B0503020204020204" pitchFamily="34" charset="-122"/>
            </a:endParaRPr>
          </a:p>
          <a:p>
            <a:pPr marL="469900" marR="19050" indent="-228600">
              <a:lnSpc>
                <a:spcPct val="143600"/>
              </a:lnSpc>
              <a:spcBef>
                <a:spcPts val="770"/>
              </a:spcBef>
              <a:buFont typeface="Wingdings"/>
              <a:buChar char=""/>
              <a:tabLst>
                <a:tab pos="469900" algn="l"/>
                <a:tab pos="470534" algn="l"/>
              </a:tabLst>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is 1 U high and 220 mm deep. It provides 18 service ports, such as GE and FE ports, to meet the requirements for traffic growth and diversified service access in the cloud era. Network slicing is supported. Multiple types of services can be carried on one network, simplifying network layers.</a:t>
            </a:r>
            <a:endParaRPr lang="zh-CN" altLang="en-US" sz="900" dirty="0">
              <a:latin typeface="微软雅黑" panose="020B0503020204020204" pitchFamily="34" charset="-122"/>
              <a:ea typeface="微软雅黑" panose="020B0503020204020204" pitchFamily="34" charset="-122"/>
            </a:endParaRPr>
          </a:p>
          <a:p>
            <a:pPr marL="469900" marR="5080" indent="-228600">
              <a:lnSpc>
                <a:spcPct val="144400"/>
              </a:lnSpc>
              <a:spcBef>
                <a:spcPts val="765"/>
              </a:spcBef>
              <a:buFont typeface="Wingdings"/>
              <a:buChar char=""/>
              <a:tabLst>
                <a:tab pos="469900" algn="l"/>
                <a:tab pos="470534" algn="l"/>
              </a:tabLst>
            </a:pP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supports SRv6 smart connections. SRv6 provides massive consecutive addresses and rich scalability based on IPv6. SRv6 enables automatic cross-domain connections and minute-level service provisioning, implementing cloud-based network scheduling and one-hop access to the cloud. SRv6 can identify applications and tenants and implement intelligent scheduling such as latency and bandwidth based on customer requirements to ensure service SLAs. The number of network protocols is reduced from 10+ to 2, simplifying network O&amp;M.</a:t>
            </a:r>
            <a:endParaRPr lang="zh-CN" altLang="en-US" sz="900" dirty="0">
              <a:latin typeface="微软雅黑" panose="020B0503020204020204" pitchFamily="34" charset="-122"/>
              <a:ea typeface="微软雅黑" panose="020B0503020204020204" pitchFamily="34" charset="-122"/>
            </a:endParaRPr>
          </a:p>
          <a:p>
            <a:pPr marL="469900" marR="40005" indent="-228600" algn="just">
              <a:lnSpc>
                <a:spcPct val="144400"/>
              </a:lnSpc>
              <a:spcBef>
                <a:spcPts val="760"/>
              </a:spcBef>
              <a:buFont typeface="Wingdings"/>
              <a:buChar char=""/>
              <a:tabLst>
                <a:tab pos="470534" algn="l"/>
              </a:tabLst>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supports intelligent  O&amp;M by introducing automation and intelligent technologies. Based on the iMaster NCE and </a:t>
            </a:r>
            <a:r>
              <a:rPr lang="en-US" altLang="zh-CN" sz="900" b="0" dirty="0" err="1">
                <a:solidFill>
                  <a:srgbClr val="000000"/>
                </a:solidFill>
                <a:latin typeface="微软雅黑" panose="020B0503020204020204" pitchFamily="34" charset="-122"/>
                <a:ea typeface="微软雅黑" panose="020B0503020204020204" pitchFamily="34" charset="-122"/>
              </a:rPr>
              <a:t>iFit</a:t>
            </a:r>
            <a:r>
              <a:rPr lang="en-US" altLang="zh-CN" sz="900" b="0" dirty="0">
                <a:solidFill>
                  <a:srgbClr val="000000"/>
                </a:solidFill>
                <a:latin typeface="微软雅黑" panose="020B0503020204020204" pitchFamily="34" charset="-122"/>
                <a:ea typeface="微软雅黑" panose="020B0503020204020204" pitchFamily="34" charset="-122"/>
              </a:rPr>
              <a:t> technologies, 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accurately detects network SLAs in real time, provides real-time service quality visualization, and supports minute-level fault locating.</a:t>
            </a:r>
            <a:endParaRPr lang="zh-CN" altLang="en-US" sz="900" dirty="0">
              <a:latin typeface="微软雅黑" panose="020B0503020204020204" pitchFamily="34" charset="-122"/>
              <a:ea typeface="微软雅黑" panose="020B0503020204020204" pitchFamily="34" charset="-122"/>
            </a:endParaRPr>
          </a:p>
          <a:p>
            <a:pPr marL="12700" marR="80645" indent="269240">
              <a:lnSpc>
                <a:spcPct val="143300"/>
              </a:lnSpc>
              <a:spcBef>
                <a:spcPts val="775"/>
              </a:spcBef>
            </a:pPr>
            <a:r>
              <a:rPr lang="en-US" altLang="zh-CN" sz="900" b="0" dirty="0">
                <a:solidFill>
                  <a:srgbClr val="000000"/>
                </a:solidFill>
                <a:latin typeface="微软雅黑" panose="020B0503020204020204" pitchFamily="34" charset="-122"/>
                <a:ea typeface="微软雅黑" panose="020B0503020204020204" pitchFamily="34" charset="-122"/>
              </a:rPr>
              <a:t>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integrates multiple functions, simplifies the network structure, provides various service types, reliable service quality, and intelligent O&amp;M. The </a:t>
            </a:r>
            <a:r>
              <a:rPr lang="en-US" altLang="zh-CN" sz="900" b="0" dirty="0" err="1">
                <a:solidFill>
                  <a:srgbClr val="000000"/>
                </a:solidFill>
                <a:latin typeface="微软雅黑" panose="020B0503020204020204" pitchFamily="34" charset="-122"/>
                <a:ea typeface="微软雅黑" panose="020B0503020204020204" pitchFamily="34" charset="-122"/>
              </a:rPr>
              <a:t>NetEngine</a:t>
            </a:r>
            <a:r>
              <a:rPr lang="en-US" altLang="zh-CN" sz="900" b="0" dirty="0">
                <a:solidFill>
                  <a:srgbClr val="000000"/>
                </a:solidFill>
                <a:latin typeface="微软雅黑" panose="020B0503020204020204" pitchFamily="34" charset="-122"/>
                <a:ea typeface="微软雅黑" panose="020B0503020204020204" pitchFamily="34" charset="-122"/>
              </a:rPr>
              <a:t> A821 E leads the IP WAN to an intelligent network with autonomous driving, and continuously drives the business success of enterprise customers.</a:t>
            </a:r>
            <a:endParaRPr lang="zh-CN" altLang="en-US" sz="900" dirty="0">
              <a:latin typeface="微软雅黑" panose="020B0503020204020204" pitchFamily="34" charset="-122"/>
              <a:ea typeface="微软雅黑" panose="020B0503020204020204" pitchFamily="34" charset="-122"/>
            </a:endParaRPr>
          </a:p>
        </p:txBody>
      </p:sp>
      <p:sp>
        <p:nvSpPr>
          <p:cNvPr id="12" name="object 5">
            <a:extLst>
              <a:ext uri="{FF2B5EF4-FFF2-40B4-BE49-F238E27FC236}">
                <a16:creationId xmlns:a16="http://schemas.microsoft.com/office/drawing/2014/main" id="{C8C667F0-66A0-425D-BA81-95D1ED104349}"/>
              </a:ext>
            </a:extLst>
          </p:cNvPr>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altLang="zh-CN" sz="700" dirty="0">
                <a:solidFill>
                  <a:schemeClr val="tx1"/>
                </a:solidFill>
                <a:latin typeface="微软雅黑"/>
                <a:cs typeface="微软雅黑"/>
              </a:rPr>
              <a:t>1</a:t>
            </a:r>
            <a:endParaRPr sz="1000" dirty="0">
              <a:solidFill>
                <a:schemeClr val="tx1"/>
              </a:solidFill>
              <a:latin typeface="微软雅黑"/>
              <a:cs typeface="微软雅黑"/>
            </a:endParaRPr>
          </a:p>
        </p:txBody>
      </p:sp>
      <p:sp>
        <p:nvSpPr>
          <p:cNvPr id="26" name="object 10">
            <a:extLst>
              <a:ext uri="{FF2B5EF4-FFF2-40B4-BE49-F238E27FC236}">
                <a16:creationId xmlns:a16="http://schemas.microsoft.com/office/drawing/2014/main" id="{731A064A-6D5E-47FF-9D61-F5A52F33C060}"/>
              </a:ext>
            </a:extLst>
          </p:cNvPr>
          <p:cNvSpPr txBox="1"/>
          <p:nvPr/>
        </p:nvSpPr>
        <p:spPr>
          <a:xfrm>
            <a:off x="620557" y="7959505"/>
            <a:ext cx="1862293" cy="228268"/>
          </a:xfrm>
          <a:prstGeom prst="rect">
            <a:avLst/>
          </a:prstGeom>
        </p:spPr>
        <p:txBody>
          <a:bodyPr vert="horz" wrap="square" lIns="0" tIns="12700" rIns="0" bIns="0" rtlCol="0">
            <a:spAutoFit/>
          </a:bodyPr>
          <a:lstStyle/>
          <a:p>
            <a:pPr marL="12700">
              <a:lnSpc>
                <a:spcPct val="100000"/>
              </a:lnSpc>
              <a:spcBef>
                <a:spcPts val="100"/>
              </a:spcBef>
            </a:pPr>
            <a:r>
              <a:rPr lang="en-US" altLang="en-US" sz="1400" b="1" spc="-15" dirty="0">
                <a:solidFill>
                  <a:srgbClr val="C00000"/>
                </a:solidFill>
                <a:latin typeface="微软雅黑"/>
                <a:cs typeface="微软雅黑"/>
              </a:rPr>
              <a:t>Application Scenario</a:t>
            </a:r>
            <a:endParaRPr sz="1400" dirty="0">
              <a:solidFill>
                <a:srgbClr val="C00000"/>
              </a:solidFill>
              <a:latin typeface="微软雅黑"/>
              <a:cs typeface="微软雅黑"/>
            </a:endParaRPr>
          </a:p>
        </p:txBody>
      </p:sp>
      <p:grpSp>
        <p:nvGrpSpPr>
          <p:cNvPr id="28" name="组合 27">
            <a:extLst>
              <a:ext uri="{FF2B5EF4-FFF2-40B4-BE49-F238E27FC236}">
                <a16:creationId xmlns:a16="http://schemas.microsoft.com/office/drawing/2014/main" id="{B59708D1-B4E1-4D86-94E0-DB0223FD2E1F}"/>
              </a:ext>
            </a:extLst>
          </p:cNvPr>
          <p:cNvGrpSpPr/>
          <p:nvPr/>
        </p:nvGrpSpPr>
        <p:grpSpPr>
          <a:xfrm>
            <a:off x="339582" y="8038770"/>
            <a:ext cx="6677148" cy="1651330"/>
            <a:chOff x="308194" y="1085802"/>
            <a:chExt cx="11075438" cy="3242405"/>
          </a:xfrm>
        </p:grpSpPr>
        <p:sp>
          <p:nvSpPr>
            <p:cNvPr id="29" name="梯形 28">
              <a:extLst>
                <a:ext uri="{FF2B5EF4-FFF2-40B4-BE49-F238E27FC236}">
                  <a16:creationId xmlns:a16="http://schemas.microsoft.com/office/drawing/2014/main" id="{F801E622-10F2-46A7-A922-B007847CA588}"/>
                </a:ext>
              </a:extLst>
            </p:cNvPr>
            <p:cNvSpPr/>
            <p:nvPr/>
          </p:nvSpPr>
          <p:spPr>
            <a:xfrm>
              <a:off x="640249" y="3454796"/>
              <a:ext cx="10743383" cy="873411"/>
            </a:xfrm>
            <a:prstGeom prst="trapezoid">
              <a:avLst>
                <a:gd name="adj" fmla="val 93349"/>
              </a:avLst>
            </a:prstGeom>
            <a:gradFill flip="none" rotWithShape="1">
              <a:gsLst>
                <a:gs pos="0">
                  <a:srgbClr val="E7E6E6">
                    <a:lumMod val="50000"/>
                    <a:alpha val="25000"/>
                  </a:srgbClr>
                </a:gs>
                <a:gs pos="100000">
                  <a:srgbClr val="E7E6E6">
                    <a:lumMod val="75000"/>
                    <a:alpha val="5000"/>
                  </a:srgbClr>
                </a:gs>
              </a:gsLst>
              <a:lin ang="16200000" scaled="1"/>
              <a:tileRect/>
            </a:gradFill>
            <a:ln w="3175" cap="flat" cmpd="sng" algn="ctr">
              <a:noFill/>
              <a:prstDash val="solid"/>
              <a:miter lim="800000"/>
            </a:ln>
            <a:effectLst/>
          </p:spPr>
          <p:txBody>
            <a:bodyPr wrap="square" rtlCol="0" anchor="ctr">
              <a:noAutofit/>
            </a:bodyPr>
            <a:lstStyle/>
            <a:p>
              <a:pPr indent="-158935" algn="ctr" defTabSz="772027" fontAlgn="ctr" hangingPunct="0">
                <a:spcBef>
                  <a:spcPct val="20000"/>
                </a:spcBef>
                <a:spcAft>
                  <a:spcPts val="1422"/>
                </a:spcAft>
                <a:buClr>
                  <a:prstClr val="white"/>
                </a:buClr>
                <a:buSzPct val="60000"/>
                <a:defRPr/>
              </a:pPr>
              <a:endParaRPr lang="en-US" altLang="zh-CN" sz="300" kern="0" dirty="0">
                <a:solidFill>
                  <a:prstClr val="black"/>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ZLanTingHei-L-GBK-M" panose="02010600010101010101" pitchFamily="2" charset="2"/>
                <a:sym typeface="Arial" panose="020B0604020202020204" pitchFamily="34" charset="0"/>
              </a:endParaRPr>
            </a:p>
          </p:txBody>
        </p:sp>
        <p:grpSp>
          <p:nvGrpSpPr>
            <p:cNvPr id="31" name="组合 30">
              <a:extLst>
                <a:ext uri="{FF2B5EF4-FFF2-40B4-BE49-F238E27FC236}">
                  <a16:creationId xmlns:a16="http://schemas.microsoft.com/office/drawing/2014/main" id="{297EB152-889C-40C0-AFC1-19711ACCA2EF}"/>
                </a:ext>
              </a:extLst>
            </p:cNvPr>
            <p:cNvGrpSpPr/>
            <p:nvPr/>
          </p:nvGrpSpPr>
          <p:grpSpPr>
            <a:xfrm>
              <a:off x="308194" y="1830118"/>
              <a:ext cx="2527056" cy="623080"/>
              <a:chOff x="-844626" y="1607380"/>
              <a:chExt cx="2527056" cy="623080"/>
            </a:xfrm>
          </p:grpSpPr>
          <p:sp>
            <p:nvSpPr>
              <p:cNvPr id="70" name="圆角矩形 251">
                <a:extLst>
                  <a:ext uri="{FF2B5EF4-FFF2-40B4-BE49-F238E27FC236}">
                    <a16:creationId xmlns:a16="http://schemas.microsoft.com/office/drawing/2014/main" id="{7855BDA4-2A58-4BE0-9BC7-2AEC41A53074}"/>
                  </a:ext>
                </a:extLst>
              </p:cNvPr>
              <p:cNvSpPr/>
              <p:nvPr/>
            </p:nvSpPr>
            <p:spPr>
              <a:xfrm>
                <a:off x="658686" y="1607380"/>
                <a:ext cx="1023744" cy="623080"/>
              </a:xfrm>
              <a:prstGeom prst="round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pic>
            <p:nvPicPr>
              <p:cNvPr id="71" name="图片 70">
                <a:extLst>
                  <a:ext uri="{FF2B5EF4-FFF2-40B4-BE49-F238E27FC236}">
                    <a16:creationId xmlns:a16="http://schemas.microsoft.com/office/drawing/2014/main" id="{66034C53-820E-4A06-8AA5-566812FC4037}"/>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298718" y="1738268"/>
                <a:ext cx="276747" cy="276747"/>
              </a:xfrm>
              <a:prstGeom prst="rect">
                <a:avLst/>
              </a:prstGeom>
            </p:spPr>
          </p:pic>
          <p:sp>
            <p:nvSpPr>
              <p:cNvPr id="72" name="文本框 71">
                <a:extLst>
                  <a:ext uri="{FF2B5EF4-FFF2-40B4-BE49-F238E27FC236}">
                    <a16:creationId xmlns:a16="http://schemas.microsoft.com/office/drawing/2014/main" id="{BC3C80E4-36CE-403A-A0A5-EE8FDDF8BF1F}"/>
                  </a:ext>
                </a:extLst>
              </p:cNvPr>
              <p:cNvSpPr txBox="1"/>
              <p:nvPr/>
            </p:nvSpPr>
            <p:spPr>
              <a:xfrm>
                <a:off x="-844626" y="1701120"/>
                <a:ext cx="1532760" cy="423027"/>
              </a:xfrm>
              <a:prstGeom prst="rect">
                <a:avLst/>
              </a:prstGeom>
              <a:noFill/>
            </p:spPr>
            <p:txBody>
              <a:bodyPr wrap="square" rtlCol="0">
                <a:spAutoFit/>
              </a:bodyPr>
              <a:lstStyle/>
              <a:p>
                <a:pPr algn="ctr"/>
                <a:r>
                  <a:rPr lang="en-US" altLang="en-US" sz="800" dirty="0">
                    <a:solidFill>
                      <a:srgbClr val="1D1D1A"/>
                    </a:solidFill>
                    <a:latin typeface="Microsoft YaHei" panose="020B0503020204020204" pitchFamily="34" charset="-122"/>
                    <a:ea typeface="Microsoft YaHei" panose="020B0503020204020204" pitchFamily="34" charset="-122"/>
                  </a:rPr>
                  <a:t>Campus office</a:t>
                </a:r>
              </a:p>
            </p:txBody>
          </p:sp>
          <p:pic>
            <p:nvPicPr>
              <p:cNvPr id="73" name="图片 72">
                <a:extLst>
                  <a:ext uri="{FF2B5EF4-FFF2-40B4-BE49-F238E27FC236}">
                    <a16:creationId xmlns:a16="http://schemas.microsoft.com/office/drawing/2014/main" id="{796CC119-EFE3-4344-85CF-FFB01ED3BEAC}"/>
                  </a:ext>
                </a:extLst>
              </p:cNvPr>
              <p:cNvPicPr>
                <a:picLocks noChangeAspect="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53805" y="1658529"/>
                <a:ext cx="438672" cy="438672"/>
              </a:xfrm>
              <a:prstGeom prst="rect">
                <a:avLst/>
              </a:prstGeom>
            </p:spPr>
          </p:pic>
        </p:grpSp>
        <p:grpSp>
          <p:nvGrpSpPr>
            <p:cNvPr id="32" name="组合 31">
              <a:extLst>
                <a:ext uri="{FF2B5EF4-FFF2-40B4-BE49-F238E27FC236}">
                  <a16:creationId xmlns:a16="http://schemas.microsoft.com/office/drawing/2014/main" id="{E5F2837B-C0BC-4118-812F-C236302C4A38}"/>
                </a:ext>
              </a:extLst>
            </p:cNvPr>
            <p:cNvGrpSpPr/>
            <p:nvPr/>
          </p:nvGrpSpPr>
          <p:grpSpPr>
            <a:xfrm>
              <a:off x="450624" y="2383152"/>
              <a:ext cx="2367405" cy="737268"/>
              <a:chOff x="750776" y="1493192"/>
              <a:chExt cx="2367405" cy="737268"/>
            </a:xfrm>
          </p:grpSpPr>
          <p:sp>
            <p:nvSpPr>
              <p:cNvPr id="64" name="圆角矩形 247">
                <a:extLst>
                  <a:ext uri="{FF2B5EF4-FFF2-40B4-BE49-F238E27FC236}">
                    <a16:creationId xmlns:a16="http://schemas.microsoft.com/office/drawing/2014/main" id="{800DCB3C-A15E-4D47-8005-6FBBA679528F}"/>
                  </a:ext>
                </a:extLst>
              </p:cNvPr>
              <p:cNvSpPr/>
              <p:nvPr/>
            </p:nvSpPr>
            <p:spPr>
              <a:xfrm>
                <a:off x="2094437" y="1607380"/>
                <a:ext cx="1023744" cy="62308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sp>
            <p:nvSpPr>
              <p:cNvPr id="65" name="Freeform 65">
                <a:extLst>
                  <a:ext uri="{FF2B5EF4-FFF2-40B4-BE49-F238E27FC236}">
                    <a16:creationId xmlns:a16="http://schemas.microsoft.com/office/drawing/2014/main" id="{B1FDD107-3AEF-4396-A2E9-7A39C4C94B7C}"/>
                  </a:ext>
                </a:extLst>
              </p:cNvPr>
              <p:cNvSpPr>
                <a:spLocks noEditPoints="1"/>
              </p:cNvSpPr>
              <p:nvPr/>
            </p:nvSpPr>
            <p:spPr bwMode="auto">
              <a:xfrm>
                <a:off x="2225393" y="1738268"/>
                <a:ext cx="310681" cy="268278"/>
              </a:xfrm>
              <a:custGeom>
                <a:avLst/>
                <a:gdLst>
                  <a:gd name="T0" fmla="*/ 1 w 116"/>
                  <a:gd name="T1" fmla="*/ 117 h 117"/>
                  <a:gd name="T2" fmla="*/ 2 w 116"/>
                  <a:gd name="T3" fmla="*/ 113 h 117"/>
                  <a:gd name="T4" fmla="*/ 6 w 116"/>
                  <a:gd name="T5" fmla="*/ 112 h 117"/>
                  <a:gd name="T6" fmla="*/ 30 w 116"/>
                  <a:gd name="T7" fmla="*/ 95 h 117"/>
                  <a:gd name="T8" fmla="*/ 14 w 116"/>
                  <a:gd name="T9" fmla="*/ 63 h 117"/>
                  <a:gd name="T10" fmla="*/ 5 w 116"/>
                  <a:gd name="T11" fmla="*/ 48 h 117"/>
                  <a:gd name="T12" fmla="*/ 41 w 116"/>
                  <a:gd name="T13" fmla="*/ 9 h 117"/>
                  <a:gd name="T14" fmla="*/ 53 w 116"/>
                  <a:gd name="T15" fmla="*/ 7 h 117"/>
                  <a:gd name="T16" fmla="*/ 82 w 116"/>
                  <a:gd name="T17" fmla="*/ 9 h 117"/>
                  <a:gd name="T18" fmla="*/ 90 w 116"/>
                  <a:gd name="T19" fmla="*/ 13 h 117"/>
                  <a:gd name="T20" fmla="*/ 91 w 116"/>
                  <a:gd name="T21" fmla="*/ 7 h 117"/>
                  <a:gd name="T22" fmla="*/ 102 w 116"/>
                  <a:gd name="T23" fmla="*/ 0 h 117"/>
                  <a:gd name="T24" fmla="*/ 114 w 116"/>
                  <a:gd name="T25" fmla="*/ 7 h 117"/>
                  <a:gd name="T26" fmla="*/ 113 w 116"/>
                  <a:gd name="T27" fmla="*/ 11 h 117"/>
                  <a:gd name="T28" fmla="*/ 102 w 116"/>
                  <a:gd name="T29" fmla="*/ 6 h 117"/>
                  <a:gd name="T30" fmla="*/ 95 w 116"/>
                  <a:gd name="T31" fmla="*/ 20 h 117"/>
                  <a:gd name="T32" fmla="*/ 112 w 116"/>
                  <a:gd name="T33" fmla="*/ 19 h 117"/>
                  <a:gd name="T34" fmla="*/ 115 w 116"/>
                  <a:gd name="T35" fmla="*/ 20 h 117"/>
                  <a:gd name="T36" fmla="*/ 104 w 116"/>
                  <a:gd name="T37" fmla="*/ 29 h 117"/>
                  <a:gd name="T38" fmla="*/ 101 w 116"/>
                  <a:gd name="T39" fmla="*/ 29 h 117"/>
                  <a:gd name="T40" fmla="*/ 90 w 116"/>
                  <a:gd name="T41" fmla="*/ 21 h 117"/>
                  <a:gd name="T42" fmla="*/ 82 w 116"/>
                  <a:gd name="T43" fmla="*/ 17 h 117"/>
                  <a:gd name="T44" fmla="*/ 79 w 116"/>
                  <a:gd name="T45" fmla="*/ 23 h 117"/>
                  <a:gd name="T46" fmla="*/ 60 w 116"/>
                  <a:gd name="T47" fmla="*/ 24 h 117"/>
                  <a:gd name="T48" fmla="*/ 39 w 116"/>
                  <a:gd name="T49" fmla="*/ 46 h 117"/>
                  <a:gd name="T50" fmla="*/ 59 w 116"/>
                  <a:gd name="T51" fmla="*/ 74 h 117"/>
                  <a:gd name="T52" fmla="*/ 60 w 116"/>
                  <a:gd name="T53" fmla="*/ 95 h 117"/>
                  <a:gd name="T54" fmla="*/ 85 w 116"/>
                  <a:gd name="T55" fmla="*/ 112 h 117"/>
                  <a:gd name="T56" fmla="*/ 88 w 116"/>
                  <a:gd name="T57" fmla="*/ 113 h 117"/>
                  <a:gd name="T58" fmla="*/ 91 w 116"/>
                  <a:gd name="T59" fmla="*/ 115 h 117"/>
                  <a:gd name="T60" fmla="*/ 2 w 116"/>
                  <a:gd name="T61" fmla="*/ 117 h 117"/>
                  <a:gd name="T62" fmla="*/ 11 w 116"/>
                  <a:gd name="T63" fmla="*/ 112 h 117"/>
                  <a:gd name="T64" fmla="*/ 80 w 116"/>
                  <a:gd name="T65" fmla="*/ 113 h 117"/>
                  <a:gd name="T66" fmla="*/ 65 w 116"/>
                  <a:gd name="T67" fmla="*/ 99 h 117"/>
                  <a:gd name="T68" fmla="*/ 35 w 116"/>
                  <a:gd name="T69" fmla="*/ 95 h 117"/>
                  <a:gd name="T70" fmla="*/ 55 w 116"/>
                  <a:gd name="T71" fmla="*/ 84 h 117"/>
                  <a:gd name="T72" fmla="*/ 44 w 116"/>
                  <a:gd name="T73" fmla="*/ 88 h 117"/>
                  <a:gd name="T74" fmla="*/ 35 w 116"/>
                  <a:gd name="T75" fmla="*/ 85 h 117"/>
                  <a:gd name="T76" fmla="*/ 38 w 116"/>
                  <a:gd name="T77" fmla="*/ 53 h 117"/>
                  <a:gd name="T78" fmla="*/ 22 w 116"/>
                  <a:gd name="T79" fmla="*/ 64 h 117"/>
                  <a:gd name="T80" fmla="*/ 42 w 116"/>
                  <a:gd name="T81" fmla="*/ 83 h 117"/>
                  <a:gd name="T82" fmla="*/ 53 w 116"/>
                  <a:gd name="T83" fmla="*/ 79 h 117"/>
                  <a:gd name="T84" fmla="*/ 38 w 116"/>
                  <a:gd name="T85" fmla="*/ 52 h 117"/>
                  <a:gd name="T86" fmla="*/ 22 w 116"/>
                  <a:gd name="T87" fmla="*/ 36 h 117"/>
                  <a:gd name="T88" fmla="*/ 10 w 116"/>
                  <a:gd name="T89" fmla="*/ 49 h 117"/>
                  <a:gd name="T90" fmla="*/ 22 w 116"/>
                  <a:gd name="T91" fmla="*/ 60 h 117"/>
                  <a:gd name="T92" fmla="*/ 33 w 116"/>
                  <a:gd name="T93" fmla="*/ 46 h 117"/>
                  <a:gd name="T94" fmla="*/ 22 w 116"/>
                  <a:gd name="T95" fmla="*/ 36 h 117"/>
                  <a:gd name="T96" fmla="*/ 48 w 116"/>
                  <a:gd name="T97" fmla="*/ 11 h 117"/>
                  <a:gd name="T98" fmla="*/ 26 w 116"/>
                  <a:gd name="T99" fmla="*/ 32 h 117"/>
                  <a:gd name="T100" fmla="*/ 36 w 116"/>
                  <a:gd name="T101" fmla="*/ 40 h 117"/>
                  <a:gd name="T102" fmla="*/ 54 w 116"/>
                  <a:gd name="T103" fmla="*/ 23 h 117"/>
                  <a:gd name="T104" fmla="*/ 49 w 116"/>
                  <a:gd name="T105" fmla="*/ 11 h 117"/>
                  <a:gd name="T106" fmla="*/ 62 w 116"/>
                  <a:gd name="T107" fmla="*/ 18 h 117"/>
                  <a:gd name="T108" fmla="*/ 77 w 116"/>
                  <a:gd name="T109" fmla="*/ 19 h 117"/>
                  <a:gd name="T110" fmla="*/ 60 w 116"/>
                  <a:gd name="T111" fmla="*/ 11 h 117"/>
                  <a:gd name="T112" fmla="*/ 22 w 116"/>
                  <a:gd name="T113" fmla="*/ 50 h 117"/>
                  <a:gd name="T114" fmla="*/ 19 w 116"/>
                  <a:gd name="T115" fmla="*/ 48 h 117"/>
                  <a:gd name="T116" fmla="*/ 22 w 116"/>
                  <a:gd name="T117" fmla="*/ 45 h 117"/>
                  <a:gd name="T118" fmla="*/ 23 w 116"/>
                  <a:gd name="T119"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6" h="117">
                    <a:moveTo>
                      <a:pt x="2" y="117"/>
                    </a:moveTo>
                    <a:cubicBezTo>
                      <a:pt x="2" y="117"/>
                      <a:pt x="1" y="117"/>
                      <a:pt x="1" y="117"/>
                    </a:cubicBezTo>
                    <a:cubicBezTo>
                      <a:pt x="0" y="116"/>
                      <a:pt x="0" y="115"/>
                      <a:pt x="0" y="114"/>
                    </a:cubicBezTo>
                    <a:cubicBezTo>
                      <a:pt x="0" y="113"/>
                      <a:pt x="1" y="113"/>
                      <a:pt x="2" y="113"/>
                    </a:cubicBezTo>
                    <a:cubicBezTo>
                      <a:pt x="6" y="113"/>
                      <a:pt x="6" y="113"/>
                      <a:pt x="6" y="113"/>
                    </a:cubicBezTo>
                    <a:cubicBezTo>
                      <a:pt x="6" y="112"/>
                      <a:pt x="6" y="112"/>
                      <a:pt x="6" y="112"/>
                    </a:cubicBezTo>
                    <a:cubicBezTo>
                      <a:pt x="7" y="102"/>
                      <a:pt x="16" y="95"/>
                      <a:pt x="26" y="95"/>
                    </a:cubicBezTo>
                    <a:cubicBezTo>
                      <a:pt x="30" y="95"/>
                      <a:pt x="30" y="95"/>
                      <a:pt x="30" y="95"/>
                    </a:cubicBezTo>
                    <a:cubicBezTo>
                      <a:pt x="30" y="80"/>
                      <a:pt x="30" y="80"/>
                      <a:pt x="30" y="80"/>
                    </a:cubicBezTo>
                    <a:cubicBezTo>
                      <a:pt x="14" y="63"/>
                      <a:pt x="14" y="63"/>
                      <a:pt x="14" y="63"/>
                    </a:cubicBezTo>
                    <a:cubicBezTo>
                      <a:pt x="13" y="63"/>
                      <a:pt x="12" y="62"/>
                      <a:pt x="12" y="61"/>
                    </a:cubicBezTo>
                    <a:cubicBezTo>
                      <a:pt x="8" y="58"/>
                      <a:pt x="5" y="53"/>
                      <a:pt x="5" y="48"/>
                    </a:cubicBezTo>
                    <a:cubicBezTo>
                      <a:pt x="5" y="40"/>
                      <a:pt x="11" y="33"/>
                      <a:pt x="19" y="31"/>
                    </a:cubicBezTo>
                    <a:cubicBezTo>
                      <a:pt x="41" y="9"/>
                      <a:pt x="41" y="9"/>
                      <a:pt x="41" y="9"/>
                    </a:cubicBezTo>
                    <a:cubicBezTo>
                      <a:pt x="43" y="7"/>
                      <a:pt x="46" y="6"/>
                      <a:pt x="49" y="6"/>
                    </a:cubicBezTo>
                    <a:cubicBezTo>
                      <a:pt x="51" y="6"/>
                      <a:pt x="52" y="6"/>
                      <a:pt x="53" y="7"/>
                    </a:cubicBezTo>
                    <a:cubicBezTo>
                      <a:pt x="79" y="7"/>
                      <a:pt x="79" y="7"/>
                      <a:pt x="79" y="7"/>
                    </a:cubicBezTo>
                    <a:cubicBezTo>
                      <a:pt x="81" y="7"/>
                      <a:pt x="82" y="8"/>
                      <a:pt x="82" y="9"/>
                    </a:cubicBezTo>
                    <a:cubicBezTo>
                      <a:pt x="82" y="13"/>
                      <a:pt x="82" y="13"/>
                      <a:pt x="82" y="13"/>
                    </a:cubicBezTo>
                    <a:cubicBezTo>
                      <a:pt x="90" y="13"/>
                      <a:pt x="90" y="13"/>
                      <a:pt x="90" y="13"/>
                    </a:cubicBezTo>
                    <a:cubicBezTo>
                      <a:pt x="90" y="9"/>
                      <a:pt x="90" y="9"/>
                      <a:pt x="90" y="9"/>
                    </a:cubicBezTo>
                    <a:cubicBezTo>
                      <a:pt x="90" y="8"/>
                      <a:pt x="90" y="7"/>
                      <a:pt x="91" y="7"/>
                    </a:cubicBezTo>
                    <a:cubicBezTo>
                      <a:pt x="101" y="1"/>
                      <a:pt x="101" y="1"/>
                      <a:pt x="101" y="1"/>
                    </a:cubicBezTo>
                    <a:cubicBezTo>
                      <a:pt x="102" y="1"/>
                      <a:pt x="102" y="0"/>
                      <a:pt x="102" y="0"/>
                    </a:cubicBezTo>
                    <a:cubicBezTo>
                      <a:pt x="103" y="0"/>
                      <a:pt x="103" y="1"/>
                      <a:pt x="104" y="1"/>
                    </a:cubicBezTo>
                    <a:cubicBezTo>
                      <a:pt x="114" y="7"/>
                      <a:pt x="114" y="7"/>
                      <a:pt x="114" y="7"/>
                    </a:cubicBezTo>
                    <a:cubicBezTo>
                      <a:pt x="115" y="8"/>
                      <a:pt x="116" y="9"/>
                      <a:pt x="115" y="10"/>
                    </a:cubicBezTo>
                    <a:cubicBezTo>
                      <a:pt x="115" y="11"/>
                      <a:pt x="114" y="11"/>
                      <a:pt x="113" y="11"/>
                    </a:cubicBezTo>
                    <a:cubicBezTo>
                      <a:pt x="112" y="11"/>
                      <a:pt x="112" y="11"/>
                      <a:pt x="112" y="11"/>
                    </a:cubicBezTo>
                    <a:cubicBezTo>
                      <a:pt x="102" y="6"/>
                      <a:pt x="102" y="6"/>
                      <a:pt x="102" y="6"/>
                    </a:cubicBezTo>
                    <a:cubicBezTo>
                      <a:pt x="95" y="10"/>
                      <a:pt x="95" y="10"/>
                      <a:pt x="95" y="10"/>
                    </a:cubicBezTo>
                    <a:cubicBezTo>
                      <a:pt x="95" y="20"/>
                      <a:pt x="95" y="20"/>
                      <a:pt x="95" y="20"/>
                    </a:cubicBezTo>
                    <a:cubicBezTo>
                      <a:pt x="102" y="24"/>
                      <a:pt x="102" y="24"/>
                      <a:pt x="102" y="24"/>
                    </a:cubicBezTo>
                    <a:cubicBezTo>
                      <a:pt x="112" y="19"/>
                      <a:pt x="112" y="19"/>
                      <a:pt x="112" y="19"/>
                    </a:cubicBezTo>
                    <a:cubicBezTo>
                      <a:pt x="112" y="19"/>
                      <a:pt x="112" y="18"/>
                      <a:pt x="113" y="18"/>
                    </a:cubicBezTo>
                    <a:cubicBezTo>
                      <a:pt x="114" y="18"/>
                      <a:pt x="115" y="19"/>
                      <a:pt x="115" y="20"/>
                    </a:cubicBezTo>
                    <a:cubicBezTo>
                      <a:pt x="116" y="21"/>
                      <a:pt x="115" y="22"/>
                      <a:pt x="114" y="23"/>
                    </a:cubicBezTo>
                    <a:cubicBezTo>
                      <a:pt x="104" y="29"/>
                      <a:pt x="104" y="29"/>
                      <a:pt x="104" y="29"/>
                    </a:cubicBezTo>
                    <a:cubicBezTo>
                      <a:pt x="103" y="29"/>
                      <a:pt x="103" y="29"/>
                      <a:pt x="103" y="29"/>
                    </a:cubicBezTo>
                    <a:cubicBezTo>
                      <a:pt x="102" y="29"/>
                      <a:pt x="102" y="29"/>
                      <a:pt x="101" y="29"/>
                    </a:cubicBezTo>
                    <a:cubicBezTo>
                      <a:pt x="91" y="23"/>
                      <a:pt x="91" y="23"/>
                      <a:pt x="91" y="23"/>
                    </a:cubicBezTo>
                    <a:cubicBezTo>
                      <a:pt x="90" y="23"/>
                      <a:pt x="90" y="22"/>
                      <a:pt x="90" y="21"/>
                    </a:cubicBezTo>
                    <a:cubicBezTo>
                      <a:pt x="90" y="17"/>
                      <a:pt x="90" y="17"/>
                      <a:pt x="90" y="17"/>
                    </a:cubicBezTo>
                    <a:cubicBezTo>
                      <a:pt x="82" y="17"/>
                      <a:pt x="82" y="17"/>
                      <a:pt x="82" y="17"/>
                    </a:cubicBezTo>
                    <a:cubicBezTo>
                      <a:pt x="82" y="21"/>
                      <a:pt x="82" y="21"/>
                      <a:pt x="82" y="21"/>
                    </a:cubicBezTo>
                    <a:cubicBezTo>
                      <a:pt x="82" y="22"/>
                      <a:pt x="81" y="23"/>
                      <a:pt x="79" y="23"/>
                    </a:cubicBezTo>
                    <a:cubicBezTo>
                      <a:pt x="60" y="23"/>
                      <a:pt x="60" y="23"/>
                      <a:pt x="60" y="23"/>
                    </a:cubicBezTo>
                    <a:cubicBezTo>
                      <a:pt x="60" y="24"/>
                      <a:pt x="60" y="24"/>
                      <a:pt x="60" y="24"/>
                    </a:cubicBezTo>
                    <a:cubicBezTo>
                      <a:pt x="60" y="25"/>
                      <a:pt x="59" y="26"/>
                      <a:pt x="58" y="27"/>
                    </a:cubicBezTo>
                    <a:cubicBezTo>
                      <a:pt x="39" y="46"/>
                      <a:pt x="39" y="46"/>
                      <a:pt x="39" y="46"/>
                    </a:cubicBezTo>
                    <a:cubicBezTo>
                      <a:pt x="55" y="62"/>
                      <a:pt x="55" y="62"/>
                      <a:pt x="55" y="62"/>
                    </a:cubicBezTo>
                    <a:cubicBezTo>
                      <a:pt x="58" y="65"/>
                      <a:pt x="60" y="70"/>
                      <a:pt x="59" y="74"/>
                    </a:cubicBezTo>
                    <a:cubicBezTo>
                      <a:pt x="60" y="75"/>
                      <a:pt x="60" y="86"/>
                      <a:pt x="60" y="94"/>
                    </a:cubicBezTo>
                    <a:cubicBezTo>
                      <a:pt x="60" y="95"/>
                      <a:pt x="60" y="95"/>
                      <a:pt x="60" y="95"/>
                    </a:cubicBezTo>
                    <a:cubicBezTo>
                      <a:pt x="65" y="95"/>
                      <a:pt x="65" y="95"/>
                      <a:pt x="65" y="95"/>
                    </a:cubicBezTo>
                    <a:cubicBezTo>
                      <a:pt x="75" y="95"/>
                      <a:pt x="84" y="102"/>
                      <a:pt x="85" y="112"/>
                    </a:cubicBezTo>
                    <a:cubicBezTo>
                      <a:pt x="85" y="113"/>
                      <a:pt x="85" y="113"/>
                      <a:pt x="85" y="113"/>
                    </a:cubicBezTo>
                    <a:cubicBezTo>
                      <a:pt x="88" y="113"/>
                      <a:pt x="88" y="113"/>
                      <a:pt x="88" y="113"/>
                    </a:cubicBezTo>
                    <a:cubicBezTo>
                      <a:pt x="89" y="113"/>
                      <a:pt x="90" y="113"/>
                      <a:pt x="90" y="113"/>
                    </a:cubicBezTo>
                    <a:cubicBezTo>
                      <a:pt x="91" y="114"/>
                      <a:pt x="91" y="115"/>
                      <a:pt x="91" y="115"/>
                    </a:cubicBezTo>
                    <a:cubicBezTo>
                      <a:pt x="91" y="117"/>
                      <a:pt x="90" y="117"/>
                      <a:pt x="88" y="117"/>
                    </a:cubicBezTo>
                    <a:lnTo>
                      <a:pt x="2" y="117"/>
                    </a:lnTo>
                    <a:close/>
                    <a:moveTo>
                      <a:pt x="26" y="99"/>
                    </a:moveTo>
                    <a:cubicBezTo>
                      <a:pt x="19" y="99"/>
                      <a:pt x="12" y="105"/>
                      <a:pt x="11" y="112"/>
                    </a:cubicBezTo>
                    <a:cubicBezTo>
                      <a:pt x="11" y="113"/>
                      <a:pt x="11" y="113"/>
                      <a:pt x="11" y="113"/>
                    </a:cubicBezTo>
                    <a:cubicBezTo>
                      <a:pt x="80" y="113"/>
                      <a:pt x="80" y="113"/>
                      <a:pt x="80" y="113"/>
                    </a:cubicBezTo>
                    <a:cubicBezTo>
                      <a:pt x="80" y="112"/>
                      <a:pt x="80" y="112"/>
                      <a:pt x="80" y="112"/>
                    </a:cubicBezTo>
                    <a:cubicBezTo>
                      <a:pt x="79" y="105"/>
                      <a:pt x="72" y="99"/>
                      <a:pt x="65" y="99"/>
                    </a:cubicBezTo>
                    <a:lnTo>
                      <a:pt x="26" y="99"/>
                    </a:lnTo>
                    <a:close/>
                    <a:moveTo>
                      <a:pt x="35" y="95"/>
                    </a:moveTo>
                    <a:cubicBezTo>
                      <a:pt x="55" y="95"/>
                      <a:pt x="55" y="95"/>
                      <a:pt x="55" y="95"/>
                    </a:cubicBezTo>
                    <a:cubicBezTo>
                      <a:pt x="55" y="84"/>
                      <a:pt x="55" y="84"/>
                      <a:pt x="55" y="84"/>
                    </a:cubicBezTo>
                    <a:cubicBezTo>
                      <a:pt x="54" y="85"/>
                      <a:pt x="54" y="85"/>
                      <a:pt x="54" y="85"/>
                    </a:cubicBezTo>
                    <a:cubicBezTo>
                      <a:pt x="51" y="87"/>
                      <a:pt x="48" y="88"/>
                      <a:pt x="44" y="88"/>
                    </a:cubicBezTo>
                    <a:cubicBezTo>
                      <a:pt x="41" y="88"/>
                      <a:pt x="38" y="87"/>
                      <a:pt x="36" y="85"/>
                    </a:cubicBezTo>
                    <a:cubicBezTo>
                      <a:pt x="35" y="85"/>
                      <a:pt x="35" y="85"/>
                      <a:pt x="35" y="85"/>
                    </a:cubicBezTo>
                    <a:lnTo>
                      <a:pt x="35" y="95"/>
                    </a:lnTo>
                    <a:close/>
                    <a:moveTo>
                      <a:pt x="38" y="53"/>
                    </a:moveTo>
                    <a:cubicBezTo>
                      <a:pt x="36" y="59"/>
                      <a:pt x="30" y="64"/>
                      <a:pt x="23" y="64"/>
                    </a:cubicBezTo>
                    <a:cubicBezTo>
                      <a:pt x="22" y="64"/>
                      <a:pt x="22" y="64"/>
                      <a:pt x="22" y="64"/>
                    </a:cubicBezTo>
                    <a:cubicBezTo>
                      <a:pt x="37" y="80"/>
                      <a:pt x="37" y="80"/>
                      <a:pt x="37" y="80"/>
                    </a:cubicBezTo>
                    <a:cubicBezTo>
                      <a:pt x="39" y="81"/>
                      <a:pt x="40" y="82"/>
                      <a:pt x="42" y="83"/>
                    </a:cubicBezTo>
                    <a:cubicBezTo>
                      <a:pt x="43" y="83"/>
                      <a:pt x="44" y="83"/>
                      <a:pt x="44" y="83"/>
                    </a:cubicBezTo>
                    <a:cubicBezTo>
                      <a:pt x="48" y="83"/>
                      <a:pt x="51" y="82"/>
                      <a:pt x="53" y="79"/>
                    </a:cubicBezTo>
                    <a:cubicBezTo>
                      <a:pt x="56" y="75"/>
                      <a:pt x="55" y="69"/>
                      <a:pt x="51" y="65"/>
                    </a:cubicBezTo>
                    <a:cubicBezTo>
                      <a:pt x="38" y="52"/>
                      <a:pt x="38" y="52"/>
                      <a:pt x="38" y="52"/>
                    </a:cubicBezTo>
                    <a:lnTo>
                      <a:pt x="38" y="53"/>
                    </a:lnTo>
                    <a:close/>
                    <a:moveTo>
                      <a:pt x="22" y="36"/>
                    </a:moveTo>
                    <a:cubicBezTo>
                      <a:pt x="18" y="36"/>
                      <a:pt x="15" y="37"/>
                      <a:pt x="13" y="40"/>
                    </a:cubicBezTo>
                    <a:cubicBezTo>
                      <a:pt x="11" y="43"/>
                      <a:pt x="9" y="46"/>
                      <a:pt x="10" y="49"/>
                    </a:cubicBezTo>
                    <a:cubicBezTo>
                      <a:pt x="11" y="55"/>
                      <a:pt x="15" y="59"/>
                      <a:pt x="20" y="59"/>
                    </a:cubicBezTo>
                    <a:cubicBezTo>
                      <a:pt x="21" y="60"/>
                      <a:pt x="21" y="60"/>
                      <a:pt x="22" y="60"/>
                    </a:cubicBezTo>
                    <a:cubicBezTo>
                      <a:pt x="25" y="60"/>
                      <a:pt x="28" y="58"/>
                      <a:pt x="30" y="56"/>
                    </a:cubicBezTo>
                    <a:cubicBezTo>
                      <a:pt x="33" y="53"/>
                      <a:pt x="34" y="50"/>
                      <a:pt x="33" y="46"/>
                    </a:cubicBezTo>
                    <a:cubicBezTo>
                      <a:pt x="33" y="41"/>
                      <a:pt x="28" y="37"/>
                      <a:pt x="23" y="36"/>
                    </a:cubicBezTo>
                    <a:cubicBezTo>
                      <a:pt x="23" y="36"/>
                      <a:pt x="22" y="36"/>
                      <a:pt x="22" y="36"/>
                    </a:cubicBezTo>
                    <a:close/>
                    <a:moveTo>
                      <a:pt x="49" y="11"/>
                    </a:moveTo>
                    <a:cubicBezTo>
                      <a:pt x="49" y="11"/>
                      <a:pt x="49" y="11"/>
                      <a:pt x="48" y="11"/>
                    </a:cubicBezTo>
                    <a:cubicBezTo>
                      <a:pt x="47" y="11"/>
                      <a:pt x="45" y="12"/>
                      <a:pt x="44" y="13"/>
                    </a:cubicBezTo>
                    <a:cubicBezTo>
                      <a:pt x="26" y="32"/>
                      <a:pt x="26" y="32"/>
                      <a:pt x="26" y="32"/>
                    </a:cubicBezTo>
                    <a:cubicBezTo>
                      <a:pt x="26" y="32"/>
                      <a:pt x="26" y="32"/>
                      <a:pt x="26" y="32"/>
                    </a:cubicBezTo>
                    <a:cubicBezTo>
                      <a:pt x="31" y="33"/>
                      <a:pt x="34" y="36"/>
                      <a:pt x="36" y="40"/>
                    </a:cubicBezTo>
                    <a:cubicBezTo>
                      <a:pt x="37" y="41"/>
                      <a:pt x="37" y="41"/>
                      <a:pt x="37" y="41"/>
                    </a:cubicBezTo>
                    <a:cubicBezTo>
                      <a:pt x="54" y="23"/>
                      <a:pt x="54" y="23"/>
                      <a:pt x="54" y="23"/>
                    </a:cubicBezTo>
                    <a:cubicBezTo>
                      <a:pt x="57" y="21"/>
                      <a:pt x="57" y="17"/>
                      <a:pt x="55" y="14"/>
                    </a:cubicBezTo>
                    <a:cubicBezTo>
                      <a:pt x="54" y="12"/>
                      <a:pt x="52" y="11"/>
                      <a:pt x="49" y="11"/>
                    </a:cubicBezTo>
                    <a:close/>
                    <a:moveTo>
                      <a:pt x="60" y="12"/>
                    </a:moveTo>
                    <a:cubicBezTo>
                      <a:pt x="61" y="14"/>
                      <a:pt x="62" y="16"/>
                      <a:pt x="62" y="18"/>
                    </a:cubicBezTo>
                    <a:cubicBezTo>
                      <a:pt x="62" y="19"/>
                      <a:pt x="62" y="19"/>
                      <a:pt x="62" y="19"/>
                    </a:cubicBezTo>
                    <a:cubicBezTo>
                      <a:pt x="77" y="19"/>
                      <a:pt x="77" y="19"/>
                      <a:pt x="77" y="19"/>
                    </a:cubicBezTo>
                    <a:cubicBezTo>
                      <a:pt x="77" y="11"/>
                      <a:pt x="77" y="11"/>
                      <a:pt x="77" y="11"/>
                    </a:cubicBezTo>
                    <a:cubicBezTo>
                      <a:pt x="60" y="11"/>
                      <a:pt x="60" y="11"/>
                      <a:pt x="60" y="11"/>
                    </a:cubicBezTo>
                    <a:lnTo>
                      <a:pt x="60" y="12"/>
                    </a:lnTo>
                    <a:close/>
                    <a:moveTo>
                      <a:pt x="22" y="50"/>
                    </a:moveTo>
                    <a:cubicBezTo>
                      <a:pt x="21" y="50"/>
                      <a:pt x="21" y="50"/>
                      <a:pt x="21" y="50"/>
                    </a:cubicBezTo>
                    <a:cubicBezTo>
                      <a:pt x="20" y="50"/>
                      <a:pt x="19" y="49"/>
                      <a:pt x="19" y="48"/>
                    </a:cubicBezTo>
                    <a:cubicBezTo>
                      <a:pt x="19" y="48"/>
                      <a:pt x="19" y="47"/>
                      <a:pt x="20" y="46"/>
                    </a:cubicBezTo>
                    <a:cubicBezTo>
                      <a:pt x="20" y="46"/>
                      <a:pt x="21" y="45"/>
                      <a:pt x="22" y="45"/>
                    </a:cubicBezTo>
                    <a:cubicBezTo>
                      <a:pt x="23" y="45"/>
                      <a:pt x="24" y="46"/>
                      <a:pt x="24" y="48"/>
                    </a:cubicBezTo>
                    <a:cubicBezTo>
                      <a:pt x="24" y="48"/>
                      <a:pt x="24" y="49"/>
                      <a:pt x="23" y="49"/>
                    </a:cubicBezTo>
                    <a:cubicBezTo>
                      <a:pt x="23" y="50"/>
                      <a:pt x="22" y="50"/>
                      <a:pt x="22" y="50"/>
                    </a:cubicBezTo>
                    <a:close/>
                  </a:path>
                </a:pathLst>
              </a:custGeom>
              <a:solidFill>
                <a:schemeClr val="tx2">
                  <a:lumMod val="50000"/>
                </a:schemeClr>
              </a:solidFill>
              <a:ln w="12700" cap="flat" cmpd="sng" algn="ctr">
                <a:noFill/>
                <a:prstDash val="solid"/>
                <a:miter lim="800000"/>
              </a:ln>
              <a:effectLst/>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grpSp>
            <p:nvGrpSpPr>
              <p:cNvPr id="66" name="组合 2050">
                <a:extLst>
                  <a:ext uri="{FF2B5EF4-FFF2-40B4-BE49-F238E27FC236}">
                    <a16:creationId xmlns:a16="http://schemas.microsoft.com/office/drawing/2014/main" id="{5EE6F023-2B96-4144-8D13-064CD7512EB5}"/>
                  </a:ext>
                </a:extLst>
              </p:cNvPr>
              <p:cNvGrpSpPr/>
              <p:nvPr/>
            </p:nvGrpSpPr>
            <p:grpSpPr>
              <a:xfrm>
                <a:off x="2634381" y="1684763"/>
                <a:ext cx="382657" cy="327326"/>
                <a:chOff x="6992938" y="4440228"/>
                <a:chExt cx="593725" cy="595312"/>
              </a:xfrm>
              <a:solidFill>
                <a:schemeClr val="tx2">
                  <a:lumMod val="50000"/>
                </a:schemeClr>
              </a:solidFill>
            </p:grpSpPr>
            <p:sp>
              <p:nvSpPr>
                <p:cNvPr id="68" name="Freeform 104">
                  <a:extLst>
                    <a:ext uri="{FF2B5EF4-FFF2-40B4-BE49-F238E27FC236}">
                      <a16:creationId xmlns:a16="http://schemas.microsoft.com/office/drawing/2014/main" id="{63E629C4-A897-4E84-85A1-DD6324416554}"/>
                    </a:ext>
                  </a:extLst>
                </p:cNvPr>
                <p:cNvSpPr>
                  <a:spLocks noEditPoints="1"/>
                </p:cNvSpPr>
                <p:nvPr/>
              </p:nvSpPr>
              <p:spPr bwMode="auto">
                <a:xfrm>
                  <a:off x="7019926" y="4791075"/>
                  <a:ext cx="103188" cy="217487"/>
                </a:xfrm>
                <a:custGeom>
                  <a:avLst/>
                  <a:gdLst>
                    <a:gd name="T0" fmla="*/ 4 w 27"/>
                    <a:gd name="T1" fmla="*/ 57 h 57"/>
                    <a:gd name="T2" fmla="*/ 23 w 27"/>
                    <a:gd name="T3" fmla="*/ 57 h 57"/>
                    <a:gd name="T4" fmla="*/ 27 w 27"/>
                    <a:gd name="T5" fmla="*/ 54 h 57"/>
                    <a:gd name="T6" fmla="*/ 27 w 27"/>
                    <a:gd name="T7" fmla="*/ 37 h 57"/>
                    <a:gd name="T8" fmla="*/ 25 w 27"/>
                    <a:gd name="T9" fmla="*/ 34 h 57"/>
                    <a:gd name="T10" fmla="*/ 15 w 27"/>
                    <a:gd name="T11" fmla="*/ 27 h 57"/>
                    <a:gd name="T12" fmla="*/ 15 w 27"/>
                    <a:gd name="T13" fmla="*/ 2 h 57"/>
                    <a:gd name="T14" fmla="*/ 13 w 27"/>
                    <a:gd name="T15" fmla="*/ 0 h 57"/>
                    <a:gd name="T16" fmla="*/ 12 w 27"/>
                    <a:gd name="T17" fmla="*/ 2 h 57"/>
                    <a:gd name="T18" fmla="*/ 12 w 27"/>
                    <a:gd name="T19" fmla="*/ 27 h 57"/>
                    <a:gd name="T20" fmla="*/ 2 w 27"/>
                    <a:gd name="T21" fmla="*/ 34 h 57"/>
                    <a:gd name="T22" fmla="*/ 0 w 27"/>
                    <a:gd name="T23" fmla="*/ 37 h 57"/>
                    <a:gd name="T24" fmla="*/ 0 w 27"/>
                    <a:gd name="T25" fmla="*/ 54 h 57"/>
                    <a:gd name="T26" fmla="*/ 4 w 27"/>
                    <a:gd name="T27" fmla="*/ 57 h 57"/>
                    <a:gd name="T28" fmla="*/ 4 w 27"/>
                    <a:gd name="T29" fmla="*/ 37 h 57"/>
                    <a:gd name="T30" fmla="*/ 13 w 27"/>
                    <a:gd name="T31" fmla="*/ 30 h 57"/>
                    <a:gd name="T32" fmla="*/ 14 w 27"/>
                    <a:gd name="T33" fmla="*/ 30 h 57"/>
                    <a:gd name="T34" fmla="*/ 23 w 27"/>
                    <a:gd name="T35" fmla="*/ 37 h 57"/>
                    <a:gd name="T36" fmla="*/ 23 w 27"/>
                    <a:gd name="T37" fmla="*/ 54 h 57"/>
                    <a:gd name="T38" fmla="*/ 4 w 27"/>
                    <a:gd name="T39" fmla="*/ 54 h 57"/>
                    <a:gd name="T40" fmla="*/ 4 w 27"/>
                    <a:gd name="T41" fmla="*/ 37 h 57"/>
                    <a:gd name="T42" fmla="*/ 4 w 27"/>
                    <a:gd name="T43" fmla="*/ 37 h 57"/>
                    <a:gd name="T44" fmla="*/ 4 w 27"/>
                    <a:gd name="T45" fmla="*/ 3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57">
                      <a:moveTo>
                        <a:pt x="4" y="57"/>
                      </a:moveTo>
                      <a:cubicBezTo>
                        <a:pt x="23" y="57"/>
                        <a:pt x="23" y="57"/>
                        <a:pt x="23" y="57"/>
                      </a:cubicBezTo>
                      <a:cubicBezTo>
                        <a:pt x="25" y="57"/>
                        <a:pt x="27" y="56"/>
                        <a:pt x="27" y="54"/>
                      </a:cubicBezTo>
                      <a:cubicBezTo>
                        <a:pt x="27" y="37"/>
                        <a:pt x="27" y="37"/>
                        <a:pt x="27" y="37"/>
                      </a:cubicBezTo>
                      <a:cubicBezTo>
                        <a:pt x="27" y="36"/>
                        <a:pt x="26" y="34"/>
                        <a:pt x="25" y="34"/>
                      </a:cubicBezTo>
                      <a:cubicBezTo>
                        <a:pt x="15" y="27"/>
                        <a:pt x="15" y="27"/>
                        <a:pt x="15" y="27"/>
                      </a:cubicBezTo>
                      <a:cubicBezTo>
                        <a:pt x="15" y="2"/>
                        <a:pt x="15" y="2"/>
                        <a:pt x="15" y="2"/>
                      </a:cubicBezTo>
                      <a:cubicBezTo>
                        <a:pt x="15" y="1"/>
                        <a:pt x="14" y="0"/>
                        <a:pt x="13" y="0"/>
                      </a:cubicBezTo>
                      <a:cubicBezTo>
                        <a:pt x="12" y="0"/>
                        <a:pt x="12" y="1"/>
                        <a:pt x="12" y="2"/>
                      </a:cubicBezTo>
                      <a:cubicBezTo>
                        <a:pt x="12" y="27"/>
                        <a:pt x="12" y="27"/>
                        <a:pt x="12" y="27"/>
                      </a:cubicBezTo>
                      <a:cubicBezTo>
                        <a:pt x="2" y="34"/>
                        <a:pt x="2" y="34"/>
                        <a:pt x="2" y="34"/>
                      </a:cubicBezTo>
                      <a:cubicBezTo>
                        <a:pt x="1" y="34"/>
                        <a:pt x="0" y="36"/>
                        <a:pt x="0" y="37"/>
                      </a:cubicBezTo>
                      <a:cubicBezTo>
                        <a:pt x="0" y="54"/>
                        <a:pt x="0" y="54"/>
                        <a:pt x="0" y="54"/>
                      </a:cubicBezTo>
                      <a:cubicBezTo>
                        <a:pt x="0" y="56"/>
                        <a:pt x="2" y="57"/>
                        <a:pt x="4" y="57"/>
                      </a:cubicBezTo>
                      <a:close/>
                      <a:moveTo>
                        <a:pt x="4" y="37"/>
                      </a:moveTo>
                      <a:cubicBezTo>
                        <a:pt x="13" y="30"/>
                        <a:pt x="13" y="30"/>
                        <a:pt x="13" y="30"/>
                      </a:cubicBezTo>
                      <a:cubicBezTo>
                        <a:pt x="14" y="30"/>
                        <a:pt x="14" y="30"/>
                        <a:pt x="14" y="30"/>
                      </a:cubicBezTo>
                      <a:cubicBezTo>
                        <a:pt x="23" y="37"/>
                        <a:pt x="23" y="37"/>
                        <a:pt x="23" y="37"/>
                      </a:cubicBezTo>
                      <a:cubicBezTo>
                        <a:pt x="23" y="54"/>
                        <a:pt x="23" y="54"/>
                        <a:pt x="23" y="54"/>
                      </a:cubicBezTo>
                      <a:cubicBezTo>
                        <a:pt x="4" y="54"/>
                        <a:pt x="4" y="54"/>
                        <a:pt x="4" y="54"/>
                      </a:cubicBezTo>
                      <a:lnTo>
                        <a:pt x="4" y="37"/>
                      </a:lnTo>
                      <a:close/>
                      <a:moveTo>
                        <a:pt x="4" y="37"/>
                      </a:moveTo>
                      <a:cubicBezTo>
                        <a:pt x="4" y="37"/>
                        <a:pt x="4" y="37"/>
                        <a:pt x="4" y="37"/>
                      </a:cubicBezTo>
                    </a:path>
                  </a:pathLst>
                </a:custGeom>
                <a:grpFill/>
                <a:ln w="12700">
                  <a:noFill/>
                  <a:round/>
                </a:ln>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sp>
              <p:nvSpPr>
                <p:cNvPr id="69" name="Freeform 105">
                  <a:extLst>
                    <a:ext uri="{FF2B5EF4-FFF2-40B4-BE49-F238E27FC236}">
                      <a16:creationId xmlns:a16="http://schemas.microsoft.com/office/drawing/2014/main" id="{E6041C24-C42E-4D2D-9693-F7CAB875903F}"/>
                    </a:ext>
                  </a:extLst>
                </p:cNvPr>
                <p:cNvSpPr>
                  <a:spLocks noEditPoints="1"/>
                </p:cNvSpPr>
                <p:nvPr/>
              </p:nvSpPr>
              <p:spPr bwMode="auto">
                <a:xfrm>
                  <a:off x="6992938" y="4440228"/>
                  <a:ext cx="593725" cy="595312"/>
                </a:xfrm>
                <a:custGeom>
                  <a:avLst/>
                  <a:gdLst>
                    <a:gd name="T0" fmla="*/ 133 w 155"/>
                    <a:gd name="T1" fmla="*/ 152 h 156"/>
                    <a:gd name="T2" fmla="*/ 134 w 155"/>
                    <a:gd name="T3" fmla="*/ 141 h 156"/>
                    <a:gd name="T4" fmla="*/ 134 w 155"/>
                    <a:gd name="T5" fmla="*/ 137 h 156"/>
                    <a:gd name="T6" fmla="*/ 130 w 155"/>
                    <a:gd name="T7" fmla="*/ 87 h 156"/>
                    <a:gd name="T8" fmla="*/ 139 w 155"/>
                    <a:gd name="T9" fmla="*/ 35 h 156"/>
                    <a:gd name="T10" fmla="*/ 124 w 155"/>
                    <a:gd name="T11" fmla="*/ 2 h 156"/>
                    <a:gd name="T12" fmla="*/ 112 w 155"/>
                    <a:gd name="T13" fmla="*/ 2 h 156"/>
                    <a:gd name="T14" fmla="*/ 109 w 155"/>
                    <a:gd name="T15" fmla="*/ 45 h 156"/>
                    <a:gd name="T16" fmla="*/ 68 w 155"/>
                    <a:gd name="T17" fmla="*/ 58 h 156"/>
                    <a:gd name="T18" fmla="*/ 61 w 155"/>
                    <a:gd name="T19" fmla="*/ 67 h 156"/>
                    <a:gd name="T20" fmla="*/ 12 w 155"/>
                    <a:gd name="T21" fmla="*/ 91 h 156"/>
                    <a:gd name="T22" fmla="*/ 15 w 155"/>
                    <a:gd name="T23" fmla="*/ 92 h 156"/>
                    <a:gd name="T24" fmla="*/ 66 w 155"/>
                    <a:gd name="T25" fmla="*/ 74 h 156"/>
                    <a:gd name="T26" fmla="*/ 40 w 155"/>
                    <a:gd name="T27" fmla="*/ 152 h 156"/>
                    <a:gd name="T28" fmla="*/ 0 w 155"/>
                    <a:gd name="T29" fmla="*/ 154 h 156"/>
                    <a:gd name="T30" fmla="*/ 96 w 155"/>
                    <a:gd name="T31" fmla="*/ 156 h 156"/>
                    <a:gd name="T32" fmla="*/ 98 w 155"/>
                    <a:gd name="T33" fmla="*/ 153 h 156"/>
                    <a:gd name="T34" fmla="*/ 85 w 155"/>
                    <a:gd name="T35" fmla="*/ 113 h 156"/>
                    <a:gd name="T36" fmla="*/ 71 w 155"/>
                    <a:gd name="T37" fmla="*/ 73 h 156"/>
                    <a:gd name="T38" fmla="*/ 77 w 155"/>
                    <a:gd name="T39" fmla="*/ 64 h 156"/>
                    <a:gd name="T40" fmla="*/ 126 w 155"/>
                    <a:gd name="T41" fmla="*/ 87 h 156"/>
                    <a:gd name="T42" fmla="*/ 121 w 155"/>
                    <a:gd name="T43" fmla="*/ 136 h 156"/>
                    <a:gd name="T44" fmla="*/ 121 w 155"/>
                    <a:gd name="T45" fmla="*/ 140 h 156"/>
                    <a:gd name="T46" fmla="*/ 122 w 155"/>
                    <a:gd name="T47" fmla="*/ 152 h 156"/>
                    <a:gd name="T48" fmla="*/ 101 w 155"/>
                    <a:gd name="T49" fmla="*/ 153 h 156"/>
                    <a:gd name="T50" fmla="*/ 153 w 155"/>
                    <a:gd name="T51" fmla="*/ 155 h 156"/>
                    <a:gd name="T52" fmla="*/ 153 w 155"/>
                    <a:gd name="T53" fmla="*/ 152 h 156"/>
                    <a:gd name="T54" fmla="*/ 59 w 155"/>
                    <a:gd name="T55" fmla="*/ 112 h 156"/>
                    <a:gd name="T56" fmla="*/ 80 w 155"/>
                    <a:gd name="T57" fmla="*/ 112 h 156"/>
                    <a:gd name="T58" fmla="*/ 54 w 155"/>
                    <a:gd name="T59" fmla="*/ 133 h 156"/>
                    <a:gd name="T60" fmla="*/ 87 w 155"/>
                    <a:gd name="T61" fmla="*/ 133 h 156"/>
                    <a:gd name="T62" fmla="*/ 71 w 155"/>
                    <a:gd name="T63" fmla="*/ 94 h 156"/>
                    <a:gd name="T64" fmla="*/ 63 w 155"/>
                    <a:gd name="T65" fmla="*/ 94 h 156"/>
                    <a:gd name="T66" fmla="*/ 76 w 155"/>
                    <a:gd name="T67" fmla="*/ 116 h 156"/>
                    <a:gd name="T68" fmla="*/ 56 w 155"/>
                    <a:gd name="T69" fmla="*/ 116 h 156"/>
                    <a:gd name="T70" fmla="*/ 69 w 155"/>
                    <a:gd name="T71" fmla="*/ 78 h 156"/>
                    <a:gd name="T72" fmla="*/ 65 w 155"/>
                    <a:gd name="T73" fmla="*/ 90 h 156"/>
                    <a:gd name="T74" fmla="*/ 49 w 155"/>
                    <a:gd name="T75" fmla="*/ 137 h 156"/>
                    <a:gd name="T76" fmla="*/ 93 w 155"/>
                    <a:gd name="T77" fmla="*/ 152 h 156"/>
                    <a:gd name="T78" fmla="*/ 69 w 155"/>
                    <a:gd name="T79" fmla="*/ 70 h 156"/>
                    <a:gd name="T80" fmla="*/ 69 w 155"/>
                    <a:gd name="T81" fmla="*/ 62 h 156"/>
                    <a:gd name="T82" fmla="*/ 69 w 155"/>
                    <a:gd name="T83" fmla="*/ 70 h 156"/>
                    <a:gd name="T84" fmla="*/ 117 w 155"/>
                    <a:gd name="T85" fmla="*/ 42 h 156"/>
                    <a:gd name="T86" fmla="*/ 134 w 155"/>
                    <a:gd name="T87" fmla="*/ 34 h 156"/>
                    <a:gd name="T88" fmla="*/ 131 w 155"/>
                    <a:gd name="T89" fmla="*/ 58 h 156"/>
                    <a:gd name="T90" fmla="*/ 134 w 155"/>
                    <a:gd name="T91" fmla="*/ 38 h 156"/>
                    <a:gd name="T92" fmla="*/ 127 w 155"/>
                    <a:gd name="T93" fmla="*/ 80 h 156"/>
                    <a:gd name="T94" fmla="*/ 130 w 155"/>
                    <a:gd name="T95" fmla="*/ 62 h 156"/>
                    <a:gd name="T96" fmla="*/ 125 w 155"/>
                    <a:gd name="T97" fmla="*/ 12 h 156"/>
                    <a:gd name="T98" fmla="*/ 114 w 155"/>
                    <a:gd name="T99" fmla="*/ 6 h 156"/>
                    <a:gd name="T100" fmla="*/ 126 w 155"/>
                    <a:gd name="T101" fmla="*/ 152 h 156"/>
                    <a:gd name="T102" fmla="*/ 129 w 155"/>
                    <a:gd name="T103" fmla="*/ 141 h 156"/>
                    <a:gd name="T104" fmla="*/ 126 w 155"/>
                    <a:gd name="T105" fmla="*/ 152 h 156"/>
                    <a:gd name="T106" fmla="*/ 126 w 155"/>
                    <a:gd name="T107" fmla="*/ 15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5" h="156">
                      <a:moveTo>
                        <a:pt x="153" y="152"/>
                      </a:moveTo>
                      <a:cubicBezTo>
                        <a:pt x="133" y="152"/>
                        <a:pt x="133" y="152"/>
                        <a:pt x="133" y="152"/>
                      </a:cubicBezTo>
                      <a:cubicBezTo>
                        <a:pt x="133" y="141"/>
                        <a:pt x="133" y="141"/>
                        <a:pt x="133" y="141"/>
                      </a:cubicBezTo>
                      <a:cubicBezTo>
                        <a:pt x="134" y="141"/>
                        <a:pt x="134" y="141"/>
                        <a:pt x="134" y="141"/>
                      </a:cubicBezTo>
                      <a:cubicBezTo>
                        <a:pt x="135" y="141"/>
                        <a:pt x="136" y="140"/>
                        <a:pt x="136" y="139"/>
                      </a:cubicBezTo>
                      <a:cubicBezTo>
                        <a:pt x="136" y="138"/>
                        <a:pt x="135" y="137"/>
                        <a:pt x="134" y="137"/>
                      </a:cubicBezTo>
                      <a:cubicBezTo>
                        <a:pt x="130" y="137"/>
                        <a:pt x="130" y="137"/>
                        <a:pt x="130" y="137"/>
                      </a:cubicBezTo>
                      <a:cubicBezTo>
                        <a:pt x="130" y="87"/>
                        <a:pt x="130" y="87"/>
                        <a:pt x="130" y="87"/>
                      </a:cubicBezTo>
                      <a:cubicBezTo>
                        <a:pt x="139" y="36"/>
                        <a:pt x="139" y="36"/>
                        <a:pt x="139" y="36"/>
                      </a:cubicBezTo>
                      <a:cubicBezTo>
                        <a:pt x="139" y="35"/>
                        <a:pt x="139" y="35"/>
                        <a:pt x="139" y="35"/>
                      </a:cubicBezTo>
                      <a:cubicBezTo>
                        <a:pt x="139" y="35"/>
                        <a:pt x="139" y="35"/>
                        <a:pt x="139" y="35"/>
                      </a:cubicBezTo>
                      <a:cubicBezTo>
                        <a:pt x="124" y="2"/>
                        <a:pt x="124" y="2"/>
                        <a:pt x="124" y="2"/>
                      </a:cubicBezTo>
                      <a:cubicBezTo>
                        <a:pt x="124" y="1"/>
                        <a:pt x="123" y="0"/>
                        <a:pt x="122" y="1"/>
                      </a:cubicBezTo>
                      <a:cubicBezTo>
                        <a:pt x="112" y="2"/>
                        <a:pt x="112" y="2"/>
                        <a:pt x="112" y="2"/>
                      </a:cubicBezTo>
                      <a:cubicBezTo>
                        <a:pt x="111" y="2"/>
                        <a:pt x="110" y="3"/>
                        <a:pt x="110" y="4"/>
                      </a:cubicBezTo>
                      <a:cubicBezTo>
                        <a:pt x="109" y="45"/>
                        <a:pt x="109" y="45"/>
                        <a:pt x="109" y="45"/>
                      </a:cubicBezTo>
                      <a:cubicBezTo>
                        <a:pt x="75" y="61"/>
                        <a:pt x="75" y="61"/>
                        <a:pt x="75" y="61"/>
                      </a:cubicBezTo>
                      <a:cubicBezTo>
                        <a:pt x="73" y="59"/>
                        <a:pt x="71" y="58"/>
                        <a:pt x="68" y="58"/>
                      </a:cubicBezTo>
                      <a:cubicBezTo>
                        <a:pt x="64" y="58"/>
                        <a:pt x="60" y="61"/>
                        <a:pt x="60" y="66"/>
                      </a:cubicBezTo>
                      <a:cubicBezTo>
                        <a:pt x="60" y="66"/>
                        <a:pt x="60" y="66"/>
                        <a:pt x="61" y="67"/>
                      </a:cubicBezTo>
                      <a:cubicBezTo>
                        <a:pt x="13" y="88"/>
                        <a:pt x="13" y="88"/>
                        <a:pt x="13" y="88"/>
                      </a:cubicBezTo>
                      <a:cubicBezTo>
                        <a:pt x="12" y="89"/>
                        <a:pt x="12" y="90"/>
                        <a:pt x="12" y="91"/>
                      </a:cubicBezTo>
                      <a:cubicBezTo>
                        <a:pt x="13" y="92"/>
                        <a:pt x="13" y="92"/>
                        <a:pt x="14" y="92"/>
                      </a:cubicBezTo>
                      <a:cubicBezTo>
                        <a:pt x="14" y="92"/>
                        <a:pt x="14" y="92"/>
                        <a:pt x="15" y="92"/>
                      </a:cubicBezTo>
                      <a:cubicBezTo>
                        <a:pt x="62" y="71"/>
                        <a:pt x="62" y="71"/>
                        <a:pt x="62" y="71"/>
                      </a:cubicBezTo>
                      <a:cubicBezTo>
                        <a:pt x="63" y="72"/>
                        <a:pt x="64" y="73"/>
                        <a:pt x="66" y="74"/>
                      </a:cubicBezTo>
                      <a:cubicBezTo>
                        <a:pt x="45" y="135"/>
                        <a:pt x="45" y="135"/>
                        <a:pt x="45" y="135"/>
                      </a:cubicBezTo>
                      <a:cubicBezTo>
                        <a:pt x="40" y="152"/>
                        <a:pt x="40" y="152"/>
                        <a:pt x="40" y="152"/>
                      </a:cubicBezTo>
                      <a:cubicBezTo>
                        <a:pt x="2" y="152"/>
                        <a:pt x="2" y="152"/>
                        <a:pt x="2" y="152"/>
                      </a:cubicBezTo>
                      <a:cubicBezTo>
                        <a:pt x="1" y="152"/>
                        <a:pt x="0" y="153"/>
                        <a:pt x="0" y="154"/>
                      </a:cubicBezTo>
                      <a:cubicBezTo>
                        <a:pt x="0" y="155"/>
                        <a:pt x="1" y="156"/>
                        <a:pt x="2" y="156"/>
                      </a:cubicBezTo>
                      <a:cubicBezTo>
                        <a:pt x="96" y="156"/>
                        <a:pt x="96" y="156"/>
                        <a:pt x="96" y="156"/>
                      </a:cubicBezTo>
                      <a:cubicBezTo>
                        <a:pt x="97" y="156"/>
                        <a:pt x="98" y="155"/>
                        <a:pt x="98" y="154"/>
                      </a:cubicBezTo>
                      <a:cubicBezTo>
                        <a:pt x="98" y="153"/>
                        <a:pt x="98" y="153"/>
                        <a:pt x="98" y="153"/>
                      </a:cubicBezTo>
                      <a:cubicBezTo>
                        <a:pt x="85" y="113"/>
                        <a:pt x="85" y="113"/>
                        <a:pt x="85" y="113"/>
                      </a:cubicBezTo>
                      <a:cubicBezTo>
                        <a:pt x="85" y="113"/>
                        <a:pt x="85" y="113"/>
                        <a:pt x="85" y="113"/>
                      </a:cubicBezTo>
                      <a:cubicBezTo>
                        <a:pt x="85" y="113"/>
                        <a:pt x="84" y="113"/>
                        <a:pt x="84" y="112"/>
                      </a:cubicBezTo>
                      <a:cubicBezTo>
                        <a:pt x="71" y="73"/>
                        <a:pt x="71" y="73"/>
                        <a:pt x="71" y="73"/>
                      </a:cubicBezTo>
                      <a:cubicBezTo>
                        <a:pt x="74" y="72"/>
                        <a:pt x="77" y="69"/>
                        <a:pt x="77" y="66"/>
                      </a:cubicBezTo>
                      <a:cubicBezTo>
                        <a:pt x="77" y="65"/>
                        <a:pt x="77" y="64"/>
                        <a:pt x="77" y="64"/>
                      </a:cubicBezTo>
                      <a:cubicBezTo>
                        <a:pt x="111" y="49"/>
                        <a:pt x="111" y="49"/>
                        <a:pt x="111" y="49"/>
                      </a:cubicBezTo>
                      <a:cubicBezTo>
                        <a:pt x="126" y="87"/>
                        <a:pt x="126" y="87"/>
                        <a:pt x="126" y="87"/>
                      </a:cubicBezTo>
                      <a:cubicBezTo>
                        <a:pt x="126" y="136"/>
                        <a:pt x="126" y="136"/>
                        <a:pt x="126" y="136"/>
                      </a:cubicBezTo>
                      <a:cubicBezTo>
                        <a:pt x="121" y="136"/>
                        <a:pt x="121" y="136"/>
                        <a:pt x="121" y="136"/>
                      </a:cubicBezTo>
                      <a:cubicBezTo>
                        <a:pt x="120" y="136"/>
                        <a:pt x="119" y="137"/>
                        <a:pt x="119" y="138"/>
                      </a:cubicBezTo>
                      <a:cubicBezTo>
                        <a:pt x="119" y="139"/>
                        <a:pt x="120" y="140"/>
                        <a:pt x="121" y="140"/>
                      </a:cubicBezTo>
                      <a:cubicBezTo>
                        <a:pt x="122" y="140"/>
                        <a:pt x="122" y="140"/>
                        <a:pt x="122" y="140"/>
                      </a:cubicBezTo>
                      <a:cubicBezTo>
                        <a:pt x="122" y="152"/>
                        <a:pt x="122" y="152"/>
                        <a:pt x="122" y="152"/>
                      </a:cubicBezTo>
                      <a:cubicBezTo>
                        <a:pt x="103" y="152"/>
                        <a:pt x="103" y="152"/>
                        <a:pt x="103" y="152"/>
                      </a:cubicBezTo>
                      <a:cubicBezTo>
                        <a:pt x="102" y="152"/>
                        <a:pt x="101" y="152"/>
                        <a:pt x="101" y="153"/>
                      </a:cubicBezTo>
                      <a:cubicBezTo>
                        <a:pt x="101" y="155"/>
                        <a:pt x="102" y="155"/>
                        <a:pt x="103" y="155"/>
                      </a:cubicBezTo>
                      <a:cubicBezTo>
                        <a:pt x="153" y="155"/>
                        <a:pt x="153" y="155"/>
                        <a:pt x="153" y="155"/>
                      </a:cubicBezTo>
                      <a:cubicBezTo>
                        <a:pt x="155" y="155"/>
                        <a:pt x="155" y="154"/>
                        <a:pt x="155" y="153"/>
                      </a:cubicBezTo>
                      <a:cubicBezTo>
                        <a:pt x="155" y="153"/>
                        <a:pt x="154" y="152"/>
                        <a:pt x="153" y="152"/>
                      </a:cubicBezTo>
                      <a:close/>
                      <a:moveTo>
                        <a:pt x="80" y="112"/>
                      </a:moveTo>
                      <a:cubicBezTo>
                        <a:pt x="59" y="112"/>
                        <a:pt x="59" y="112"/>
                        <a:pt x="59" y="112"/>
                      </a:cubicBezTo>
                      <a:cubicBezTo>
                        <a:pt x="74" y="95"/>
                        <a:pt x="74" y="95"/>
                        <a:pt x="74" y="95"/>
                      </a:cubicBezTo>
                      <a:lnTo>
                        <a:pt x="80" y="112"/>
                      </a:lnTo>
                      <a:close/>
                      <a:moveTo>
                        <a:pt x="87" y="133"/>
                      </a:moveTo>
                      <a:cubicBezTo>
                        <a:pt x="54" y="133"/>
                        <a:pt x="54" y="133"/>
                        <a:pt x="54" y="133"/>
                      </a:cubicBezTo>
                      <a:cubicBezTo>
                        <a:pt x="82" y="117"/>
                        <a:pt x="82" y="117"/>
                        <a:pt x="82" y="117"/>
                      </a:cubicBezTo>
                      <a:lnTo>
                        <a:pt x="87" y="133"/>
                      </a:lnTo>
                      <a:close/>
                      <a:moveTo>
                        <a:pt x="63" y="94"/>
                      </a:moveTo>
                      <a:cubicBezTo>
                        <a:pt x="71" y="94"/>
                        <a:pt x="71" y="94"/>
                        <a:pt x="71" y="94"/>
                      </a:cubicBezTo>
                      <a:cubicBezTo>
                        <a:pt x="59" y="106"/>
                        <a:pt x="59" y="106"/>
                        <a:pt x="59" y="106"/>
                      </a:cubicBezTo>
                      <a:lnTo>
                        <a:pt x="63" y="94"/>
                      </a:lnTo>
                      <a:close/>
                      <a:moveTo>
                        <a:pt x="56" y="116"/>
                      </a:moveTo>
                      <a:cubicBezTo>
                        <a:pt x="76" y="116"/>
                        <a:pt x="76" y="116"/>
                        <a:pt x="76" y="116"/>
                      </a:cubicBezTo>
                      <a:cubicBezTo>
                        <a:pt x="51" y="131"/>
                        <a:pt x="51" y="131"/>
                        <a:pt x="51" y="131"/>
                      </a:cubicBezTo>
                      <a:lnTo>
                        <a:pt x="56" y="116"/>
                      </a:lnTo>
                      <a:close/>
                      <a:moveTo>
                        <a:pt x="65" y="90"/>
                      </a:moveTo>
                      <a:cubicBezTo>
                        <a:pt x="69" y="78"/>
                        <a:pt x="69" y="78"/>
                        <a:pt x="69" y="78"/>
                      </a:cubicBezTo>
                      <a:cubicBezTo>
                        <a:pt x="73" y="90"/>
                        <a:pt x="73" y="90"/>
                        <a:pt x="73" y="90"/>
                      </a:cubicBezTo>
                      <a:lnTo>
                        <a:pt x="65" y="90"/>
                      </a:lnTo>
                      <a:close/>
                      <a:moveTo>
                        <a:pt x="44" y="152"/>
                      </a:moveTo>
                      <a:cubicBezTo>
                        <a:pt x="49" y="137"/>
                        <a:pt x="49" y="137"/>
                        <a:pt x="49" y="137"/>
                      </a:cubicBezTo>
                      <a:cubicBezTo>
                        <a:pt x="88" y="137"/>
                        <a:pt x="88" y="137"/>
                        <a:pt x="88" y="137"/>
                      </a:cubicBezTo>
                      <a:cubicBezTo>
                        <a:pt x="93" y="152"/>
                        <a:pt x="93" y="152"/>
                        <a:pt x="93" y="152"/>
                      </a:cubicBezTo>
                      <a:lnTo>
                        <a:pt x="44" y="152"/>
                      </a:lnTo>
                      <a:close/>
                      <a:moveTo>
                        <a:pt x="69" y="70"/>
                      </a:moveTo>
                      <a:cubicBezTo>
                        <a:pt x="66" y="70"/>
                        <a:pt x="65" y="68"/>
                        <a:pt x="65" y="66"/>
                      </a:cubicBezTo>
                      <a:cubicBezTo>
                        <a:pt x="65" y="64"/>
                        <a:pt x="66" y="62"/>
                        <a:pt x="69" y="62"/>
                      </a:cubicBezTo>
                      <a:cubicBezTo>
                        <a:pt x="71" y="62"/>
                        <a:pt x="73" y="64"/>
                        <a:pt x="73" y="66"/>
                      </a:cubicBezTo>
                      <a:cubicBezTo>
                        <a:pt x="73" y="68"/>
                        <a:pt x="71" y="70"/>
                        <a:pt x="69" y="70"/>
                      </a:cubicBezTo>
                      <a:close/>
                      <a:moveTo>
                        <a:pt x="134" y="34"/>
                      </a:moveTo>
                      <a:cubicBezTo>
                        <a:pt x="117" y="42"/>
                        <a:pt x="117" y="42"/>
                        <a:pt x="117" y="42"/>
                      </a:cubicBezTo>
                      <a:cubicBezTo>
                        <a:pt x="127" y="17"/>
                        <a:pt x="127" y="17"/>
                        <a:pt x="127" y="17"/>
                      </a:cubicBezTo>
                      <a:lnTo>
                        <a:pt x="134" y="34"/>
                      </a:lnTo>
                      <a:close/>
                      <a:moveTo>
                        <a:pt x="134" y="38"/>
                      </a:moveTo>
                      <a:cubicBezTo>
                        <a:pt x="131" y="58"/>
                        <a:pt x="131" y="58"/>
                        <a:pt x="131" y="58"/>
                      </a:cubicBezTo>
                      <a:cubicBezTo>
                        <a:pt x="117" y="46"/>
                        <a:pt x="117" y="46"/>
                        <a:pt x="117" y="46"/>
                      </a:cubicBezTo>
                      <a:lnTo>
                        <a:pt x="134" y="38"/>
                      </a:lnTo>
                      <a:close/>
                      <a:moveTo>
                        <a:pt x="130" y="62"/>
                      </a:moveTo>
                      <a:cubicBezTo>
                        <a:pt x="127" y="80"/>
                        <a:pt x="127" y="80"/>
                        <a:pt x="127" y="80"/>
                      </a:cubicBezTo>
                      <a:cubicBezTo>
                        <a:pt x="114" y="49"/>
                        <a:pt x="114" y="49"/>
                        <a:pt x="114" y="49"/>
                      </a:cubicBezTo>
                      <a:lnTo>
                        <a:pt x="130" y="62"/>
                      </a:lnTo>
                      <a:close/>
                      <a:moveTo>
                        <a:pt x="121" y="5"/>
                      </a:moveTo>
                      <a:cubicBezTo>
                        <a:pt x="125" y="12"/>
                        <a:pt x="125" y="12"/>
                        <a:pt x="125" y="12"/>
                      </a:cubicBezTo>
                      <a:cubicBezTo>
                        <a:pt x="114" y="40"/>
                        <a:pt x="114" y="40"/>
                        <a:pt x="114" y="40"/>
                      </a:cubicBezTo>
                      <a:cubicBezTo>
                        <a:pt x="114" y="6"/>
                        <a:pt x="114" y="6"/>
                        <a:pt x="114" y="6"/>
                      </a:cubicBezTo>
                      <a:lnTo>
                        <a:pt x="121" y="5"/>
                      </a:lnTo>
                      <a:close/>
                      <a:moveTo>
                        <a:pt x="126" y="152"/>
                      </a:moveTo>
                      <a:cubicBezTo>
                        <a:pt x="126" y="141"/>
                        <a:pt x="126" y="141"/>
                        <a:pt x="126" y="141"/>
                      </a:cubicBezTo>
                      <a:cubicBezTo>
                        <a:pt x="129" y="141"/>
                        <a:pt x="129" y="141"/>
                        <a:pt x="129" y="141"/>
                      </a:cubicBezTo>
                      <a:cubicBezTo>
                        <a:pt x="129" y="152"/>
                        <a:pt x="129" y="152"/>
                        <a:pt x="129" y="152"/>
                      </a:cubicBezTo>
                      <a:lnTo>
                        <a:pt x="126" y="152"/>
                      </a:lnTo>
                      <a:close/>
                      <a:moveTo>
                        <a:pt x="126" y="152"/>
                      </a:moveTo>
                      <a:cubicBezTo>
                        <a:pt x="126" y="152"/>
                        <a:pt x="126" y="152"/>
                        <a:pt x="126" y="152"/>
                      </a:cubicBezTo>
                    </a:path>
                  </a:pathLst>
                </a:custGeom>
                <a:grpFill/>
                <a:ln w="12700">
                  <a:noFill/>
                  <a:round/>
                </a:ln>
              </p:spPr>
              <p:txBody>
                <a:bodyPr vert="horz" wrap="square" lIns="68561" tIns="34280" rIns="68561" bIns="34280" numCol="1" anchor="t" anchorCtr="0" compatLnSpc="1"/>
                <a:lstStyle/>
                <a:p>
                  <a:pPr defTabSz="914400">
                    <a:defRPr/>
                  </a:pPr>
                  <a:endParaRPr lang="zh-CN" altLang="en-US" kern="0">
                    <a:solidFill>
                      <a:srgbClr val="1D1D1A"/>
                    </a:solidFill>
                    <a:latin typeface="Arial" panose="020B0604020202020204"/>
                    <a:ea typeface="黑体" panose="02010609060101010101" pitchFamily="49" charset="-122"/>
                  </a:endParaRPr>
                </a:p>
              </p:txBody>
            </p:sp>
          </p:grpSp>
          <p:sp>
            <p:nvSpPr>
              <p:cNvPr id="67" name="文本框 66">
                <a:extLst>
                  <a:ext uri="{FF2B5EF4-FFF2-40B4-BE49-F238E27FC236}">
                    <a16:creationId xmlns:a16="http://schemas.microsoft.com/office/drawing/2014/main" id="{83039F91-6219-44EC-8A46-D708C3600ADD}"/>
                  </a:ext>
                </a:extLst>
              </p:cNvPr>
              <p:cNvSpPr txBox="1"/>
              <p:nvPr/>
            </p:nvSpPr>
            <p:spPr>
              <a:xfrm>
                <a:off x="750776" y="1493192"/>
                <a:ext cx="1263936" cy="664756"/>
              </a:xfrm>
              <a:prstGeom prst="rect">
                <a:avLst/>
              </a:prstGeom>
              <a:noFill/>
            </p:spPr>
            <p:txBody>
              <a:bodyPr wrap="square" rtlCol="0">
                <a:spAutoFit/>
              </a:bodyPr>
              <a:lstStyle/>
              <a:p>
                <a:r>
                  <a:rPr lang="en-US" altLang="en-US" sz="800" dirty="0">
                    <a:solidFill>
                      <a:srgbClr val="1D1D1A"/>
                    </a:solidFill>
                    <a:latin typeface="Microsoft YaHei" panose="020B0503020204020204" pitchFamily="34" charset="-122"/>
                    <a:ea typeface="Microsoft YaHei" panose="020B0503020204020204" pitchFamily="34" charset="-122"/>
                  </a:rPr>
                  <a:t>Production </a:t>
                </a:r>
              </a:p>
              <a:p>
                <a:r>
                  <a:rPr lang="en-US" altLang="en-US" sz="800" dirty="0">
                    <a:solidFill>
                      <a:srgbClr val="1D1D1A"/>
                    </a:solidFill>
                    <a:latin typeface="Microsoft YaHei" panose="020B0503020204020204" pitchFamily="34" charset="-122"/>
                    <a:ea typeface="Microsoft YaHei" panose="020B0503020204020204" pitchFamily="34" charset="-122"/>
                  </a:rPr>
                  <a:t>in the park</a:t>
                </a:r>
              </a:p>
            </p:txBody>
          </p:sp>
        </p:grpSp>
        <p:grpSp>
          <p:nvGrpSpPr>
            <p:cNvPr id="33" name="组合 32">
              <a:extLst>
                <a:ext uri="{FF2B5EF4-FFF2-40B4-BE49-F238E27FC236}">
                  <a16:creationId xmlns:a16="http://schemas.microsoft.com/office/drawing/2014/main" id="{92C6546F-B636-4FC6-A525-20CBEC25A8CD}"/>
                </a:ext>
              </a:extLst>
            </p:cNvPr>
            <p:cNvGrpSpPr/>
            <p:nvPr/>
          </p:nvGrpSpPr>
          <p:grpSpPr>
            <a:xfrm>
              <a:off x="324230" y="3199889"/>
              <a:ext cx="2493797" cy="623080"/>
              <a:chOff x="2041471" y="1616979"/>
              <a:chExt cx="2493797" cy="623080"/>
            </a:xfrm>
          </p:grpSpPr>
          <p:grpSp>
            <p:nvGrpSpPr>
              <p:cNvPr id="59" name="组合 58">
                <a:extLst>
                  <a:ext uri="{FF2B5EF4-FFF2-40B4-BE49-F238E27FC236}">
                    <a16:creationId xmlns:a16="http://schemas.microsoft.com/office/drawing/2014/main" id="{A190505E-A5CC-47B4-A011-DB1BC01B7E6A}"/>
                  </a:ext>
                </a:extLst>
              </p:cNvPr>
              <p:cNvGrpSpPr/>
              <p:nvPr/>
            </p:nvGrpSpPr>
            <p:grpSpPr>
              <a:xfrm>
                <a:off x="3511524" y="1616979"/>
                <a:ext cx="1023744" cy="623080"/>
                <a:chOff x="8740000" y="3888706"/>
                <a:chExt cx="1023744" cy="623080"/>
              </a:xfrm>
            </p:grpSpPr>
            <p:sp>
              <p:nvSpPr>
                <p:cNvPr id="61" name="圆角矩形 257">
                  <a:extLst>
                    <a:ext uri="{FF2B5EF4-FFF2-40B4-BE49-F238E27FC236}">
                      <a16:creationId xmlns:a16="http://schemas.microsoft.com/office/drawing/2014/main" id="{F4A52A21-B818-4940-8886-7784EC6D9CFE}"/>
                    </a:ext>
                  </a:extLst>
                </p:cNvPr>
                <p:cNvSpPr/>
                <p:nvPr/>
              </p:nvSpPr>
              <p:spPr>
                <a:xfrm>
                  <a:off x="8740000" y="3888706"/>
                  <a:ext cx="1023744" cy="62308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66666"/>
                    </a:solidFill>
                  </a:endParaRPr>
                </a:p>
              </p:txBody>
            </p:sp>
            <p:sp>
              <p:nvSpPr>
                <p:cNvPr id="62" name="computer-analysis_72193">
                  <a:extLst>
                    <a:ext uri="{FF2B5EF4-FFF2-40B4-BE49-F238E27FC236}">
                      <a16:creationId xmlns:a16="http://schemas.microsoft.com/office/drawing/2014/main" id="{16A3B42B-42FA-4BE6-9FD8-9FF2EB736ADD}"/>
                    </a:ext>
                  </a:extLst>
                </p:cNvPr>
                <p:cNvSpPr>
                  <a:spLocks noChangeAspect="1"/>
                </p:cNvSpPr>
                <p:nvPr/>
              </p:nvSpPr>
              <p:spPr bwMode="auto">
                <a:xfrm flipH="1">
                  <a:off x="8873954" y="4062333"/>
                  <a:ext cx="265379" cy="247575"/>
                </a:xfrm>
                <a:custGeom>
                  <a:avLst/>
                  <a:gdLst>
                    <a:gd name="connsiteX0" fmla="*/ 434980 w 606835"/>
                    <a:gd name="connsiteY0" fmla="*/ 376342 h 606057"/>
                    <a:gd name="connsiteX1" fmla="*/ 402688 w 606835"/>
                    <a:gd name="connsiteY1" fmla="*/ 408565 h 606057"/>
                    <a:gd name="connsiteX2" fmla="*/ 434980 w 606835"/>
                    <a:gd name="connsiteY2" fmla="*/ 440788 h 606057"/>
                    <a:gd name="connsiteX3" fmla="*/ 467272 w 606835"/>
                    <a:gd name="connsiteY3" fmla="*/ 408565 h 606057"/>
                    <a:gd name="connsiteX4" fmla="*/ 434980 w 606835"/>
                    <a:gd name="connsiteY4" fmla="*/ 376342 h 606057"/>
                    <a:gd name="connsiteX5" fmla="*/ 434980 w 606835"/>
                    <a:gd name="connsiteY5" fmla="*/ 354591 h 606057"/>
                    <a:gd name="connsiteX6" fmla="*/ 489069 w 606835"/>
                    <a:gd name="connsiteY6" fmla="*/ 408565 h 606057"/>
                    <a:gd name="connsiteX7" fmla="*/ 434980 w 606835"/>
                    <a:gd name="connsiteY7" fmla="*/ 461733 h 606057"/>
                    <a:gd name="connsiteX8" fmla="*/ 380891 w 606835"/>
                    <a:gd name="connsiteY8" fmla="*/ 408565 h 606057"/>
                    <a:gd name="connsiteX9" fmla="*/ 434980 w 606835"/>
                    <a:gd name="connsiteY9" fmla="*/ 354591 h 606057"/>
                    <a:gd name="connsiteX10" fmla="*/ 430946 w 606835"/>
                    <a:gd name="connsiteY10" fmla="*/ 290072 h 606057"/>
                    <a:gd name="connsiteX11" fmla="*/ 429332 w 606835"/>
                    <a:gd name="connsiteY11" fmla="*/ 301357 h 606057"/>
                    <a:gd name="connsiteX12" fmla="*/ 387373 w 606835"/>
                    <a:gd name="connsiteY12" fmla="*/ 336019 h 606057"/>
                    <a:gd name="connsiteX13" fmla="*/ 363165 w 606835"/>
                    <a:gd name="connsiteY13" fmla="*/ 328764 h 606057"/>
                    <a:gd name="connsiteX14" fmla="*/ 353483 w 606835"/>
                    <a:gd name="connsiteY14" fmla="*/ 322315 h 606057"/>
                    <a:gd name="connsiteX15" fmla="*/ 345413 w 606835"/>
                    <a:gd name="connsiteY15" fmla="*/ 330376 h 606057"/>
                    <a:gd name="connsiteX16" fmla="*/ 349448 w 606835"/>
                    <a:gd name="connsiteY16" fmla="*/ 336019 h 606057"/>
                    <a:gd name="connsiteX17" fmla="*/ 355096 w 606835"/>
                    <a:gd name="connsiteY17" fmla="*/ 377129 h 606057"/>
                    <a:gd name="connsiteX18" fmla="*/ 323627 w 606835"/>
                    <a:gd name="connsiteY18" fmla="*/ 403729 h 606057"/>
                    <a:gd name="connsiteX19" fmla="*/ 316365 w 606835"/>
                    <a:gd name="connsiteY19" fmla="*/ 404535 h 606057"/>
                    <a:gd name="connsiteX20" fmla="*/ 316365 w 606835"/>
                    <a:gd name="connsiteY20" fmla="*/ 416627 h 606057"/>
                    <a:gd name="connsiteX21" fmla="*/ 323627 w 606835"/>
                    <a:gd name="connsiteY21" fmla="*/ 417433 h 606057"/>
                    <a:gd name="connsiteX22" fmla="*/ 356710 w 606835"/>
                    <a:gd name="connsiteY22" fmla="*/ 442421 h 606057"/>
                    <a:gd name="connsiteX23" fmla="*/ 352676 w 606835"/>
                    <a:gd name="connsiteY23" fmla="*/ 483531 h 606057"/>
                    <a:gd name="connsiteX24" fmla="*/ 348641 w 606835"/>
                    <a:gd name="connsiteY24" fmla="*/ 489174 h 606057"/>
                    <a:gd name="connsiteX25" fmla="*/ 356710 w 606835"/>
                    <a:gd name="connsiteY25" fmla="*/ 497234 h 606057"/>
                    <a:gd name="connsiteX26" fmla="*/ 363165 w 606835"/>
                    <a:gd name="connsiteY26" fmla="*/ 493204 h 606057"/>
                    <a:gd name="connsiteX27" fmla="*/ 388180 w 606835"/>
                    <a:gd name="connsiteY27" fmla="*/ 485143 h 606057"/>
                    <a:gd name="connsiteX28" fmla="*/ 430139 w 606835"/>
                    <a:gd name="connsiteY28" fmla="*/ 519805 h 606057"/>
                    <a:gd name="connsiteX29" fmla="*/ 430946 w 606835"/>
                    <a:gd name="connsiteY29" fmla="*/ 526253 h 606057"/>
                    <a:gd name="connsiteX30" fmla="*/ 443050 w 606835"/>
                    <a:gd name="connsiteY30" fmla="*/ 526253 h 606057"/>
                    <a:gd name="connsiteX31" fmla="*/ 443050 w 606835"/>
                    <a:gd name="connsiteY31" fmla="*/ 523835 h 606057"/>
                    <a:gd name="connsiteX32" fmla="*/ 485816 w 606835"/>
                    <a:gd name="connsiteY32" fmla="*/ 487561 h 606057"/>
                    <a:gd name="connsiteX33" fmla="*/ 510830 w 606835"/>
                    <a:gd name="connsiteY33" fmla="*/ 496428 h 606057"/>
                    <a:gd name="connsiteX34" fmla="*/ 512444 w 606835"/>
                    <a:gd name="connsiteY34" fmla="*/ 498040 h 606057"/>
                    <a:gd name="connsiteX35" fmla="*/ 521320 w 606835"/>
                    <a:gd name="connsiteY35" fmla="*/ 489174 h 606057"/>
                    <a:gd name="connsiteX36" fmla="*/ 517285 w 606835"/>
                    <a:gd name="connsiteY36" fmla="*/ 483531 h 606057"/>
                    <a:gd name="connsiteX37" fmla="*/ 513251 w 606835"/>
                    <a:gd name="connsiteY37" fmla="*/ 442421 h 606057"/>
                    <a:gd name="connsiteX38" fmla="*/ 546334 w 606835"/>
                    <a:gd name="connsiteY38" fmla="*/ 417433 h 606057"/>
                    <a:gd name="connsiteX39" fmla="*/ 553596 w 606835"/>
                    <a:gd name="connsiteY39" fmla="*/ 416627 h 606057"/>
                    <a:gd name="connsiteX40" fmla="*/ 553596 w 606835"/>
                    <a:gd name="connsiteY40" fmla="*/ 404535 h 606057"/>
                    <a:gd name="connsiteX41" fmla="*/ 546334 w 606835"/>
                    <a:gd name="connsiteY41" fmla="*/ 403729 h 606057"/>
                    <a:gd name="connsiteX42" fmla="*/ 514865 w 606835"/>
                    <a:gd name="connsiteY42" fmla="*/ 377129 h 606057"/>
                    <a:gd name="connsiteX43" fmla="*/ 519706 w 606835"/>
                    <a:gd name="connsiteY43" fmla="*/ 336019 h 606057"/>
                    <a:gd name="connsiteX44" fmla="*/ 524548 w 606835"/>
                    <a:gd name="connsiteY44" fmla="*/ 330376 h 606057"/>
                    <a:gd name="connsiteX45" fmla="*/ 515672 w 606835"/>
                    <a:gd name="connsiteY45" fmla="*/ 322315 h 606057"/>
                    <a:gd name="connsiteX46" fmla="*/ 510023 w 606835"/>
                    <a:gd name="connsiteY46" fmla="*/ 326346 h 606057"/>
                    <a:gd name="connsiteX47" fmla="*/ 486623 w 606835"/>
                    <a:gd name="connsiteY47" fmla="*/ 333601 h 606057"/>
                    <a:gd name="connsiteX48" fmla="*/ 443857 w 606835"/>
                    <a:gd name="connsiteY48" fmla="*/ 297327 h 606057"/>
                    <a:gd name="connsiteX49" fmla="*/ 443050 w 606835"/>
                    <a:gd name="connsiteY49" fmla="*/ 290072 h 606057"/>
                    <a:gd name="connsiteX50" fmla="*/ 66187 w 606835"/>
                    <a:gd name="connsiteY50" fmla="*/ 269992 h 606057"/>
                    <a:gd name="connsiteX51" fmla="*/ 336584 w 606835"/>
                    <a:gd name="connsiteY51" fmla="*/ 540778 h 606057"/>
                    <a:gd name="connsiteX52" fmla="*/ 270397 w 606835"/>
                    <a:gd name="connsiteY52" fmla="*/ 606057 h 606057"/>
                    <a:gd name="connsiteX53" fmla="*/ 0 w 606835"/>
                    <a:gd name="connsiteY53" fmla="*/ 335271 h 606057"/>
                    <a:gd name="connsiteX54" fmla="*/ 422070 w 606835"/>
                    <a:gd name="connsiteY54" fmla="*/ 268308 h 606057"/>
                    <a:gd name="connsiteX55" fmla="*/ 451926 w 606835"/>
                    <a:gd name="connsiteY55" fmla="*/ 268308 h 606057"/>
                    <a:gd name="connsiteX56" fmla="*/ 463222 w 606835"/>
                    <a:gd name="connsiteY56" fmla="*/ 277981 h 606057"/>
                    <a:gd name="connsiteX57" fmla="*/ 465643 w 606835"/>
                    <a:gd name="connsiteY57" fmla="*/ 294103 h 606057"/>
                    <a:gd name="connsiteX58" fmla="*/ 486623 w 606835"/>
                    <a:gd name="connsiteY58" fmla="*/ 311836 h 606057"/>
                    <a:gd name="connsiteX59" fmla="*/ 497920 w 606835"/>
                    <a:gd name="connsiteY59" fmla="*/ 308612 h 606057"/>
                    <a:gd name="connsiteX60" fmla="*/ 511637 w 606835"/>
                    <a:gd name="connsiteY60" fmla="*/ 299745 h 606057"/>
                    <a:gd name="connsiteX61" fmla="*/ 525354 w 606835"/>
                    <a:gd name="connsiteY61" fmla="*/ 300551 h 606057"/>
                    <a:gd name="connsiteX62" fmla="*/ 546334 w 606835"/>
                    <a:gd name="connsiteY62" fmla="*/ 321509 h 606057"/>
                    <a:gd name="connsiteX63" fmla="*/ 547141 w 606835"/>
                    <a:gd name="connsiteY63" fmla="*/ 336019 h 606057"/>
                    <a:gd name="connsiteX64" fmla="*/ 537458 w 606835"/>
                    <a:gd name="connsiteY64" fmla="*/ 348916 h 606057"/>
                    <a:gd name="connsiteX65" fmla="*/ 535037 w 606835"/>
                    <a:gd name="connsiteY65" fmla="*/ 369068 h 606057"/>
                    <a:gd name="connsiteX66" fmla="*/ 550369 w 606835"/>
                    <a:gd name="connsiteY66" fmla="*/ 381965 h 606057"/>
                    <a:gd name="connsiteX67" fmla="*/ 565700 w 606835"/>
                    <a:gd name="connsiteY67" fmla="*/ 385190 h 606057"/>
                    <a:gd name="connsiteX68" fmla="*/ 574576 w 606835"/>
                    <a:gd name="connsiteY68" fmla="*/ 395669 h 606057"/>
                    <a:gd name="connsiteX69" fmla="*/ 574576 w 606835"/>
                    <a:gd name="connsiteY69" fmla="*/ 425493 h 606057"/>
                    <a:gd name="connsiteX70" fmla="*/ 565700 w 606835"/>
                    <a:gd name="connsiteY70" fmla="*/ 435972 h 606057"/>
                    <a:gd name="connsiteX71" fmla="*/ 549562 w 606835"/>
                    <a:gd name="connsiteY71" fmla="*/ 438391 h 606057"/>
                    <a:gd name="connsiteX72" fmla="*/ 533424 w 606835"/>
                    <a:gd name="connsiteY72" fmla="*/ 451288 h 606057"/>
                    <a:gd name="connsiteX73" fmla="*/ 535037 w 606835"/>
                    <a:gd name="connsiteY73" fmla="*/ 471440 h 606057"/>
                    <a:gd name="connsiteX74" fmla="*/ 543913 w 606835"/>
                    <a:gd name="connsiteY74" fmla="*/ 484337 h 606057"/>
                    <a:gd name="connsiteX75" fmla="*/ 542300 w 606835"/>
                    <a:gd name="connsiteY75" fmla="*/ 498040 h 606057"/>
                    <a:gd name="connsiteX76" fmla="*/ 521320 w 606835"/>
                    <a:gd name="connsiteY76" fmla="*/ 518998 h 606057"/>
                    <a:gd name="connsiteX77" fmla="*/ 507602 w 606835"/>
                    <a:gd name="connsiteY77" fmla="*/ 520611 h 606057"/>
                    <a:gd name="connsiteX78" fmla="*/ 497920 w 606835"/>
                    <a:gd name="connsiteY78" fmla="*/ 513356 h 606057"/>
                    <a:gd name="connsiteX79" fmla="*/ 485816 w 606835"/>
                    <a:gd name="connsiteY79" fmla="*/ 509326 h 606057"/>
                    <a:gd name="connsiteX80" fmla="*/ 464836 w 606835"/>
                    <a:gd name="connsiteY80" fmla="*/ 527059 h 606057"/>
                    <a:gd name="connsiteX81" fmla="*/ 463222 w 606835"/>
                    <a:gd name="connsiteY81" fmla="*/ 539150 h 606057"/>
                    <a:gd name="connsiteX82" fmla="*/ 451926 w 606835"/>
                    <a:gd name="connsiteY82" fmla="*/ 548017 h 606057"/>
                    <a:gd name="connsiteX83" fmla="*/ 422070 w 606835"/>
                    <a:gd name="connsiteY83" fmla="*/ 548017 h 606057"/>
                    <a:gd name="connsiteX84" fmla="*/ 411580 w 606835"/>
                    <a:gd name="connsiteY84" fmla="*/ 539150 h 606057"/>
                    <a:gd name="connsiteX85" fmla="*/ 409159 w 606835"/>
                    <a:gd name="connsiteY85" fmla="*/ 523835 h 606057"/>
                    <a:gd name="connsiteX86" fmla="*/ 388180 w 606835"/>
                    <a:gd name="connsiteY86" fmla="*/ 506907 h 606057"/>
                    <a:gd name="connsiteX87" fmla="*/ 375269 w 606835"/>
                    <a:gd name="connsiteY87" fmla="*/ 510938 h 606057"/>
                    <a:gd name="connsiteX88" fmla="*/ 362359 w 606835"/>
                    <a:gd name="connsiteY88" fmla="*/ 520611 h 606057"/>
                    <a:gd name="connsiteX89" fmla="*/ 348641 w 606835"/>
                    <a:gd name="connsiteY89" fmla="*/ 518998 h 606057"/>
                    <a:gd name="connsiteX90" fmla="*/ 326855 w 606835"/>
                    <a:gd name="connsiteY90" fmla="*/ 498040 h 606057"/>
                    <a:gd name="connsiteX91" fmla="*/ 326048 w 606835"/>
                    <a:gd name="connsiteY91" fmla="*/ 484337 h 606057"/>
                    <a:gd name="connsiteX92" fmla="*/ 334924 w 606835"/>
                    <a:gd name="connsiteY92" fmla="*/ 471440 h 606057"/>
                    <a:gd name="connsiteX93" fmla="*/ 336537 w 606835"/>
                    <a:gd name="connsiteY93" fmla="*/ 451288 h 606057"/>
                    <a:gd name="connsiteX94" fmla="*/ 320399 w 606835"/>
                    <a:gd name="connsiteY94" fmla="*/ 438391 h 606057"/>
                    <a:gd name="connsiteX95" fmla="*/ 304261 w 606835"/>
                    <a:gd name="connsiteY95" fmla="*/ 435972 h 606057"/>
                    <a:gd name="connsiteX96" fmla="*/ 295385 w 606835"/>
                    <a:gd name="connsiteY96" fmla="*/ 425493 h 606057"/>
                    <a:gd name="connsiteX97" fmla="*/ 295385 w 606835"/>
                    <a:gd name="connsiteY97" fmla="*/ 395669 h 606057"/>
                    <a:gd name="connsiteX98" fmla="*/ 303454 w 606835"/>
                    <a:gd name="connsiteY98" fmla="*/ 385190 h 606057"/>
                    <a:gd name="connsiteX99" fmla="*/ 319592 w 606835"/>
                    <a:gd name="connsiteY99" fmla="*/ 381965 h 606057"/>
                    <a:gd name="connsiteX100" fmla="*/ 334924 w 606835"/>
                    <a:gd name="connsiteY100" fmla="*/ 369068 h 606057"/>
                    <a:gd name="connsiteX101" fmla="*/ 332503 w 606835"/>
                    <a:gd name="connsiteY101" fmla="*/ 348916 h 606057"/>
                    <a:gd name="connsiteX102" fmla="*/ 322820 w 606835"/>
                    <a:gd name="connsiteY102" fmla="*/ 336019 h 606057"/>
                    <a:gd name="connsiteX103" fmla="*/ 323627 w 606835"/>
                    <a:gd name="connsiteY103" fmla="*/ 321509 h 606057"/>
                    <a:gd name="connsiteX104" fmla="*/ 344607 w 606835"/>
                    <a:gd name="connsiteY104" fmla="*/ 300551 h 606057"/>
                    <a:gd name="connsiteX105" fmla="*/ 358324 w 606835"/>
                    <a:gd name="connsiteY105" fmla="*/ 299745 h 606057"/>
                    <a:gd name="connsiteX106" fmla="*/ 375269 w 606835"/>
                    <a:gd name="connsiteY106" fmla="*/ 311030 h 606057"/>
                    <a:gd name="connsiteX107" fmla="*/ 387373 w 606835"/>
                    <a:gd name="connsiteY107" fmla="*/ 314255 h 606057"/>
                    <a:gd name="connsiteX108" fmla="*/ 408352 w 606835"/>
                    <a:gd name="connsiteY108" fmla="*/ 297327 h 606057"/>
                    <a:gd name="connsiteX109" fmla="*/ 411580 w 606835"/>
                    <a:gd name="connsiteY109" fmla="*/ 277175 h 606057"/>
                    <a:gd name="connsiteX110" fmla="*/ 422070 w 606835"/>
                    <a:gd name="connsiteY110" fmla="*/ 268308 h 606057"/>
                    <a:gd name="connsiteX111" fmla="*/ 456745 w 606835"/>
                    <a:gd name="connsiteY111" fmla="*/ 96699 h 606057"/>
                    <a:gd name="connsiteX112" fmla="*/ 413977 w 606835"/>
                    <a:gd name="connsiteY112" fmla="*/ 138602 h 606057"/>
                    <a:gd name="connsiteX113" fmla="*/ 456745 w 606835"/>
                    <a:gd name="connsiteY113" fmla="*/ 181311 h 606057"/>
                    <a:gd name="connsiteX114" fmla="*/ 498706 w 606835"/>
                    <a:gd name="connsiteY114" fmla="*/ 138602 h 606057"/>
                    <a:gd name="connsiteX115" fmla="*/ 456745 w 606835"/>
                    <a:gd name="connsiteY115" fmla="*/ 96699 h 606057"/>
                    <a:gd name="connsiteX116" fmla="*/ 336512 w 606835"/>
                    <a:gd name="connsiteY116" fmla="*/ 0 h 606057"/>
                    <a:gd name="connsiteX117" fmla="*/ 487409 w 606835"/>
                    <a:gd name="connsiteY117" fmla="*/ 0 h 606057"/>
                    <a:gd name="connsiteX118" fmla="*/ 606835 w 606835"/>
                    <a:gd name="connsiteY118" fmla="*/ 119263 h 606057"/>
                    <a:gd name="connsiteX119" fmla="*/ 606835 w 606835"/>
                    <a:gd name="connsiteY119" fmla="*/ 270758 h 606057"/>
                    <a:gd name="connsiteX120" fmla="*/ 573751 w 606835"/>
                    <a:gd name="connsiteY120" fmla="*/ 303797 h 606057"/>
                    <a:gd name="connsiteX121" fmla="*/ 528562 w 606835"/>
                    <a:gd name="connsiteY121" fmla="*/ 259476 h 606057"/>
                    <a:gd name="connsiteX122" fmla="*/ 515651 w 606835"/>
                    <a:gd name="connsiteY122" fmla="*/ 257865 h 606057"/>
                    <a:gd name="connsiteX123" fmla="*/ 494671 w 606835"/>
                    <a:gd name="connsiteY123" fmla="*/ 271564 h 606057"/>
                    <a:gd name="connsiteX124" fmla="*/ 490636 w 606835"/>
                    <a:gd name="connsiteY124" fmla="*/ 245777 h 606057"/>
                    <a:gd name="connsiteX125" fmla="*/ 480146 w 606835"/>
                    <a:gd name="connsiteY125" fmla="*/ 236107 h 606057"/>
                    <a:gd name="connsiteX126" fmla="*/ 395418 w 606835"/>
                    <a:gd name="connsiteY126" fmla="*/ 236107 h 606057"/>
                    <a:gd name="connsiteX127" fmla="*/ 384928 w 606835"/>
                    <a:gd name="connsiteY127" fmla="*/ 244971 h 606057"/>
                    <a:gd name="connsiteX128" fmla="*/ 379279 w 606835"/>
                    <a:gd name="connsiteY128" fmla="*/ 274787 h 606057"/>
                    <a:gd name="connsiteX129" fmla="*/ 354264 w 606835"/>
                    <a:gd name="connsiteY129" fmla="*/ 257865 h 606057"/>
                    <a:gd name="connsiteX130" fmla="*/ 340546 w 606835"/>
                    <a:gd name="connsiteY130" fmla="*/ 259476 h 606057"/>
                    <a:gd name="connsiteX131" fmla="*/ 281640 w 606835"/>
                    <a:gd name="connsiteY131" fmla="*/ 318302 h 606057"/>
                    <a:gd name="connsiteX132" fmla="*/ 280026 w 606835"/>
                    <a:gd name="connsiteY132" fmla="*/ 332806 h 606057"/>
                    <a:gd name="connsiteX133" fmla="*/ 296165 w 606835"/>
                    <a:gd name="connsiteY133" fmla="*/ 353758 h 606057"/>
                    <a:gd name="connsiteX134" fmla="*/ 271150 w 606835"/>
                    <a:gd name="connsiteY134" fmla="*/ 358593 h 606057"/>
                    <a:gd name="connsiteX135" fmla="*/ 263080 w 606835"/>
                    <a:gd name="connsiteY135" fmla="*/ 369069 h 606057"/>
                    <a:gd name="connsiteX136" fmla="*/ 263080 w 606835"/>
                    <a:gd name="connsiteY136" fmla="*/ 435952 h 606057"/>
                    <a:gd name="connsiteX137" fmla="*/ 80713 w 606835"/>
                    <a:gd name="connsiteY137" fmla="*/ 254641 h 60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606835" h="606057">
                      <a:moveTo>
                        <a:pt x="434980" y="376342"/>
                      </a:moveTo>
                      <a:cubicBezTo>
                        <a:pt x="417219" y="376342"/>
                        <a:pt x="402688" y="390842"/>
                        <a:pt x="402688" y="408565"/>
                      </a:cubicBezTo>
                      <a:cubicBezTo>
                        <a:pt x="402688" y="426288"/>
                        <a:pt x="417219" y="440788"/>
                        <a:pt x="434980" y="440788"/>
                      </a:cubicBezTo>
                      <a:cubicBezTo>
                        <a:pt x="452741" y="440788"/>
                        <a:pt x="467272" y="426288"/>
                        <a:pt x="467272" y="408565"/>
                      </a:cubicBezTo>
                      <a:cubicBezTo>
                        <a:pt x="467272" y="390842"/>
                        <a:pt x="452741" y="376342"/>
                        <a:pt x="434980" y="376342"/>
                      </a:cubicBezTo>
                      <a:close/>
                      <a:moveTo>
                        <a:pt x="434980" y="354591"/>
                      </a:moveTo>
                      <a:cubicBezTo>
                        <a:pt x="464850" y="354591"/>
                        <a:pt x="489069" y="378759"/>
                        <a:pt x="489069" y="408565"/>
                      </a:cubicBezTo>
                      <a:cubicBezTo>
                        <a:pt x="489069" y="437566"/>
                        <a:pt x="464850" y="461733"/>
                        <a:pt x="434980" y="461733"/>
                      </a:cubicBezTo>
                      <a:cubicBezTo>
                        <a:pt x="405110" y="461733"/>
                        <a:pt x="380891" y="437566"/>
                        <a:pt x="380891" y="408565"/>
                      </a:cubicBezTo>
                      <a:cubicBezTo>
                        <a:pt x="380891" y="378759"/>
                        <a:pt x="405110" y="354591"/>
                        <a:pt x="434980" y="354591"/>
                      </a:cubicBezTo>
                      <a:close/>
                      <a:moveTo>
                        <a:pt x="430946" y="290072"/>
                      </a:moveTo>
                      <a:lnTo>
                        <a:pt x="429332" y="301357"/>
                      </a:lnTo>
                      <a:cubicBezTo>
                        <a:pt x="425298" y="321509"/>
                        <a:pt x="407546" y="336019"/>
                        <a:pt x="387373" y="336019"/>
                      </a:cubicBezTo>
                      <a:cubicBezTo>
                        <a:pt x="378497" y="336019"/>
                        <a:pt x="370428" y="333601"/>
                        <a:pt x="363165" y="328764"/>
                      </a:cubicBezTo>
                      <a:lnTo>
                        <a:pt x="353483" y="322315"/>
                      </a:lnTo>
                      <a:lnTo>
                        <a:pt x="345413" y="330376"/>
                      </a:lnTo>
                      <a:lnTo>
                        <a:pt x="349448" y="336019"/>
                      </a:lnTo>
                      <a:cubicBezTo>
                        <a:pt x="358324" y="348110"/>
                        <a:pt x="360745" y="363425"/>
                        <a:pt x="355096" y="377129"/>
                      </a:cubicBezTo>
                      <a:cubicBezTo>
                        <a:pt x="349448" y="390832"/>
                        <a:pt x="338151" y="400505"/>
                        <a:pt x="323627" y="403729"/>
                      </a:cubicBezTo>
                      <a:lnTo>
                        <a:pt x="316365" y="404535"/>
                      </a:lnTo>
                      <a:lnTo>
                        <a:pt x="316365" y="416627"/>
                      </a:lnTo>
                      <a:lnTo>
                        <a:pt x="323627" y="417433"/>
                      </a:lnTo>
                      <a:cubicBezTo>
                        <a:pt x="338151" y="419851"/>
                        <a:pt x="350255" y="429524"/>
                        <a:pt x="356710" y="442421"/>
                      </a:cubicBezTo>
                      <a:cubicBezTo>
                        <a:pt x="362359" y="456124"/>
                        <a:pt x="360745" y="471440"/>
                        <a:pt x="352676" y="483531"/>
                      </a:cubicBezTo>
                      <a:lnTo>
                        <a:pt x="348641" y="489174"/>
                      </a:lnTo>
                      <a:lnTo>
                        <a:pt x="356710" y="497234"/>
                      </a:lnTo>
                      <a:lnTo>
                        <a:pt x="363165" y="493204"/>
                      </a:lnTo>
                      <a:cubicBezTo>
                        <a:pt x="370428" y="487561"/>
                        <a:pt x="379304" y="485143"/>
                        <a:pt x="388180" y="485143"/>
                      </a:cubicBezTo>
                      <a:cubicBezTo>
                        <a:pt x="408352" y="485143"/>
                        <a:pt x="426104" y="499653"/>
                        <a:pt x="430139" y="519805"/>
                      </a:cubicBezTo>
                      <a:lnTo>
                        <a:pt x="430946" y="526253"/>
                      </a:lnTo>
                      <a:lnTo>
                        <a:pt x="443050" y="526253"/>
                      </a:lnTo>
                      <a:lnTo>
                        <a:pt x="443050" y="523835"/>
                      </a:lnTo>
                      <a:cubicBezTo>
                        <a:pt x="446277" y="502877"/>
                        <a:pt x="464029" y="487561"/>
                        <a:pt x="485816" y="487561"/>
                      </a:cubicBezTo>
                      <a:cubicBezTo>
                        <a:pt x="494692" y="487561"/>
                        <a:pt x="503568" y="490786"/>
                        <a:pt x="510830" y="496428"/>
                      </a:cubicBezTo>
                      <a:lnTo>
                        <a:pt x="512444" y="498040"/>
                      </a:lnTo>
                      <a:lnTo>
                        <a:pt x="521320" y="489174"/>
                      </a:lnTo>
                      <a:lnTo>
                        <a:pt x="517285" y="483531"/>
                      </a:lnTo>
                      <a:cubicBezTo>
                        <a:pt x="509216" y="471440"/>
                        <a:pt x="507602" y="456124"/>
                        <a:pt x="513251" y="442421"/>
                      </a:cubicBezTo>
                      <a:cubicBezTo>
                        <a:pt x="518899" y="429524"/>
                        <a:pt x="531810" y="419851"/>
                        <a:pt x="546334" y="417433"/>
                      </a:cubicBezTo>
                      <a:lnTo>
                        <a:pt x="553596" y="416627"/>
                      </a:lnTo>
                      <a:lnTo>
                        <a:pt x="553596" y="404535"/>
                      </a:lnTo>
                      <a:lnTo>
                        <a:pt x="546334" y="403729"/>
                      </a:lnTo>
                      <a:cubicBezTo>
                        <a:pt x="531810" y="400505"/>
                        <a:pt x="519706" y="390832"/>
                        <a:pt x="514865" y="377129"/>
                      </a:cubicBezTo>
                      <a:cubicBezTo>
                        <a:pt x="509216" y="363425"/>
                        <a:pt x="511637" y="348110"/>
                        <a:pt x="519706" y="336019"/>
                      </a:cubicBezTo>
                      <a:lnTo>
                        <a:pt x="524548" y="330376"/>
                      </a:lnTo>
                      <a:lnTo>
                        <a:pt x="515672" y="322315"/>
                      </a:lnTo>
                      <a:lnTo>
                        <a:pt x="510023" y="326346"/>
                      </a:lnTo>
                      <a:cubicBezTo>
                        <a:pt x="503568" y="331182"/>
                        <a:pt x="494692" y="333601"/>
                        <a:pt x="486623" y="333601"/>
                      </a:cubicBezTo>
                      <a:cubicBezTo>
                        <a:pt x="464836" y="333601"/>
                        <a:pt x="447084" y="318285"/>
                        <a:pt x="443857" y="297327"/>
                      </a:cubicBezTo>
                      <a:lnTo>
                        <a:pt x="443050" y="290072"/>
                      </a:lnTo>
                      <a:close/>
                      <a:moveTo>
                        <a:pt x="66187" y="269992"/>
                      </a:moveTo>
                      <a:lnTo>
                        <a:pt x="336584" y="540778"/>
                      </a:lnTo>
                      <a:lnTo>
                        <a:pt x="270397" y="606057"/>
                      </a:lnTo>
                      <a:lnTo>
                        <a:pt x="0" y="335271"/>
                      </a:lnTo>
                      <a:close/>
                      <a:moveTo>
                        <a:pt x="422070" y="268308"/>
                      </a:moveTo>
                      <a:lnTo>
                        <a:pt x="451926" y="268308"/>
                      </a:lnTo>
                      <a:cubicBezTo>
                        <a:pt x="457574" y="268308"/>
                        <a:pt x="462415" y="272339"/>
                        <a:pt x="463222" y="277981"/>
                      </a:cubicBezTo>
                      <a:lnTo>
                        <a:pt x="465643" y="294103"/>
                      </a:lnTo>
                      <a:cubicBezTo>
                        <a:pt x="467257" y="306194"/>
                        <a:pt x="476940" y="311836"/>
                        <a:pt x="486623" y="311836"/>
                      </a:cubicBezTo>
                      <a:cubicBezTo>
                        <a:pt x="490657" y="311836"/>
                        <a:pt x="494692" y="311030"/>
                        <a:pt x="497920" y="308612"/>
                      </a:cubicBezTo>
                      <a:lnTo>
                        <a:pt x="511637" y="299745"/>
                      </a:lnTo>
                      <a:cubicBezTo>
                        <a:pt x="515672" y="296521"/>
                        <a:pt x="521320" y="297327"/>
                        <a:pt x="525354" y="300551"/>
                      </a:cubicBezTo>
                      <a:lnTo>
                        <a:pt x="546334" y="321509"/>
                      </a:lnTo>
                      <a:cubicBezTo>
                        <a:pt x="549562" y="325540"/>
                        <a:pt x="550369" y="331182"/>
                        <a:pt x="547141" y="336019"/>
                      </a:cubicBezTo>
                      <a:lnTo>
                        <a:pt x="537458" y="348916"/>
                      </a:lnTo>
                      <a:cubicBezTo>
                        <a:pt x="532617" y="355365"/>
                        <a:pt x="531810" y="362619"/>
                        <a:pt x="535037" y="369068"/>
                      </a:cubicBezTo>
                      <a:cubicBezTo>
                        <a:pt x="537458" y="376323"/>
                        <a:pt x="543106" y="381159"/>
                        <a:pt x="550369" y="381965"/>
                      </a:cubicBezTo>
                      <a:lnTo>
                        <a:pt x="565700" y="385190"/>
                      </a:lnTo>
                      <a:cubicBezTo>
                        <a:pt x="571348" y="385996"/>
                        <a:pt x="574576" y="390832"/>
                        <a:pt x="574576" y="395669"/>
                      </a:cubicBezTo>
                      <a:lnTo>
                        <a:pt x="574576" y="425493"/>
                      </a:lnTo>
                      <a:cubicBezTo>
                        <a:pt x="574576" y="431136"/>
                        <a:pt x="570541" y="435166"/>
                        <a:pt x="565700" y="435972"/>
                      </a:cubicBezTo>
                      <a:lnTo>
                        <a:pt x="549562" y="438391"/>
                      </a:lnTo>
                      <a:cubicBezTo>
                        <a:pt x="542300" y="440003"/>
                        <a:pt x="535844" y="444839"/>
                        <a:pt x="533424" y="451288"/>
                      </a:cubicBezTo>
                      <a:cubicBezTo>
                        <a:pt x="530196" y="457737"/>
                        <a:pt x="531003" y="465797"/>
                        <a:pt x="535037" y="471440"/>
                      </a:cubicBezTo>
                      <a:lnTo>
                        <a:pt x="543913" y="484337"/>
                      </a:lnTo>
                      <a:cubicBezTo>
                        <a:pt x="547141" y="489174"/>
                        <a:pt x="546334" y="494816"/>
                        <a:pt x="542300" y="498040"/>
                      </a:cubicBezTo>
                      <a:lnTo>
                        <a:pt x="521320" y="518998"/>
                      </a:lnTo>
                      <a:cubicBezTo>
                        <a:pt x="518092" y="523029"/>
                        <a:pt x="511637" y="523835"/>
                        <a:pt x="507602" y="520611"/>
                      </a:cubicBezTo>
                      <a:lnTo>
                        <a:pt x="497920" y="513356"/>
                      </a:lnTo>
                      <a:cubicBezTo>
                        <a:pt x="494692" y="510938"/>
                        <a:pt x="489850" y="509326"/>
                        <a:pt x="485816" y="509326"/>
                      </a:cubicBezTo>
                      <a:cubicBezTo>
                        <a:pt x="476940" y="509326"/>
                        <a:pt x="466450" y="515774"/>
                        <a:pt x="464836" y="527059"/>
                      </a:cubicBezTo>
                      <a:lnTo>
                        <a:pt x="463222" y="539150"/>
                      </a:lnTo>
                      <a:cubicBezTo>
                        <a:pt x="462415" y="543987"/>
                        <a:pt x="457574" y="548017"/>
                        <a:pt x="451926" y="548017"/>
                      </a:cubicBezTo>
                      <a:lnTo>
                        <a:pt x="422070" y="548017"/>
                      </a:lnTo>
                      <a:cubicBezTo>
                        <a:pt x="417228" y="548017"/>
                        <a:pt x="413194" y="543987"/>
                        <a:pt x="411580" y="539150"/>
                      </a:cubicBezTo>
                      <a:lnTo>
                        <a:pt x="409159" y="523835"/>
                      </a:lnTo>
                      <a:cubicBezTo>
                        <a:pt x="406739" y="512550"/>
                        <a:pt x="397056" y="506907"/>
                        <a:pt x="388180" y="506907"/>
                      </a:cubicBezTo>
                      <a:cubicBezTo>
                        <a:pt x="383338" y="506907"/>
                        <a:pt x="379304" y="507713"/>
                        <a:pt x="375269" y="510938"/>
                      </a:cubicBezTo>
                      <a:lnTo>
                        <a:pt x="362359" y="520611"/>
                      </a:lnTo>
                      <a:cubicBezTo>
                        <a:pt x="358324" y="523835"/>
                        <a:pt x="351869" y="523029"/>
                        <a:pt x="348641" y="518998"/>
                      </a:cubicBezTo>
                      <a:lnTo>
                        <a:pt x="326855" y="498040"/>
                      </a:lnTo>
                      <a:cubicBezTo>
                        <a:pt x="323627" y="494816"/>
                        <a:pt x="322820" y="489174"/>
                        <a:pt x="326048" y="484337"/>
                      </a:cubicBezTo>
                      <a:lnTo>
                        <a:pt x="334924" y="471440"/>
                      </a:lnTo>
                      <a:cubicBezTo>
                        <a:pt x="338958" y="465797"/>
                        <a:pt x="339765" y="457737"/>
                        <a:pt x="336537" y="451288"/>
                      </a:cubicBezTo>
                      <a:cubicBezTo>
                        <a:pt x="333310" y="444839"/>
                        <a:pt x="327661" y="440003"/>
                        <a:pt x="320399" y="438391"/>
                      </a:cubicBezTo>
                      <a:lnTo>
                        <a:pt x="304261" y="435972"/>
                      </a:lnTo>
                      <a:cubicBezTo>
                        <a:pt x="298613" y="435166"/>
                        <a:pt x="295385" y="431136"/>
                        <a:pt x="295385" y="425493"/>
                      </a:cubicBezTo>
                      <a:lnTo>
                        <a:pt x="295385" y="395669"/>
                      </a:lnTo>
                      <a:cubicBezTo>
                        <a:pt x="295385" y="390832"/>
                        <a:pt x="298613" y="385996"/>
                        <a:pt x="303454" y="385190"/>
                      </a:cubicBezTo>
                      <a:lnTo>
                        <a:pt x="319592" y="381965"/>
                      </a:lnTo>
                      <a:cubicBezTo>
                        <a:pt x="326855" y="381159"/>
                        <a:pt x="332503" y="376323"/>
                        <a:pt x="334924" y="369068"/>
                      </a:cubicBezTo>
                      <a:cubicBezTo>
                        <a:pt x="337344" y="362619"/>
                        <a:pt x="336537" y="355365"/>
                        <a:pt x="332503" y="348916"/>
                      </a:cubicBezTo>
                      <a:lnTo>
                        <a:pt x="322820" y="336019"/>
                      </a:lnTo>
                      <a:cubicBezTo>
                        <a:pt x="319592" y="331182"/>
                        <a:pt x="319592" y="325540"/>
                        <a:pt x="323627" y="321509"/>
                      </a:cubicBezTo>
                      <a:lnTo>
                        <a:pt x="344607" y="300551"/>
                      </a:lnTo>
                      <a:cubicBezTo>
                        <a:pt x="348641" y="297327"/>
                        <a:pt x="354289" y="296521"/>
                        <a:pt x="358324" y="299745"/>
                      </a:cubicBezTo>
                      <a:lnTo>
                        <a:pt x="375269" y="311030"/>
                      </a:lnTo>
                      <a:cubicBezTo>
                        <a:pt x="378497" y="313449"/>
                        <a:pt x="383338" y="314255"/>
                        <a:pt x="387373" y="314255"/>
                      </a:cubicBezTo>
                      <a:cubicBezTo>
                        <a:pt x="396249" y="314255"/>
                        <a:pt x="405932" y="308612"/>
                        <a:pt x="408352" y="297327"/>
                      </a:cubicBezTo>
                      <a:lnTo>
                        <a:pt x="411580" y="277175"/>
                      </a:lnTo>
                      <a:cubicBezTo>
                        <a:pt x="413194" y="272339"/>
                        <a:pt x="417228" y="268308"/>
                        <a:pt x="422070" y="268308"/>
                      </a:cubicBezTo>
                      <a:close/>
                      <a:moveTo>
                        <a:pt x="456745" y="96699"/>
                      </a:moveTo>
                      <a:cubicBezTo>
                        <a:pt x="433344" y="96699"/>
                        <a:pt x="413977" y="116039"/>
                        <a:pt x="413977" y="138602"/>
                      </a:cubicBezTo>
                      <a:cubicBezTo>
                        <a:pt x="413977" y="161971"/>
                        <a:pt x="433344" y="181311"/>
                        <a:pt x="456745" y="181311"/>
                      </a:cubicBezTo>
                      <a:cubicBezTo>
                        <a:pt x="480146" y="181311"/>
                        <a:pt x="498706" y="161971"/>
                        <a:pt x="498706" y="138602"/>
                      </a:cubicBezTo>
                      <a:cubicBezTo>
                        <a:pt x="498706" y="116039"/>
                        <a:pt x="480146" y="96699"/>
                        <a:pt x="456745" y="96699"/>
                      </a:cubicBezTo>
                      <a:close/>
                      <a:moveTo>
                        <a:pt x="336512" y="0"/>
                      </a:moveTo>
                      <a:lnTo>
                        <a:pt x="487409" y="0"/>
                      </a:lnTo>
                      <a:lnTo>
                        <a:pt x="606835" y="119263"/>
                      </a:lnTo>
                      <a:lnTo>
                        <a:pt x="606835" y="270758"/>
                      </a:lnTo>
                      <a:lnTo>
                        <a:pt x="573751" y="303797"/>
                      </a:lnTo>
                      <a:lnTo>
                        <a:pt x="528562" y="259476"/>
                      </a:lnTo>
                      <a:cubicBezTo>
                        <a:pt x="525334" y="255447"/>
                        <a:pt x="519686" y="254641"/>
                        <a:pt x="515651" y="257865"/>
                      </a:cubicBezTo>
                      <a:lnTo>
                        <a:pt x="494671" y="271564"/>
                      </a:lnTo>
                      <a:lnTo>
                        <a:pt x="490636" y="245777"/>
                      </a:lnTo>
                      <a:cubicBezTo>
                        <a:pt x="489829" y="240136"/>
                        <a:pt x="484988" y="236107"/>
                        <a:pt x="480146" y="236107"/>
                      </a:cubicBezTo>
                      <a:lnTo>
                        <a:pt x="395418" y="236107"/>
                      </a:lnTo>
                      <a:cubicBezTo>
                        <a:pt x="390576" y="236107"/>
                        <a:pt x="386542" y="240136"/>
                        <a:pt x="384928" y="244971"/>
                      </a:cubicBezTo>
                      <a:lnTo>
                        <a:pt x="379279" y="274787"/>
                      </a:lnTo>
                      <a:lnTo>
                        <a:pt x="354264" y="257865"/>
                      </a:lnTo>
                      <a:cubicBezTo>
                        <a:pt x="350230" y="254641"/>
                        <a:pt x="344581" y="255447"/>
                        <a:pt x="340546" y="259476"/>
                      </a:cubicBezTo>
                      <a:lnTo>
                        <a:pt x="281640" y="318302"/>
                      </a:lnTo>
                      <a:cubicBezTo>
                        <a:pt x="277605" y="322331"/>
                        <a:pt x="276798" y="327972"/>
                        <a:pt x="280026" y="332806"/>
                      </a:cubicBezTo>
                      <a:lnTo>
                        <a:pt x="296165" y="353758"/>
                      </a:lnTo>
                      <a:lnTo>
                        <a:pt x="271150" y="358593"/>
                      </a:lnTo>
                      <a:cubicBezTo>
                        <a:pt x="266308" y="359399"/>
                        <a:pt x="263080" y="364234"/>
                        <a:pt x="263080" y="369069"/>
                      </a:cubicBezTo>
                      <a:lnTo>
                        <a:pt x="263080" y="435952"/>
                      </a:lnTo>
                      <a:lnTo>
                        <a:pt x="80713" y="254641"/>
                      </a:lnTo>
                      <a:close/>
                    </a:path>
                  </a:pathLst>
                </a:custGeom>
                <a:solidFill>
                  <a:schemeClr val="bg2">
                    <a:lumMod val="50000"/>
                  </a:schemeClr>
                </a:solidFill>
                <a:ln>
                  <a:no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solidFill>
                      <a:prstClr val="white"/>
                    </a:solidFill>
                    <a:sym typeface="Huawei Sans" panose="020C0503030203020204" pitchFamily="34" charset="0"/>
                  </a:endParaRPr>
                </a:p>
              </p:txBody>
            </p:sp>
            <p:sp>
              <p:nvSpPr>
                <p:cNvPr id="63" name="Freeform 5">
                  <a:extLst>
                    <a:ext uri="{FF2B5EF4-FFF2-40B4-BE49-F238E27FC236}">
                      <a16:creationId xmlns:a16="http://schemas.microsoft.com/office/drawing/2014/main" id="{BAC6C16B-E70E-432D-982A-7620B07B39E6}"/>
                    </a:ext>
                  </a:extLst>
                </p:cNvPr>
                <p:cNvSpPr>
                  <a:spLocks noEditPoints="1"/>
                </p:cNvSpPr>
                <p:nvPr/>
              </p:nvSpPr>
              <p:spPr bwMode="auto">
                <a:xfrm flipH="1">
                  <a:off x="9282963" y="4039255"/>
                  <a:ext cx="303518" cy="247487"/>
                </a:xfrm>
                <a:custGeom>
                  <a:avLst/>
                  <a:gdLst/>
                  <a:ahLst/>
                  <a:cxnLst>
                    <a:cxn ang="0">
                      <a:pos x="13474" y="5453"/>
                    </a:cxn>
                    <a:cxn ang="0">
                      <a:pos x="12317" y="4601"/>
                    </a:cxn>
                    <a:cxn ang="0">
                      <a:pos x="11412" y="4426"/>
                    </a:cxn>
                    <a:cxn ang="0">
                      <a:pos x="4848" y="9576"/>
                    </a:cxn>
                    <a:cxn ang="0">
                      <a:pos x="5783" y="10159"/>
                    </a:cxn>
                    <a:cxn ang="0">
                      <a:pos x="6029" y="10586"/>
                    </a:cxn>
                    <a:cxn ang="0">
                      <a:pos x="5871" y="11449"/>
                    </a:cxn>
                    <a:cxn ang="0">
                      <a:pos x="5269" y="11440"/>
                    </a:cxn>
                    <a:cxn ang="0">
                      <a:pos x="4824" y="10607"/>
                    </a:cxn>
                    <a:cxn ang="0">
                      <a:pos x="4838" y="9638"/>
                    </a:cxn>
                    <a:cxn ang="0">
                      <a:pos x="3536" y="8751"/>
                    </a:cxn>
                    <a:cxn ang="0">
                      <a:pos x="4283" y="9174"/>
                    </a:cxn>
                    <a:cxn ang="0">
                      <a:pos x="4127" y="9883"/>
                    </a:cxn>
                    <a:cxn ang="0">
                      <a:pos x="4481" y="11467"/>
                    </a:cxn>
                    <a:cxn ang="0">
                      <a:pos x="5571" y="12255"/>
                    </a:cxn>
                    <a:cxn ang="0">
                      <a:pos x="6393" y="11776"/>
                    </a:cxn>
                    <a:cxn ang="0">
                      <a:pos x="6623" y="11327"/>
                    </a:cxn>
                    <a:cxn ang="0">
                      <a:pos x="6593" y="10954"/>
                    </a:cxn>
                    <a:cxn ang="0">
                      <a:pos x="7001" y="12029"/>
                    </a:cxn>
                    <a:cxn ang="0">
                      <a:pos x="6605" y="13157"/>
                    </a:cxn>
                    <a:cxn ang="0">
                      <a:pos x="5384" y="13849"/>
                    </a:cxn>
                    <a:cxn ang="0">
                      <a:pos x="4005" y="13316"/>
                    </a:cxn>
                    <a:cxn ang="0">
                      <a:pos x="2966" y="11875"/>
                    </a:cxn>
                    <a:cxn ang="0">
                      <a:pos x="2611" y="10263"/>
                    </a:cxn>
                    <a:cxn ang="0">
                      <a:pos x="2657" y="9067"/>
                    </a:cxn>
                    <a:cxn ang="0">
                      <a:pos x="2906" y="8446"/>
                    </a:cxn>
                    <a:cxn ang="0">
                      <a:pos x="2108" y="8756"/>
                    </a:cxn>
                    <a:cxn ang="0">
                      <a:pos x="1951" y="10042"/>
                    </a:cxn>
                    <a:cxn ang="0">
                      <a:pos x="2244" y="11405"/>
                    </a:cxn>
                    <a:cxn ang="0">
                      <a:pos x="1800" y="11462"/>
                    </a:cxn>
                    <a:cxn ang="0">
                      <a:pos x="514" y="10430"/>
                    </a:cxn>
                    <a:cxn ang="0">
                      <a:pos x="0" y="8981"/>
                    </a:cxn>
                    <a:cxn ang="0">
                      <a:pos x="814" y="8147"/>
                    </a:cxn>
                    <a:cxn ang="0">
                      <a:pos x="2055" y="8130"/>
                    </a:cxn>
                    <a:cxn ang="0">
                      <a:pos x="13652" y="11178"/>
                    </a:cxn>
                    <a:cxn ang="0">
                      <a:pos x="13281" y="11893"/>
                    </a:cxn>
                    <a:cxn ang="0">
                      <a:pos x="12680" y="12371"/>
                    </a:cxn>
                    <a:cxn ang="0">
                      <a:pos x="11525" y="12547"/>
                    </a:cxn>
                    <a:cxn ang="0">
                      <a:pos x="11812" y="11849"/>
                    </a:cxn>
                    <a:cxn ang="0">
                      <a:pos x="7899" y="11652"/>
                    </a:cxn>
                    <a:cxn ang="0">
                      <a:pos x="8996" y="12019"/>
                    </a:cxn>
                    <a:cxn ang="0">
                      <a:pos x="10612" y="11876"/>
                    </a:cxn>
                    <a:cxn ang="0">
                      <a:pos x="10925" y="12290"/>
                    </a:cxn>
                    <a:cxn ang="0">
                      <a:pos x="10585" y="12853"/>
                    </a:cxn>
                    <a:cxn ang="0">
                      <a:pos x="9821" y="13182"/>
                    </a:cxn>
                    <a:cxn ang="0">
                      <a:pos x="6649" y="14004"/>
                    </a:cxn>
                    <a:cxn ang="0">
                      <a:pos x="7422" y="12934"/>
                    </a:cxn>
                    <a:cxn ang="0">
                      <a:pos x="7677" y="12066"/>
                    </a:cxn>
                    <a:cxn ang="0">
                      <a:pos x="14396" y="10218"/>
                    </a:cxn>
                    <a:cxn ang="0">
                      <a:pos x="14321" y="8192"/>
                    </a:cxn>
                    <a:cxn ang="0">
                      <a:pos x="12918" y="5928"/>
                    </a:cxn>
                    <a:cxn ang="0">
                      <a:pos x="11740" y="5209"/>
                    </a:cxn>
                    <a:cxn ang="0">
                      <a:pos x="10623" y="5077"/>
                    </a:cxn>
                    <a:cxn ang="0">
                      <a:pos x="9280" y="5224"/>
                    </a:cxn>
                    <a:cxn ang="0">
                      <a:pos x="1229" y="7366"/>
                    </a:cxn>
                    <a:cxn ang="0">
                      <a:pos x="2849" y="7799"/>
                    </a:cxn>
                    <a:cxn ang="0">
                      <a:pos x="5581" y="9338"/>
                    </a:cxn>
                    <a:cxn ang="0">
                      <a:pos x="7851" y="10919"/>
                    </a:cxn>
                    <a:cxn ang="0">
                      <a:pos x="9572" y="11341"/>
                    </a:cxn>
                    <a:cxn ang="0">
                      <a:pos x="10600" y="11241"/>
                    </a:cxn>
                    <a:cxn ang="0">
                      <a:pos x="13760" y="10423"/>
                    </a:cxn>
                  </a:cxnLst>
                  <a:rect l="0" t="0" r="r" b="b"/>
                  <a:pathLst>
                    <a:path w="16170" h="14014">
                      <a:moveTo>
                        <a:pt x="11178" y="2724"/>
                      </a:moveTo>
                      <a:lnTo>
                        <a:pt x="14087" y="2724"/>
                      </a:lnTo>
                      <a:lnTo>
                        <a:pt x="14087" y="6276"/>
                      </a:lnTo>
                      <a:lnTo>
                        <a:pt x="14080" y="6265"/>
                      </a:lnTo>
                      <a:lnTo>
                        <a:pt x="14060" y="6231"/>
                      </a:lnTo>
                      <a:lnTo>
                        <a:pt x="14025" y="6177"/>
                      </a:lnTo>
                      <a:lnTo>
                        <a:pt x="13979" y="6106"/>
                      </a:lnTo>
                      <a:lnTo>
                        <a:pt x="13920" y="6022"/>
                      </a:lnTo>
                      <a:lnTo>
                        <a:pt x="13852" y="5923"/>
                      </a:lnTo>
                      <a:lnTo>
                        <a:pt x="13812" y="5870"/>
                      </a:lnTo>
                      <a:lnTo>
                        <a:pt x="13771" y="5815"/>
                      </a:lnTo>
                      <a:lnTo>
                        <a:pt x="13727" y="5758"/>
                      </a:lnTo>
                      <a:lnTo>
                        <a:pt x="13682" y="5698"/>
                      </a:lnTo>
                      <a:lnTo>
                        <a:pt x="13632" y="5639"/>
                      </a:lnTo>
                      <a:lnTo>
                        <a:pt x="13582" y="5577"/>
                      </a:lnTo>
                      <a:lnTo>
                        <a:pt x="13529" y="5515"/>
                      </a:lnTo>
                      <a:lnTo>
                        <a:pt x="13474" y="5453"/>
                      </a:lnTo>
                      <a:lnTo>
                        <a:pt x="13417" y="5390"/>
                      </a:lnTo>
                      <a:lnTo>
                        <a:pt x="13357" y="5328"/>
                      </a:lnTo>
                      <a:lnTo>
                        <a:pt x="13297" y="5266"/>
                      </a:lnTo>
                      <a:lnTo>
                        <a:pt x="13234" y="5204"/>
                      </a:lnTo>
                      <a:lnTo>
                        <a:pt x="13169" y="5145"/>
                      </a:lnTo>
                      <a:lnTo>
                        <a:pt x="13104" y="5085"/>
                      </a:lnTo>
                      <a:lnTo>
                        <a:pt x="13036" y="5029"/>
                      </a:lnTo>
                      <a:lnTo>
                        <a:pt x="12967" y="4973"/>
                      </a:lnTo>
                      <a:lnTo>
                        <a:pt x="12897" y="4919"/>
                      </a:lnTo>
                      <a:lnTo>
                        <a:pt x="12825" y="4869"/>
                      </a:lnTo>
                      <a:lnTo>
                        <a:pt x="12752" y="4822"/>
                      </a:lnTo>
                      <a:lnTo>
                        <a:pt x="12678" y="4776"/>
                      </a:lnTo>
                      <a:lnTo>
                        <a:pt x="12604" y="4735"/>
                      </a:lnTo>
                      <a:lnTo>
                        <a:pt x="12531" y="4697"/>
                      </a:lnTo>
                      <a:lnTo>
                        <a:pt x="12458" y="4662"/>
                      </a:lnTo>
                      <a:lnTo>
                        <a:pt x="12387" y="4630"/>
                      </a:lnTo>
                      <a:lnTo>
                        <a:pt x="12317" y="4601"/>
                      </a:lnTo>
                      <a:lnTo>
                        <a:pt x="12250" y="4575"/>
                      </a:lnTo>
                      <a:lnTo>
                        <a:pt x="12182" y="4551"/>
                      </a:lnTo>
                      <a:lnTo>
                        <a:pt x="12117" y="4530"/>
                      </a:lnTo>
                      <a:lnTo>
                        <a:pt x="12054" y="4511"/>
                      </a:lnTo>
                      <a:lnTo>
                        <a:pt x="11991" y="4495"/>
                      </a:lnTo>
                      <a:lnTo>
                        <a:pt x="11930" y="4480"/>
                      </a:lnTo>
                      <a:lnTo>
                        <a:pt x="11873" y="4468"/>
                      </a:lnTo>
                      <a:lnTo>
                        <a:pt x="11816" y="4458"/>
                      </a:lnTo>
                      <a:lnTo>
                        <a:pt x="11762" y="4449"/>
                      </a:lnTo>
                      <a:lnTo>
                        <a:pt x="11709" y="4442"/>
                      </a:lnTo>
                      <a:lnTo>
                        <a:pt x="11660" y="4436"/>
                      </a:lnTo>
                      <a:lnTo>
                        <a:pt x="11612" y="4432"/>
                      </a:lnTo>
                      <a:lnTo>
                        <a:pt x="11567" y="4429"/>
                      </a:lnTo>
                      <a:lnTo>
                        <a:pt x="11524" y="4427"/>
                      </a:lnTo>
                      <a:lnTo>
                        <a:pt x="11484" y="4425"/>
                      </a:lnTo>
                      <a:lnTo>
                        <a:pt x="11446" y="4425"/>
                      </a:lnTo>
                      <a:lnTo>
                        <a:pt x="11412" y="4426"/>
                      </a:lnTo>
                      <a:lnTo>
                        <a:pt x="11380" y="4427"/>
                      </a:lnTo>
                      <a:lnTo>
                        <a:pt x="11351" y="4428"/>
                      </a:lnTo>
                      <a:lnTo>
                        <a:pt x="11303" y="4432"/>
                      </a:lnTo>
                      <a:lnTo>
                        <a:pt x="11267" y="4435"/>
                      </a:lnTo>
                      <a:lnTo>
                        <a:pt x="11246" y="4439"/>
                      </a:lnTo>
                      <a:lnTo>
                        <a:pt x="11239" y="4440"/>
                      </a:lnTo>
                      <a:lnTo>
                        <a:pt x="11178" y="2724"/>
                      </a:lnTo>
                      <a:close/>
                      <a:moveTo>
                        <a:pt x="9156" y="0"/>
                      </a:moveTo>
                      <a:lnTo>
                        <a:pt x="16170" y="0"/>
                      </a:lnTo>
                      <a:lnTo>
                        <a:pt x="16170" y="1256"/>
                      </a:lnTo>
                      <a:lnTo>
                        <a:pt x="13383" y="1256"/>
                      </a:lnTo>
                      <a:lnTo>
                        <a:pt x="13383" y="2174"/>
                      </a:lnTo>
                      <a:lnTo>
                        <a:pt x="11820" y="2174"/>
                      </a:lnTo>
                      <a:lnTo>
                        <a:pt x="11820" y="1256"/>
                      </a:lnTo>
                      <a:lnTo>
                        <a:pt x="9156" y="1256"/>
                      </a:lnTo>
                      <a:lnTo>
                        <a:pt x="9156" y="0"/>
                      </a:lnTo>
                      <a:close/>
                      <a:moveTo>
                        <a:pt x="4848" y="9576"/>
                      </a:moveTo>
                      <a:lnTo>
                        <a:pt x="4855" y="9581"/>
                      </a:lnTo>
                      <a:lnTo>
                        <a:pt x="4877" y="9595"/>
                      </a:lnTo>
                      <a:lnTo>
                        <a:pt x="4912" y="9615"/>
                      </a:lnTo>
                      <a:lnTo>
                        <a:pt x="4958" y="9642"/>
                      </a:lnTo>
                      <a:lnTo>
                        <a:pt x="5013" y="9675"/>
                      </a:lnTo>
                      <a:lnTo>
                        <a:pt x="5075" y="9713"/>
                      </a:lnTo>
                      <a:lnTo>
                        <a:pt x="5143" y="9754"/>
                      </a:lnTo>
                      <a:lnTo>
                        <a:pt x="5216" y="9798"/>
                      </a:lnTo>
                      <a:lnTo>
                        <a:pt x="5291" y="9843"/>
                      </a:lnTo>
                      <a:lnTo>
                        <a:pt x="5366" y="9890"/>
                      </a:lnTo>
                      <a:lnTo>
                        <a:pt x="5441" y="9936"/>
                      </a:lnTo>
                      <a:lnTo>
                        <a:pt x="5514" y="9981"/>
                      </a:lnTo>
                      <a:lnTo>
                        <a:pt x="5583" y="10025"/>
                      </a:lnTo>
                      <a:lnTo>
                        <a:pt x="5644" y="10064"/>
                      </a:lnTo>
                      <a:lnTo>
                        <a:pt x="5699" y="10101"/>
                      </a:lnTo>
                      <a:lnTo>
                        <a:pt x="5744" y="10131"/>
                      </a:lnTo>
                      <a:lnTo>
                        <a:pt x="5783" y="10159"/>
                      </a:lnTo>
                      <a:lnTo>
                        <a:pt x="5817" y="10186"/>
                      </a:lnTo>
                      <a:lnTo>
                        <a:pt x="5849" y="10214"/>
                      </a:lnTo>
                      <a:lnTo>
                        <a:pt x="5878" y="10241"/>
                      </a:lnTo>
                      <a:lnTo>
                        <a:pt x="5903" y="10266"/>
                      </a:lnTo>
                      <a:lnTo>
                        <a:pt x="5926" y="10292"/>
                      </a:lnTo>
                      <a:lnTo>
                        <a:pt x="5946" y="10315"/>
                      </a:lnTo>
                      <a:lnTo>
                        <a:pt x="5963" y="10336"/>
                      </a:lnTo>
                      <a:lnTo>
                        <a:pt x="5978" y="10356"/>
                      </a:lnTo>
                      <a:lnTo>
                        <a:pt x="5990" y="10374"/>
                      </a:lnTo>
                      <a:lnTo>
                        <a:pt x="6000" y="10391"/>
                      </a:lnTo>
                      <a:lnTo>
                        <a:pt x="6008" y="10404"/>
                      </a:lnTo>
                      <a:lnTo>
                        <a:pt x="6018" y="10423"/>
                      </a:lnTo>
                      <a:lnTo>
                        <a:pt x="6021" y="10430"/>
                      </a:lnTo>
                      <a:lnTo>
                        <a:pt x="6022" y="10441"/>
                      </a:lnTo>
                      <a:lnTo>
                        <a:pt x="6024" y="10472"/>
                      </a:lnTo>
                      <a:lnTo>
                        <a:pt x="6027" y="10522"/>
                      </a:lnTo>
                      <a:lnTo>
                        <a:pt x="6029" y="10586"/>
                      </a:lnTo>
                      <a:lnTo>
                        <a:pt x="6029" y="10662"/>
                      </a:lnTo>
                      <a:lnTo>
                        <a:pt x="6028" y="10749"/>
                      </a:lnTo>
                      <a:lnTo>
                        <a:pt x="6026" y="10796"/>
                      </a:lnTo>
                      <a:lnTo>
                        <a:pt x="6024" y="10843"/>
                      </a:lnTo>
                      <a:lnTo>
                        <a:pt x="6021" y="10893"/>
                      </a:lnTo>
                      <a:lnTo>
                        <a:pt x="6016" y="10942"/>
                      </a:lnTo>
                      <a:lnTo>
                        <a:pt x="6011" y="10992"/>
                      </a:lnTo>
                      <a:lnTo>
                        <a:pt x="6004" y="11042"/>
                      </a:lnTo>
                      <a:lnTo>
                        <a:pt x="5996" y="11093"/>
                      </a:lnTo>
                      <a:lnTo>
                        <a:pt x="5986" y="11142"/>
                      </a:lnTo>
                      <a:lnTo>
                        <a:pt x="5975" y="11192"/>
                      </a:lnTo>
                      <a:lnTo>
                        <a:pt x="5963" y="11239"/>
                      </a:lnTo>
                      <a:lnTo>
                        <a:pt x="5948" y="11286"/>
                      </a:lnTo>
                      <a:lnTo>
                        <a:pt x="5931" y="11330"/>
                      </a:lnTo>
                      <a:lnTo>
                        <a:pt x="5913" y="11372"/>
                      </a:lnTo>
                      <a:lnTo>
                        <a:pt x="5893" y="11412"/>
                      </a:lnTo>
                      <a:lnTo>
                        <a:pt x="5871" y="11449"/>
                      </a:lnTo>
                      <a:lnTo>
                        <a:pt x="5846" y="11484"/>
                      </a:lnTo>
                      <a:lnTo>
                        <a:pt x="5819" y="11514"/>
                      </a:lnTo>
                      <a:lnTo>
                        <a:pt x="5790" y="11541"/>
                      </a:lnTo>
                      <a:lnTo>
                        <a:pt x="5758" y="11563"/>
                      </a:lnTo>
                      <a:lnTo>
                        <a:pt x="5723" y="11582"/>
                      </a:lnTo>
                      <a:lnTo>
                        <a:pt x="5687" y="11596"/>
                      </a:lnTo>
                      <a:lnTo>
                        <a:pt x="5649" y="11603"/>
                      </a:lnTo>
                      <a:lnTo>
                        <a:pt x="5612" y="11606"/>
                      </a:lnTo>
                      <a:lnTo>
                        <a:pt x="5574" y="11604"/>
                      </a:lnTo>
                      <a:lnTo>
                        <a:pt x="5535" y="11598"/>
                      </a:lnTo>
                      <a:lnTo>
                        <a:pt x="5497" y="11587"/>
                      </a:lnTo>
                      <a:lnTo>
                        <a:pt x="5458" y="11571"/>
                      </a:lnTo>
                      <a:lnTo>
                        <a:pt x="5420" y="11552"/>
                      </a:lnTo>
                      <a:lnTo>
                        <a:pt x="5382" y="11529"/>
                      </a:lnTo>
                      <a:lnTo>
                        <a:pt x="5344" y="11503"/>
                      </a:lnTo>
                      <a:lnTo>
                        <a:pt x="5306" y="11473"/>
                      </a:lnTo>
                      <a:lnTo>
                        <a:pt x="5269" y="11440"/>
                      </a:lnTo>
                      <a:lnTo>
                        <a:pt x="5233" y="11404"/>
                      </a:lnTo>
                      <a:lnTo>
                        <a:pt x="5197" y="11365"/>
                      </a:lnTo>
                      <a:lnTo>
                        <a:pt x="5162" y="11324"/>
                      </a:lnTo>
                      <a:lnTo>
                        <a:pt x="5128" y="11280"/>
                      </a:lnTo>
                      <a:lnTo>
                        <a:pt x="5095" y="11235"/>
                      </a:lnTo>
                      <a:lnTo>
                        <a:pt x="5063" y="11188"/>
                      </a:lnTo>
                      <a:lnTo>
                        <a:pt x="5033" y="11139"/>
                      </a:lnTo>
                      <a:lnTo>
                        <a:pt x="5004" y="11089"/>
                      </a:lnTo>
                      <a:lnTo>
                        <a:pt x="4975" y="11037"/>
                      </a:lnTo>
                      <a:lnTo>
                        <a:pt x="4950" y="10985"/>
                      </a:lnTo>
                      <a:lnTo>
                        <a:pt x="4926" y="10931"/>
                      </a:lnTo>
                      <a:lnTo>
                        <a:pt x="4904" y="10876"/>
                      </a:lnTo>
                      <a:lnTo>
                        <a:pt x="4883" y="10823"/>
                      </a:lnTo>
                      <a:lnTo>
                        <a:pt x="4865" y="10768"/>
                      </a:lnTo>
                      <a:lnTo>
                        <a:pt x="4849" y="10714"/>
                      </a:lnTo>
                      <a:lnTo>
                        <a:pt x="4835" y="10660"/>
                      </a:lnTo>
                      <a:lnTo>
                        <a:pt x="4824" y="10607"/>
                      </a:lnTo>
                      <a:lnTo>
                        <a:pt x="4815" y="10553"/>
                      </a:lnTo>
                      <a:lnTo>
                        <a:pt x="4809" y="10502"/>
                      </a:lnTo>
                      <a:lnTo>
                        <a:pt x="4806" y="10451"/>
                      </a:lnTo>
                      <a:lnTo>
                        <a:pt x="4804" y="10402"/>
                      </a:lnTo>
                      <a:lnTo>
                        <a:pt x="4801" y="10353"/>
                      </a:lnTo>
                      <a:lnTo>
                        <a:pt x="4801" y="10307"/>
                      </a:lnTo>
                      <a:lnTo>
                        <a:pt x="4800" y="10260"/>
                      </a:lnTo>
                      <a:lnTo>
                        <a:pt x="4801" y="10172"/>
                      </a:lnTo>
                      <a:lnTo>
                        <a:pt x="4802" y="10090"/>
                      </a:lnTo>
                      <a:lnTo>
                        <a:pt x="4806" y="10012"/>
                      </a:lnTo>
                      <a:lnTo>
                        <a:pt x="4810" y="9940"/>
                      </a:lnTo>
                      <a:lnTo>
                        <a:pt x="4814" y="9874"/>
                      </a:lnTo>
                      <a:lnTo>
                        <a:pt x="4819" y="9814"/>
                      </a:lnTo>
                      <a:lnTo>
                        <a:pt x="4824" y="9760"/>
                      </a:lnTo>
                      <a:lnTo>
                        <a:pt x="4829" y="9713"/>
                      </a:lnTo>
                      <a:lnTo>
                        <a:pt x="4834" y="9672"/>
                      </a:lnTo>
                      <a:lnTo>
                        <a:pt x="4838" y="9638"/>
                      </a:lnTo>
                      <a:lnTo>
                        <a:pt x="4842" y="9612"/>
                      </a:lnTo>
                      <a:lnTo>
                        <a:pt x="4845" y="9593"/>
                      </a:lnTo>
                      <a:lnTo>
                        <a:pt x="4847" y="9580"/>
                      </a:lnTo>
                      <a:lnTo>
                        <a:pt x="4848" y="9576"/>
                      </a:lnTo>
                      <a:close/>
                      <a:moveTo>
                        <a:pt x="2906" y="8446"/>
                      </a:moveTo>
                      <a:lnTo>
                        <a:pt x="2912" y="8449"/>
                      </a:lnTo>
                      <a:lnTo>
                        <a:pt x="2930" y="8458"/>
                      </a:lnTo>
                      <a:lnTo>
                        <a:pt x="2959" y="8472"/>
                      </a:lnTo>
                      <a:lnTo>
                        <a:pt x="2999" y="8491"/>
                      </a:lnTo>
                      <a:lnTo>
                        <a:pt x="3046" y="8515"/>
                      </a:lnTo>
                      <a:lnTo>
                        <a:pt x="3102" y="8542"/>
                      </a:lnTo>
                      <a:lnTo>
                        <a:pt x="3163" y="8572"/>
                      </a:lnTo>
                      <a:lnTo>
                        <a:pt x="3231" y="8606"/>
                      </a:lnTo>
                      <a:lnTo>
                        <a:pt x="3303" y="8641"/>
                      </a:lnTo>
                      <a:lnTo>
                        <a:pt x="3379" y="8677"/>
                      </a:lnTo>
                      <a:lnTo>
                        <a:pt x="3456" y="8714"/>
                      </a:lnTo>
                      <a:lnTo>
                        <a:pt x="3536" y="8751"/>
                      </a:lnTo>
                      <a:lnTo>
                        <a:pt x="3615" y="8789"/>
                      </a:lnTo>
                      <a:lnTo>
                        <a:pt x="3694" y="8826"/>
                      </a:lnTo>
                      <a:lnTo>
                        <a:pt x="3771" y="8860"/>
                      </a:lnTo>
                      <a:lnTo>
                        <a:pt x="3844" y="8893"/>
                      </a:lnTo>
                      <a:lnTo>
                        <a:pt x="3880" y="8910"/>
                      </a:lnTo>
                      <a:lnTo>
                        <a:pt x="3913" y="8926"/>
                      </a:lnTo>
                      <a:lnTo>
                        <a:pt x="3944" y="8941"/>
                      </a:lnTo>
                      <a:lnTo>
                        <a:pt x="3975" y="8956"/>
                      </a:lnTo>
                      <a:lnTo>
                        <a:pt x="4030" y="8986"/>
                      </a:lnTo>
                      <a:lnTo>
                        <a:pt x="4080" y="9016"/>
                      </a:lnTo>
                      <a:lnTo>
                        <a:pt x="4123" y="9044"/>
                      </a:lnTo>
                      <a:lnTo>
                        <a:pt x="4162" y="9070"/>
                      </a:lnTo>
                      <a:lnTo>
                        <a:pt x="4195" y="9095"/>
                      </a:lnTo>
                      <a:lnTo>
                        <a:pt x="4223" y="9118"/>
                      </a:lnTo>
                      <a:lnTo>
                        <a:pt x="4248" y="9139"/>
                      </a:lnTo>
                      <a:lnTo>
                        <a:pt x="4267" y="9157"/>
                      </a:lnTo>
                      <a:lnTo>
                        <a:pt x="4283" y="9174"/>
                      </a:lnTo>
                      <a:lnTo>
                        <a:pt x="4295" y="9187"/>
                      </a:lnTo>
                      <a:lnTo>
                        <a:pt x="4309" y="9207"/>
                      </a:lnTo>
                      <a:lnTo>
                        <a:pt x="4314" y="9214"/>
                      </a:lnTo>
                      <a:lnTo>
                        <a:pt x="4308" y="9226"/>
                      </a:lnTo>
                      <a:lnTo>
                        <a:pt x="4292" y="9261"/>
                      </a:lnTo>
                      <a:lnTo>
                        <a:pt x="4281" y="9288"/>
                      </a:lnTo>
                      <a:lnTo>
                        <a:pt x="4269" y="9320"/>
                      </a:lnTo>
                      <a:lnTo>
                        <a:pt x="4256" y="9356"/>
                      </a:lnTo>
                      <a:lnTo>
                        <a:pt x="4241" y="9398"/>
                      </a:lnTo>
                      <a:lnTo>
                        <a:pt x="4225" y="9444"/>
                      </a:lnTo>
                      <a:lnTo>
                        <a:pt x="4210" y="9495"/>
                      </a:lnTo>
                      <a:lnTo>
                        <a:pt x="4194" y="9549"/>
                      </a:lnTo>
                      <a:lnTo>
                        <a:pt x="4179" y="9609"/>
                      </a:lnTo>
                      <a:lnTo>
                        <a:pt x="4165" y="9672"/>
                      </a:lnTo>
                      <a:lnTo>
                        <a:pt x="4151" y="9739"/>
                      </a:lnTo>
                      <a:lnTo>
                        <a:pt x="4139" y="9810"/>
                      </a:lnTo>
                      <a:lnTo>
                        <a:pt x="4127" y="9883"/>
                      </a:lnTo>
                      <a:lnTo>
                        <a:pt x="4118" y="9960"/>
                      </a:lnTo>
                      <a:lnTo>
                        <a:pt x="4111" y="10040"/>
                      </a:lnTo>
                      <a:lnTo>
                        <a:pt x="4107" y="10123"/>
                      </a:lnTo>
                      <a:lnTo>
                        <a:pt x="4106" y="10209"/>
                      </a:lnTo>
                      <a:lnTo>
                        <a:pt x="4107" y="10297"/>
                      </a:lnTo>
                      <a:lnTo>
                        <a:pt x="4112" y="10387"/>
                      </a:lnTo>
                      <a:lnTo>
                        <a:pt x="4121" y="10478"/>
                      </a:lnTo>
                      <a:lnTo>
                        <a:pt x="4134" y="10572"/>
                      </a:lnTo>
                      <a:lnTo>
                        <a:pt x="4152" y="10668"/>
                      </a:lnTo>
                      <a:lnTo>
                        <a:pt x="4173" y="10765"/>
                      </a:lnTo>
                      <a:lnTo>
                        <a:pt x="4200" y="10864"/>
                      </a:lnTo>
                      <a:lnTo>
                        <a:pt x="4232" y="10963"/>
                      </a:lnTo>
                      <a:lnTo>
                        <a:pt x="4270" y="11064"/>
                      </a:lnTo>
                      <a:lnTo>
                        <a:pt x="4314" y="11165"/>
                      </a:lnTo>
                      <a:lnTo>
                        <a:pt x="4364" y="11266"/>
                      </a:lnTo>
                      <a:lnTo>
                        <a:pt x="4420" y="11368"/>
                      </a:lnTo>
                      <a:lnTo>
                        <a:pt x="4481" y="11467"/>
                      </a:lnTo>
                      <a:lnTo>
                        <a:pt x="4544" y="11559"/>
                      </a:lnTo>
                      <a:lnTo>
                        <a:pt x="4605" y="11645"/>
                      </a:lnTo>
                      <a:lnTo>
                        <a:pt x="4669" y="11724"/>
                      </a:lnTo>
                      <a:lnTo>
                        <a:pt x="4734" y="11798"/>
                      </a:lnTo>
                      <a:lnTo>
                        <a:pt x="4798" y="11864"/>
                      </a:lnTo>
                      <a:lnTo>
                        <a:pt x="4864" y="11926"/>
                      </a:lnTo>
                      <a:lnTo>
                        <a:pt x="4930" y="11982"/>
                      </a:lnTo>
                      <a:lnTo>
                        <a:pt x="4996" y="12031"/>
                      </a:lnTo>
                      <a:lnTo>
                        <a:pt x="5061" y="12075"/>
                      </a:lnTo>
                      <a:lnTo>
                        <a:pt x="5127" y="12115"/>
                      </a:lnTo>
                      <a:lnTo>
                        <a:pt x="5192" y="12149"/>
                      </a:lnTo>
                      <a:lnTo>
                        <a:pt x="5256" y="12179"/>
                      </a:lnTo>
                      <a:lnTo>
                        <a:pt x="5321" y="12203"/>
                      </a:lnTo>
                      <a:lnTo>
                        <a:pt x="5385" y="12223"/>
                      </a:lnTo>
                      <a:lnTo>
                        <a:pt x="5448" y="12238"/>
                      </a:lnTo>
                      <a:lnTo>
                        <a:pt x="5510" y="12249"/>
                      </a:lnTo>
                      <a:lnTo>
                        <a:pt x="5571" y="12255"/>
                      </a:lnTo>
                      <a:lnTo>
                        <a:pt x="5630" y="12258"/>
                      </a:lnTo>
                      <a:lnTo>
                        <a:pt x="5689" y="12256"/>
                      </a:lnTo>
                      <a:lnTo>
                        <a:pt x="5746" y="12251"/>
                      </a:lnTo>
                      <a:lnTo>
                        <a:pt x="5801" y="12242"/>
                      </a:lnTo>
                      <a:lnTo>
                        <a:pt x="5855" y="12230"/>
                      </a:lnTo>
                      <a:lnTo>
                        <a:pt x="5907" y="12215"/>
                      </a:lnTo>
                      <a:lnTo>
                        <a:pt x="5957" y="12196"/>
                      </a:lnTo>
                      <a:lnTo>
                        <a:pt x="6004" y="12173"/>
                      </a:lnTo>
                      <a:lnTo>
                        <a:pt x="6049" y="12149"/>
                      </a:lnTo>
                      <a:lnTo>
                        <a:pt x="6091" y="12122"/>
                      </a:lnTo>
                      <a:lnTo>
                        <a:pt x="6131" y="12092"/>
                      </a:lnTo>
                      <a:lnTo>
                        <a:pt x="6169" y="12059"/>
                      </a:lnTo>
                      <a:lnTo>
                        <a:pt x="6203" y="12024"/>
                      </a:lnTo>
                      <a:lnTo>
                        <a:pt x="6236" y="11988"/>
                      </a:lnTo>
                      <a:lnTo>
                        <a:pt x="6292" y="11913"/>
                      </a:lnTo>
                      <a:lnTo>
                        <a:pt x="6346" y="11843"/>
                      </a:lnTo>
                      <a:lnTo>
                        <a:pt x="6393" y="11776"/>
                      </a:lnTo>
                      <a:lnTo>
                        <a:pt x="6437" y="11714"/>
                      </a:lnTo>
                      <a:lnTo>
                        <a:pt x="6456" y="11684"/>
                      </a:lnTo>
                      <a:lnTo>
                        <a:pt x="6475" y="11654"/>
                      </a:lnTo>
                      <a:lnTo>
                        <a:pt x="6492" y="11626"/>
                      </a:lnTo>
                      <a:lnTo>
                        <a:pt x="6508" y="11599"/>
                      </a:lnTo>
                      <a:lnTo>
                        <a:pt x="6524" y="11572"/>
                      </a:lnTo>
                      <a:lnTo>
                        <a:pt x="6538" y="11546"/>
                      </a:lnTo>
                      <a:lnTo>
                        <a:pt x="6551" y="11521"/>
                      </a:lnTo>
                      <a:lnTo>
                        <a:pt x="6563" y="11497"/>
                      </a:lnTo>
                      <a:lnTo>
                        <a:pt x="6574" y="11473"/>
                      </a:lnTo>
                      <a:lnTo>
                        <a:pt x="6584" y="11450"/>
                      </a:lnTo>
                      <a:lnTo>
                        <a:pt x="6593" y="11428"/>
                      </a:lnTo>
                      <a:lnTo>
                        <a:pt x="6600" y="11407"/>
                      </a:lnTo>
                      <a:lnTo>
                        <a:pt x="6607" y="11386"/>
                      </a:lnTo>
                      <a:lnTo>
                        <a:pt x="6614" y="11365"/>
                      </a:lnTo>
                      <a:lnTo>
                        <a:pt x="6619" y="11346"/>
                      </a:lnTo>
                      <a:lnTo>
                        <a:pt x="6623" y="11327"/>
                      </a:lnTo>
                      <a:lnTo>
                        <a:pt x="6625" y="11309"/>
                      </a:lnTo>
                      <a:lnTo>
                        <a:pt x="6627" y="11292"/>
                      </a:lnTo>
                      <a:lnTo>
                        <a:pt x="6628" y="11274"/>
                      </a:lnTo>
                      <a:lnTo>
                        <a:pt x="6629" y="11258"/>
                      </a:lnTo>
                      <a:lnTo>
                        <a:pt x="6628" y="11242"/>
                      </a:lnTo>
                      <a:lnTo>
                        <a:pt x="6626" y="11227"/>
                      </a:lnTo>
                      <a:lnTo>
                        <a:pt x="6623" y="11212"/>
                      </a:lnTo>
                      <a:lnTo>
                        <a:pt x="6620" y="11198"/>
                      </a:lnTo>
                      <a:lnTo>
                        <a:pt x="6613" y="11170"/>
                      </a:lnTo>
                      <a:lnTo>
                        <a:pt x="6606" y="11142"/>
                      </a:lnTo>
                      <a:lnTo>
                        <a:pt x="6601" y="11115"/>
                      </a:lnTo>
                      <a:lnTo>
                        <a:pt x="6598" y="11089"/>
                      </a:lnTo>
                      <a:lnTo>
                        <a:pt x="6595" y="11062"/>
                      </a:lnTo>
                      <a:lnTo>
                        <a:pt x="6594" y="11038"/>
                      </a:lnTo>
                      <a:lnTo>
                        <a:pt x="6593" y="11015"/>
                      </a:lnTo>
                      <a:lnTo>
                        <a:pt x="6592" y="10993"/>
                      </a:lnTo>
                      <a:lnTo>
                        <a:pt x="6593" y="10954"/>
                      </a:lnTo>
                      <a:lnTo>
                        <a:pt x="6595" y="10925"/>
                      </a:lnTo>
                      <a:lnTo>
                        <a:pt x="6597" y="10906"/>
                      </a:lnTo>
                      <a:lnTo>
                        <a:pt x="6598" y="10899"/>
                      </a:lnTo>
                      <a:lnTo>
                        <a:pt x="7004" y="11176"/>
                      </a:lnTo>
                      <a:lnTo>
                        <a:pt x="7005" y="11190"/>
                      </a:lnTo>
                      <a:lnTo>
                        <a:pt x="7008" y="11226"/>
                      </a:lnTo>
                      <a:lnTo>
                        <a:pt x="7011" y="11286"/>
                      </a:lnTo>
                      <a:lnTo>
                        <a:pt x="7015" y="11363"/>
                      </a:lnTo>
                      <a:lnTo>
                        <a:pt x="7018" y="11457"/>
                      </a:lnTo>
                      <a:lnTo>
                        <a:pt x="7020" y="11567"/>
                      </a:lnTo>
                      <a:lnTo>
                        <a:pt x="7019" y="11626"/>
                      </a:lnTo>
                      <a:lnTo>
                        <a:pt x="7018" y="11689"/>
                      </a:lnTo>
                      <a:lnTo>
                        <a:pt x="7017" y="11753"/>
                      </a:lnTo>
                      <a:lnTo>
                        <a:pt x="7015" y="11819"/>
                      </a:lnTo>
                      <a:lnTo>
                        <a:pt x="7011" y="11888"/>
                      </a:lnTo>
                      <a:lnTo>
                        <a:pt x="7006" y="11957"/>
                      </a:lnTo>
                      <a:lnTo>
                        <a:pt x="7001" y="12029"/>
                      </a:lnTo>
                      <a:lnTo>
                        <a:pt x="6994" y="12101"/>
                      </a:lnTo>
                      <a:lnTo>
                        <a:pt x="6984" y="12173"/>
                      </a:lnTo>
                      <a:lnTo>
                        <a:pt x="6974" y="12246"/>
                      </a:lnTo>
                      <a:lnTo>
                        <a:pt x="6963" y="12319"/>
                      </a:lnTo>
                      <a:lnTo>
                        <a:pt x="6949" y="12392"/>
                      </a:lnTo>
                      <a:lnTo>
                        <a:pt x="6934" y="12463"/>
                      </a:lnTo>
                      <a:lnTo>
                        <a:pt x="6917" y="12535"/>
                      </a:lnTo>
                      <a:lnTo>
                        <a:pt x="6898" y="12605"/>
                      </a:lnTo>
                      <a:lnTo>
                        <a:pt x="6877" y="12674"/>
                      </a:lnTo>
                      <a:lnTo>
                        <a:pt x="6853" y="12740"/>
                      </a:lnTo>
                      <a:lnTo>
                        <a:pt x="6828" y="12805"/>
                      </a:lnTo>
                      <a:lnTo>
                        <a:pt x="6799" y="12866"/>
                      </a:lnTo>
                      <a:lnTo>
                        <a:pt x="6769" y="12926"/>
                      </a:lnTo>
                      <a:lnTo>
                        <a:pt x="6735" y="12985"/>
                      </a:lnTo>
                      <a:lnTo>
                        <a:pt x="6695" y="13042"/>
                      </a:lnTo>
                      <a:lnTo>
                        <a:pt x="6653" y="13100"/>
                      </a:lnTo>
                      <a:lnTo>
                        <a:pt x="6605" y="13157"/>
                      </a:lnTo>
                      <a:lnTo>
                        <a:pt x="6555" y="13215"/>
                      </a:lnTo>
                      <a:lnTo>
                        <a:pt x="6500" y="13271"/>
                      </a:lnTo>
                      <a:lnTo>
                        <a:pt x="6443" y="13325"/>
                      </a:lnTo>
                      <a:lnTo>
                        <a:pt x="6381" y="13379"/>
                      </a:lnTo>
                      <a:lnTo>
                        <a:pt x="6317" y="13431"/>
                      </a:lnTo>
                      <a:lnTo>
                        <a:pt x="6251" y="13481"/>
                      </a:lnTo>
                      <a:lnTo>
                        <a:pt x="6181" y="13529"/>
                      </a:lnTo>
                      <a:lnTo>
                        <a:pt x="6109" y="13575"/>
                      </a:lnTo>
                      <a:lnTo>
                        <a:pt x="6034" y="13618"/>
                      </a:lnTo>
                      <a:lnTo>
                        <a:pt x="5959" y="13659"/>
                      </a:lnTo>
                      <a:lnTo>
                        <a:pt x="5880" y="13697"/>
                      </a:lnTo>
                      <a:lnTo>
                        <a:pt x="5800" y="13731"/>
                      </a:lnTo>
                      <a:lnTo>
                        <a:pt x="5719" y="13762"/>
                      </a:lnTo>
                      <a:lnTo>
                        <a:pt x="5636" y="13791"/>
                      </a:lnTo>
                      <a:lnTo>
                        <a:pt x="5552" y="13814"/>
                      </a:lnTo>
                      <a:lnTo>
                        <a:pt x="5468" y="13834"/>
                      </a:lnTo>
                      <a:lnTo>
                        <a:pt x="5384" y="13849"/>
                      </a:lnTo>
                      <a:lnTo>
                        <a:pt x="5299" y="13860"/>
                      </a:lnTo>
                      <a:lnTo>
                        <a:pt x="5213" y="13867"/>
                      </a:lnTo>
                      <a:lnTo>
                        <a:pt x="5127" y="13869"/>
                      </a:lnTo>
                      <a:lnTo>
                        <a:pt x="5041" y="13864"/>
                      </a:lnTo>
                      <a:lnTo>
                        <a:pt x="4956" y="13855"/>
                      </a:lnTo>
                      <a:lnTo>
                        <a:pt x="4871" y="13840"/>
                      </a:lnTo>
                      <a:lnTo>
                        <a:pt x="4787" y="13819"/>
                      </a:lnTo>
                      <a:lnTo>
                        <a:pt x="4704" y="13793"/>
                      </a:lnTo>
                      <a:lnTo>
                        <a:pt x="4623" y="13759"/>
                      </a:lnTo>
                      <a:lnTo>
                        <a:pt x="4543" y="13719"/>
                      </a:lnTo>
                      <a:lnTo>
                        <a:pt x="4464" y="13673"/>
                      </a:lnTo>
                      <a:lnTo>
                        <a:pt x="4386" y="13621"/>
                      </a:lnTo>
                      <a:lnTo>
                        <a:pt x="4308" y="13566"/>
                      </a:lnTo>
                      <a:lnTo>
                        <a:pt x="4231" y="13508"/>
                      </a:lnTo>
                      <a:lnTo>
                        <a:pt x="4156" y="13447"/>
                      </a:lnTo>
                      <a:lnTo>
                        <a:pt x="4080" y="13383"/>
                      </a:lnTo>
                      <a:lnTo>
                        <a:pt x="4005" y="13316"/>
                      </a:lnTo>
                      <a:lnTo>
                        <a:pt x="3932" y="13247"/>
                      </a:lnTo>
                      <a:lnTo>
                        <a:pt x="3860" y="13175"/>
                      </a:lnTo>
                      <a:lnTo>
                        <a:pt x="3788" y="13101"/>
                      </a:lnTo>
                      <a:lnTo>
                        <a:pt x="3718" y="13024"/>
                      </a:lnTo>
                      <a:lnTo>
                        <a:pt x="3649" y="12945"/>
                      </a:lnTo>
                      <a:lnTo>
                        <a:pt x="3582" y="12864"/>
                      </a:lnTo>
                      <a:lnTo>
                        <a:pt x="3516" y="12782"/>
                      </a:lnTo>
                      <a:lnTo>
                        <a:pt x="3452" y="12698"/>
                      </a:lnTo>
                      <a:lnTo>
                        <a:pt x="3390" y="12611"/>
                      </a:lnTo>
                      <a:lnTo>
                        <a:pt x="3330" y="12523"/>
                      </a:lnTo>
                      <a:lnTo>
                        <a:pt x="3271" y="12434"/>
                      </a:lnTo>
                      <a:lnTo>
                        <a:pt x="3215" y="12343"/>
                      </a:lnTo>
                      <a:lnTo>
                        <a:pt x="3160" y="12252"/>
                      </a:lnTo>
                      <a:lnTo>
                        <a:pt x="3108" y="12159"/>
                      </a:lnTo>
                      <a:lnTo>
                        <a:pt x="3058" y="12065"/>
                      </a:lnTo>
                      <a:lnTo>
                        <a:pt x="3011" y="11970"/>
                      </a:lnTo>
                      <a:lnTo>
                        <a:pt x="2966" y="11875"/>
                      </a:lnTo>
                      <a:lnTo>
                        <a:pt x="2924" y="11780"/>
                      </a:lnTo>
                      <a:lnTo>
                        <a:pt x="2884" y="11684"/>
                      </a:lnTo>
                      <a:lnTo>
                        <a:pt x="2848" y="11587"/>
                      </a:lnTo>
                      <a:lnTo>
                        <a:pt x="2814" y="11490"/>
                      </a:lnTo>
                      <a:lnTo>
                        <a:pt x="2783" y="11393"/>
                      </a:lnTo>
                      <a:lnTo>
                        <a:pt x="2755" y="11296"/>
                      </a:lnTo>
                      <a:lnTo>
                        <a:pt x="2731" y="11199"/>
                      </a:lnTo>
                      <a:lnTo>
                        <a:pt x="2709" y="11102"/>
                      </a:lnTo>
                      <a:lnTo>
                        <a:pt x="2692" y="11006"/>
                      </a:lnTo>
                      <a:lnTo>
                        <a:pt x="2677" y="10910"/>
                      </a:lnTo>
                      <a:lnTo>
                        <a:pt x="2663" y="10815"/>
                      </a:lnTo>
                      <a:lnTo>
                        <a:pt x="2651" y="10721"/>
                      </a:lnTo>
                      <a:lnTo>
                        <a:pt x="2641" y="10627"/>
                      </a:lnTo>
                      <a:lnTo>
                        <a:pt x="2631" y="10535"/>
                      </a:lnTo>
                      <a:lnTo>
                        <a:pt x="2624" y="10443"/>
                      </a:lnTo>
                      <a:lnTo>
                        <a:pt x="2617" y="10353"/>
                      </a:lnTo>
                      <a:lnTo>
                        <a:pt x="2611" y="10263"/>
                      </a:lnTo>
                      <a:lnTo>
                        <a:pt x="2607" y="10176"/>
                      </a:lnTo>
                      <a:lnTo>
                        <a:pt x="2604" y="10091"/>
                      </a:lnTo>
                      <a:lnTo>
                        <a:pt x="2602" y="10006"/>
                      </a:lnTo>
                      <a:lnTo>
                        <a:pt x="2601" y="9924"/>
                      </a:lnTo>
                      <a:lnTo>
                        <a:pt x="2601" y="9843"/>
                      </a:lnTo>
                      <a:lnTo>
                        <a:pt x="2602" y="9764"/>
                      </a:lnTo>
                      <a:lnTo>
                        <a:pt x="2604" y="9687"/>
                      </a:lnTo>
                      <a:lnTo>
                        <a:pt x="2606" y="9614"/>
                      </a:lnTo>
                      <a:lnTo>
                        <a:pt x="2609" y="9542"/>
                      </a:lnTo>
                      <a:lnTo>
                        <a:pt x="2613" y="9472"/>
                      </a:lnTo>
                      <a:lnTo>
                        <a:pt x="2619" y="9406"/>
                      </a:lnTo>
                      <a:lnTo>
                        <a:pt x="2624" y="9342"/>
                      </a:lnTo>
                      <a:lnTo>
                        <a:pt x="2630" y="9280"/>
                      </a:lnTo>
                      <a:lnTo>
                        <a:pt x="2636" y="9223"/>
                      </a:lnTo>
                      <a:lnTo>
                        <a:pt x="2643" y="9167"/>
                      </a:lnTo>
                      <a:lnTo>
                        <a:pt x="2650" y="9116"/>
                      </a:lnTo>
                      <a:lnTo>
                        <a:pt x="2657" y="9067"/>
                      </a:lnTo>
                      <a:lnTo>
                        <a:pt x="2665" y="9022"/>
                      </a:lnTo>
                      <a:lnTo>
                        <a:pt x="2673" y="8980"/>
                      </a:lnTo>
                      <a:lnTo>
                        <a:pt x="2681" y="8942"/>
                      </a:lnTo>
                      <a:lnTo>
                        <a:pt x="2689" y="8909"/>
                      </a:lnTo>
                      <a:lnTo>
                        <a:pt x="2697" y="8878"/>
                      </a:lnTo>
                      <a:lnTo>
                        <a:pt x="2705" y="8852"/>
                      </a:lnTo>
                      <a:lnTo>
                        <a:pt x="2714" y="8830"/>
                      </a:lnTo>
                      <a:lnTo>
                        <a:pt x="2730" y="8790"/>
                      </a:lnTo>
                      <a:lnTo>
                        <a:pt x="2746" y="8752"/>
                      </a:lnTo>
                      <a:lnTo>
                        <a:pt x="2763" y="8715"/>
                      </a:lnTo>
                      <a:lnTo>
                        <a:pt x="2779" y="8679"/>
                      </a:lnTo>
                      <a:lnTo>
                        <a:pt x="2812" y="8615"/>
                      </a:lnTo>
                      <a:lnTo>
                        <a:pt x="2842" y="8557"/>
                      </a:lnTo>
                      <a:lnTo>
                        <a:pt x="2867" y="8511"/>
                      </a:lnTo>
                      <a:lnTo>
                        <a:pt x="2887" y="8475"/>
                      </a:lnTo>
                      <a:lnTo>
                        <a:pt x="2900" y="8453"/>
                      </a:lnTo>
                      <a:lnTo>
                        <a:pt x="2906" y="8446"/>
                      </a:lnTo>
                      <a:close/>
                      <a:moveTo>
                        <a:pt x="2372" y="8211"/>
                      </a:moveTo>
                      <a:lnTo>
                        <a:pt x="2368" y="8217"/>
                      </a:lnTo>
                      <a:lnTo>
                        <a:pt x="2356" y="8233"/>
                      </a:lnTo>
                      <a:lnTo>
                        <a:pt x="2338" y="8260"/>
                      </a:lnTo>
                      <a:lnTo>
                        <a:pt x="2314" y="8298"/>
                      </a:lnTo>
                      <a:lnTo>
                        <a:pt x="2300" y="8322"/>
                      </a:lnTo>
                      <a:lnTo>
                        <a:pt x="2286" y="8348"/>
                      </a:lnTo>
                      <a:lnTo>
                        <a:pt x="2270" y="8376"/>
                      </a:lnTo>
                      <a:lnTo>
                        <a:pt x="2254" y="8408"/>
                      </a:lnTo>
                      <a:lnTo>
                        <a:pt x="2237" y="8442"/>
                      </a:lnTo>
                      <a:lnTo>
                        <a:pt x="2219" y="8478"/>
                      </a:lnTo>
                      <a:lnTo>
                        <a:pt x="2201" y="8519"/>
                      </a:lnTo>
                      <a:lnTo>
                        <a:pt x="2183" y="8560"/>
                      </a:lnTo>
                      <a:lnTo>
                        <a:pt x="2164" y="8606"/>
                      </a:lnTo>
                      <a:lnTo>
                        <a:pt x="2146" y="8653"/>
                      </a:lnTo>
                      <a:lnTo>
                        <a:pt x="2126" y="8703"/>
                      </a:lnTo>
                      <a:lnTo>
                        <a:pt x="2108" y="8756"/>
                      </a:lnTo>
                      <a:lnTo>
                        <a:pt x="2090" y="8812"/>
                      </a:lnTo>
                      <a:lnTo>
                        <a:pt x="2072" y="8869"/>
                      </a:lnTo>
                      <a:lnTo>
                        <a:pt x="2055" y="8931"/>
                      </a:lnTo>
                      <a:lnTo>
                        <a:pt x="2038" y="8993"/>
                      </a:lnTo>
                      <a:lnTo>
                        <a:pt x="2023" y="9060"/>
                      </a:lnTo>
                      <a:lnTo>
                        <a:pt x="2008" y="9129"/>
                      </a:lnTo>
                      <a:lnTo>
                        <a:pt x="1994" y="9201"/>
                      </a:lnTo>
                      <a:lnTo>
                        <a:pt x="1982" y="9274"/>
                      </a:lnTo>
                      <a:lnTo>
                        <a:pt x="1970" y="9352"/>
                      </a:lnTo>
                      <a:lnTo>
                        <a:pt x="1961" y="9431"/>
                      </a:lnTo>
                      <a:lnTo>
                        <a:pt x="1952" y="9513"/>
                      </a:lnTo>
                      <a:lnTo>
                        <a:pt x="1945" y="9598"/>
                      </a:lnTo>
                      <a:lnTo>
                        <a:pt x="1940" y="9684"/>
                      </a:lnTo>
                      <a:lnTo>
                        <a:pt x="1939" y="9772"/>
                      </a:lnTo>
                      <a:lnTo>
                        <a:pt x="1940" y="9862"/>
                      </a:lnTo>
                      <a:lnTo>
                        <a:pt x="1944" y="9952"/>
                      </a:lnTo>
                      <a:lnTo>
                        <a:pt x="1951" y="10042"/>
                      </a:lnTo>
                      <a:lnTo>
                        <a:pt x="1959" y="10133"/>
                      </a:lnTo>
                      <a:lnTo>
                        <a:pt x="1969" y="10224"/>
                      </a:lnTo>
                      <a:lnTo>
                        <a:pt x="1981" y="10315"/>
                      </a:lnTo>
                      <a:lnTo>
                        <a:pt x="1995" y="10405"/>
                      </a:lnTo>
                      <a:lnTo>
                        <a:pt x="2010" y="10495"/>
                      </a:lnTo>
                      <a:lnTo>
                        <a:pt x="2027" y="10582"/>
                      </a:lnTo>
                      <a:lnTo>
                        <a:pt x="2046" y="10669"/>
                      </a:lnTo>
                      <a:lnTo>
                        <a:pt x="2064" y="10754"/>
                      </a:lnTo>
                      <a:lnTo>
                        <a:pt x="2083" y="10838"/>
                      </a:lnTo>
                      <a:lnTo>
                        <a:pt x="2103" y="10919"/>
                      </a:lnTo>
                      <a:lnTo>
                        <a:pt x="2123" y="10998"/>
                      </a:lnTo>
                      <a:lnTo>
                        <a:pt x="2145" y="11074"/>
                      </a:lnTo>
                      <a:lnTo>
                        <a:pt x="2165" y="11147"/>
                      </a:lnTo>
                      <a:lnTo>
                        <a:pt x="2185" y="11217"/>
                      </a:lnTo>
                      <a:lnTo>
                        <a:pt x="2205" y="11284"/>
                      </a:lnTo>
                      <a:lnTo>
                        <a:pt x="2224" y="11346"/>
                      </a:lnTo>
                      <a:lnTo>
                        <a:pt x="2244" y="11405"/>
                      </a:lnTo>
                      <a:lnTo>
                        <a:pt x="2261" y="11459"/>
                      </a:lnTo>
                      <a:lnTo>
                        <a:pt x="2278" y="11509"/>
                      </a:lnTo>
                      <a:lnTo>
                        <a:pt x="2307" y="11594"/>
                      </a:lnTo>
                      <a:lnTo>
                        <a:pt x="2331" y="11656"/>
                      </a:lnTo>
                      <a:lnTo>
                        <a:pt x="2346" y="11697"/>
                      </a:lnTo>
                      <a:lnTo>
                        <a:pt x="2351" y="11710"/>
                      </a:lnTo>
                      <a:lnTo>
                        <a:pt x="2335" y="11704"/>
                      </a:lnTo>
                      <a:lnTo>
                        <a:pt x="2288" y="11686"/>
                      </a:lnTo>
                      <a:lnTo>
                        <a:pt x="2255" y="11672"/>
                      </a:lnTo>
                      <a:lnTo>
                        <a:pt x="2215" y="11656"/>
                      </a:lnTo>
                      <a:lnTo>
                        <a:pt x="2170" y="11637"/>
                      </a:lnTo>
                      <a:lnTo>
                        <a:pt x="2119" y="11615"/>
                      </a:lnTo>
                      <a:lnTo>
                        <a:pt x="2064" y="11591"/>
                      </a:lnTo>
                      <a:lnTo>
                        <a:pt x="2003" y="11562"/>
                      </a:lnTo>
                      <a:lnTo>
                        <a:pt x="1938" y="11532"/>
                      </a:lnTo>
                      <a:lnTo>
                        <a:pt x="1871" y="11499"/>
                      </a:lnTo>
                      <a:lnTo>
                        <a:pt x="1800" y="11462"/>
                      </a:lnTo>
                      <a:lnTo>
                        <a:pt x="1726" y="11423"/>
                      </a:lnTo>
                      <a:lnTo>
                        <a:pt x="1649" y="11382"/>
                      </a:lnTo>
                      <a:lnTo>
                        <a:pt x="1572" y="11336"/>
                      </a:lnTo>
                      <a:lnTo>
                        <a:pt x="1492" y="11290"/>
                      </a:lnTo>
                      <a:lnTo>
                        <a:pt x="1411" y="11239"/>
                      </a:lnTo>
                      <a:lnTo>
                        <a:pt x="1329" y="11187"/>
                      </a:lnTo>
                      <a:lnTo>
                        <a:pt x="1248" y="11131"/>
                      </a:lnTo>
                      <a:lnTo>
                        <a:pt x="1166" y="11072"/>
                      </a:lnTo>
                      <a:lnTo>
                        <a:pt x="1085" y="11012"/>
                      </a:lnTo>
                      <a:lnTo>
                        <a:pt x="1006" y="10948"/>
                      </a:lnTo>
                      <a:lnTo>
                        <a:pt x="928" y="10881"/>
                      </a:lnTo>
                      <a:lnTo>
                        <a:pt x="851" y="10813"/>
                      </a:lnTo>
                      <a:lnTo>
                        <a:pt x="777" y="10742"/>
                      </a:lnTo>
                      <a:lnTo>
                        <a:pt x="706" y="10667"/>
                      </a:lnTo>
                      <a:lnTo>
                        <a:pt x="639" y="10591"/>
                      </a:lnTo>
                      <a:lnTo>
                        <a:pt x="574" y="10512"/>
                      </a:lnTo>
                      <a:lnTo>
                        <a:pt x="514" y="10430"/>
                      </a:lnTo>
                      <a:lnTo>
                        <a:pt x="459" y="10346"/>
                      </a:lnTo>
                      <a:lnTo>
                        <a:pt x="408" y="10259"/>
                      </a:lnTo>
                      <a:lnTo>
                        <a:pt x="361" y="10171"/>
                      </a:lnTo>
                      <a:lnTo>
                        <a:pt x="316" y="10082"/>
                      </a:lnTo>
                      <a:lnTo>
                        <a:pt x="273" y="9994"/>
                      </a:lnTo>
                      <a:lnTo>
                        <a:pt x="232" y="9905"/>
                      </a:lnTo>
                      <a:lnTo>
                        <a:pt x="195" y="9817"/>
                      </a:lnTo>
                      <a:lnTo>
                        <a:pt x="160" y="9728"/>
                      </a:lnTo>
                      <a:lnTo>
                        <a:pt x="128" y="9641"/>
                      </a:lnTo>
                      <a:lnTo>
                        <a:pt x="99" y="9554"/>
                      </a:lnTo>
                      <a:lnTo>
                        <a:pt x="74" y="9468"/>
                      </a:lnTo>
                      <a:lnTo>
                        <a:pt x="52" y="9383"/>
                      </a:lnTo>
                      <a:lnTo>
                        <a:pt x="33" y="9300"/>
                      </a:lnTo>
                      <a:lnTo>
                        <a:pt x="18" y="9218"/>
                      </a:lnTo>
                      <a:lnTo>
                        <a:pt x="8" y="9137"/>
                      </a:lnTo>
                      <a:lnTo>
                        <a:pt x="2" y="9058"/>
                      </a:lnTo>
                      <a:lnTo>
                        <a:pt x="0" y="8981"/>
                      </a:lnTo>
                      <a:lnTo>
                        <a:pt x="3" y="8907"/>
                      </a:lnTo>
                      <a:lnTo>
                        <a:pt x="10" y="8835"/>
                      </a:lnTo>
                      <a:lnTo>
                        <a:pt x="22" y="8765"/>
                      </a:lnTo>
                      <a:lnTo>
                        <a:pt x="39" y="8698"/>
                      </a:lnTo>
                      <a:lnTo>
                        <a:pt x="63" y="8633"/>
                      </a:lnTo>
                      <a:lnTo>
                        <a:pt x="91" y="8572"/>
                      </a:lnTo>
                      <a:lnTo>
                        <a:pt x="124" y="8514"/>
                      </a:lnTo>
                      <a:lnTo>
                        <a:pt x="165" y="8459"/>
                      </a:lnTo>
                      <a:lnTo>
                        <a:pt x="210" y="8408"/>
                      </a:lnTo>
                      <a:lnTo>
                        <a:pt x="262" y="8360"/>
                      </a:lnTo>
                      <a:lnTo>
                        <a:pt x="320" y="8317"/>
                      </a:lnTo>
                      <a:lnTo>
                        <a:pt x="385" y="8277"/>
                      </a:lnTo>
                      <a:lnTo>
                        <a:pt x="457" y="8242"/>
                      </a:lnTo>
                      <a:lnTo>
                        <a:pt x="535" y="8212"/>
                      </a:lnTo>
                      <a:lnTo>
                        <a:pt x="621" y="8185"/>
                      </a:lnTo>
                      <a:lnTo>
                        <a:pt x="714" y="8163"/>
                      </a:lnTo>
                      <a:lnTo>
                        <a:pt x="814" y="8147"/>
                      </a:lnTo>
                      <a:lnTo>
                        <a:pt x="916" y="8134"/>
                      </a:lnTo>
                      <a:lnTo>
                        <a:pt x="1014" y="8123"/>
                      </a:lnTo>
                      <a:lnTo>
                        <a:pt x="1109" y="8114"/>
                      </a:lnTo>
                      <a:lnTo>
                        <a:pt x="1200" y="8107"/>
                      </a:lnTo>
                      <a:lnTo>
                        <a:pt x="1287" y="8102"/>
                      </a:lnTo>
                      <a:lnTo>
                        <a:pt x="1369" y="8097"/>
                      </a:lnTo>
                      <a:lnTo>
                        <a:pt x="1449" y="8095"/>
                      </a:lnTo>
                      <a:lnTo>
                        <a:pt x="1525" y="8093"/>
                      </a:lnTo>
                      <a:lnTo>
                        <a:pt x="1598" y="8094"/>
                      </a:lnTo>
                      <a:lnTo>
                        <a:pt x="1667" y="8095"/>
                      </a:lnTo>
                      <a:lnTo>
                        <a:pt x="1732" y="8098"/>
                      </a:lnTo>
                      <a:lnTo>
                        <a:pt x="1795" y="8102"/>
                      </a:lnTo>
                      <a:lnTo>
                        <a:pt x="1852" y="8106"/>
                      </a:lnTo>
                      <a:lnTo>
                        <a:pt x="1908" y="8111"/>
                      </a:lnTo>
                      <a:lnTo>
                        <a:pt x="1961" y="8117"/>
                      </a:lnTo>
                      <a:lnTo>
                        <a:pt x="2009" y="8123"/>
                      </a:lnTo>
                      <a:lnTo>
                        <a:pt x="2055" y="8130"/>
                      </a:lnTo>
                      <a:lnTo>
                        <a:pt x="2096" y="8137"/>
                      </a:lnTo>
                      <a:lnTo>
                        <a:pt x="2135" y="8144"/>
                      </a:lnTo>
                      <a:lnTo>
                        <a:pt x="2172" y="8151"/>
                      </a:lnTo>
                      <a:lnTo>
                        <a:pt x="2204" y="8159"/>
                      </a:lnTo>
                      <a:lnTo>
                        <a:pt x="2233" y="8166"/>
                      </a:lnTo>
                      <a:lnTo>
                        <a:pt x="2261" y="8173"/>
                      </a:lnTo>
                      <a:lnTo>
                        <a:pt x="2284" y="8180"/>
                      </a:lnTo>
                      <a:lnTo>
                        <a:pt x="2323" y="8192"/>
                      </a:lnTo>
                      <a:lnTo>
                        <a:pt x="2351" y="8203"/>
                      </a:lnTo>
                      <a:lnTo>
                        <a:pt x="2367" y="8209"/>
                      </a:lnTo>
                      <a:lnTo>
                        <a:pt x="2372" y="8211"/>
                      </a:lnTo>
                      <a:close/>
                      <a:moveTo>
                        <a:pt x="11913" y="11560"/>
                      </a:moveTo>
                      <a:lnTo>
                        <a:pt x="13685" y="11069"/>
                      </a:lnTo>
                      <a:lnTo>
                        <a:pt x="13682" y="11077"/>
                      </a:lnTo>
                      <a:lnTo>
                        <a:pt x="13676" y="11099"/>
                      </a:lnTo>
                      <a:lnTo>
                        <a:pt x="13666" y="11133"/>
                      </a:lnTo>
                      <a:lnTo>
                        <a:pt x="13652" y="11178"/>
                      </a:lnTo>
                      <a:lnTo>
                        <a:pt x="13632" y="11234"/>
                      </a:lnTo>
                      <a:lnTo>
                        <a:pt x="13609" y="11297"/>
                      </a:lnTo>
                      <a:lnTo>
                        <a:pt x="13596" y="11332"/>
                      </a:lnTo>
                      <a:lnTo>
                        <a:pt x="13581" y="11367"/>
                      </a:lnTo>
                      <a:lnTo>
                        <a:pt x="13566" y="11405"/>
                      </a:lnTo>
                      <a:lnTo>
                        <a:pt x="13548" y="11443"/>
                      </a:lnTo>
                      <a:lnTo>
                        <a:pt x="13530" y="11483"/>
                      </a:lnTo>
                      <a:lnTo>
                        <a:pt x="13511" y="11523"/>
                      </a:lnTo>
                      <a:lnTo>
                        <a:pt x="13490" y="11564"/>
                      </a:lnTo>
                      <a:lnTo>
                        <a:pt x="13469" y="11606"/>
                      </a:lnTo>
                      <a:lnTo>
                        <a:pt x="13445" y="11647"/>
                      </a:lnTo>
                      <a:lnTo>
                        <a:pt x="13421" y="11689"/>
                      </a:lnTo>
                      <a:lnTo>
                        <a:pt x="13396" y="11730"/>
                      </a:lnTo>
                      <a:lnTo>
                        <a:pt x="13370" y="11771"/>
                      </a:lnTo>
                      <a:lnTo>
                        <a:pt x="13341" y="11813"/>
                      </a:lnTo>
                      <a:lnTo>
                        <a:pt x="13312" y="11853"/>
                      </a:lnTo>
                      <a:lnTo>
                        <a:pt x="13281" y="11893"/>
                      </a:lnTo>
                      <a:lnTo>
                        <a:pt x="13249" y="11932"/>
                      </a:lnTo>
                      <a:lnTo>
                        <a:pt x="13216" y="11969"/>
                      </a:lnTo>
                      <a:lnTo>
                        <a:pt x="13182" y="12005"/>
                      </a:lnTo>
                      <a:lnTo>
                        <a:pt x="13145" y="12040"/>
                      </a:lnTo>
                      <a:lnTo>
                        <a:pt x="13108" y="12072"/>
                      </a:lnTo>
                      <a:lnTo>
                        <a:pt x="13070" y="12104"/>
                      </a:lnTo>
                      <a:lnTo>
                        <a:pt x="13032" y="12134"/>
                      </a:lnTo>
                      <a:lnTo>
                        <a:pt x="12995" y="12163"/>
                      </a:lnTo>
                      <a:lnTo>
                        <a:pt x="12957" y="12191"/>
                      </a:lnTo>
                      <a:lnTo>
                        <a:pt x="12921" y="12218"/>
                      </a:lnTo>
                      <a:lnTo>
                        <a:pt x="12884" y="12243"/>
                      </a:lnTo>
                      <a:lnTo>
                        <a:pt x="12849" y="12267"/>
                      </a:lnTo>
                      <a:lnTo>
                        <a:pt x="12814" y="12290"/>
                      </a:lnTo>
                      <a:lnTo>
                        <a:pt x="12779" y="12312"/>
                      </a:lnTo>
                      <a:lnTo>
                        <a:pt x="12745" y="12333"/>
                      </a:lnTo>
                      <a:lnTo>
                        <a:pt x="12712" y="12352"/>
                      </a:lnTo>
                      <a:lnTo>
                        <a:pt x="12680" y="12371"/>
                      </a:lnTo>
                      <a:lnTo>
                        <a:pt x="12619" y="12405"/>
                      </a:lnTo>
                      <a:lnTo>
                        <a:pt x="12561" y="12435"/>
                      </a:lnTo>
                      <a:lnTo>
                        <a:pt x="12509" y="12461"/>
                      </a:lnTo>
                      <a:lnTo>
                        <a:pt x="12461" y="12484"/>
                      </a:lnTo>
                      <a:lnTo>
                        <a:pt x="12420" y="12502"/>
                      </a:lnTo>
                      <a:lnTo>
                        <a:pt x="12384" y="12517"/>
                      </a:lnTo>
                      <a:lnTo>
                        <a:pt x="12356" y="12528"/>
                      </a:lnTo>
                      <a:lnTo>
                        <a:pt x="12336" y="12536"/>
                      </a:lnTo>
                      <a:lnTo>
                        <a:pt x="12323" y="12540"/>
                      </a:lnTo>
                      <a:lnTo>
                        <a:pt x="12319" y="12542"/>
                      </a:lnTo>
                      <a:lnTo>
                        <a:pt x="11422" y="12734"/>
                      </a:lnTo>
                      <a:lnTo>
                        <a:pt x="11425" y="12728"/>
                      </a:lnTo>
                      <a:lnTo>
                        <a:pt x="11435" y="12710"/>
                      </a:lnTo>
                      <a:lnTo>
                        <a:pt x="11451" y="12682"/>
                      </a:lnTo>
                      <a:lnTo>
                        <a:pt x="11473" y="12644"/>
                      </a:lnTo>
                      <a:lnTo>
                        <a:pt x="11498" y="12599"/>
                      </a:lnTo>
                      <a:lnTo>
                        <a:pt x="11525" y="12547"/>
                      </a:lnTo>
                      <a:lnTo>
                        <a:pt x="11555" y="12491"/>
                      </a:lnTo>
                      <a:lnTo>
                        <a:pt x="11588" y="12430"/>
                      </a:lnTo>
                      <a:lnTo>
                        <a:pt x="11619" y="12367"/>
                      </a:lnTo>
                      <a:lnTo>
                        <a:pt x="11651" y="12303"/>
                      </a:lnTo>
                      <a:lnTo>
                        <a:pt x="11682" y="12239"/>
                      </a:lnTo>
                      <a:lnTo>
                        <a:pt x="11710" y="12176"/>
                      </a:lnTo>
                      <a:lnTo>
                        <a:pt x="11723" y="12145"/>
                      </a:lnTo>
                      <a:lnTo>
                        <a:pt x="11735" y="12116"/>
                      </a:lnTo>
                      <a:lnTo>
                        <a:pt x="11746" y="12088"/>
                      </a:lnTo>
                      <a:lnTo>
                        <a:pt x="11757" y="12060"/>
                      </a:lnTo>
                      <a:lnTo>
                        <a:pt x="11766" y="12034"/>
                      </a:lnTo>
                      <a:lnTo>
                        <a:pt x="11774" y="12010"/>
                      </a:lnTo>
                      <a:lnTo>
                        <a:pt x="11780" y="11987"/>
                      </a:lnTo>
                      <a:lnTo>
                        <a:pt x="11785" y="11965"/>
                      </a:lnTo>
                      <a:lnTo>
                        <a:pt x="11793" y="11926"/>
                      </a:lnTo>
                      <a:lnTo>
                        <a:pt x="11802" y="11888"/>
                      </a:lnTo>
                      <a:lnTo>
                        <a:pt x="11812" y="11849"/>
                      </a:lnTo>
                      <a:lnTo>
                        <a:pt x="11822" y="11813"/>
                      </a:lnTo>
                      <a:lnTo>
                        <a:pt x="11833" y="11777"/>
                      </a:lnTo>
                      <a:lnTo>
                        <a:pt x="11844" y="11744"/>
                      </a:lnTo>
                      <a:lnTo>
                        <a:pt x="11855" y="11713"/>
                      </a:lnTo>
                      <a:lnTo>
                        <a:pt x="11865" y="11684"/>
                      </a:lnTo>
                      <a:lnTo>
                        <a:pt x="11884" y="11633"/>
                      </a:lnTo>
                      <a:lnTo>
                        <a:pt x="11899" y="11594"/>
                      </a:lnTo>
                      <a:lnTo>
                        <a:pt x="11909" y="11569"/>
                      </a:lnTo>
                      <a:lnTo>
                        <a:pt x="11913" y="11560"/>
                      </a:lnTo>
                      <a:close/>
                      <a:moveTo>
                        <a:pt x="7622" y="11497"/>
                      </a:moveTo>
                      <a:lnTo>
                        <a:pt x="7633" y="11503"/>
                      </a:lnTo>
                      <a:lnTo>
                        <a:pt x="7663" y="11521"/>
                      </a:lnTo>
                      <a:lnTo>
                        <a:pt x="7710" y="11549"/>
                      </a:lnTo>
                      <a:lnTo>
                        <a:pt x="7775" y="11586"/>
                      </a:lnTo>
                      <a:lnTo>
                        <a:pt x="7812" y="11607"/>
                      </a:lnTo>
                      <a:lnTo>
                        <a:pt x="7854" y="11629"/>
                      </a:lnTo>
                      <a:lnTo>
                        <a:pt x="7899" y="11652"/>
                      </a:lnTo>
                      <a:lnTo>
                        <a:pt x="7947" y="11676"/>
                      </a:lnTo>
                      <a:lnTo>
                        <a:pt x="7998" y="11702"/>
                      </a:lnTo>
                      <a:lnTo>
                        <a:pt x="8052" y="11727"/>
                      </a:lnTo>
                      <a:lnTo>
                        <a:pt x="8108" y="11753"/>
                      </a:lnTo>
                      <a:lnTo>
                        <a:pt x="8167" y="11780"/>
                      </a:lnTo>
                      <a:lnTo>
                        <a:pt x="8227" y="11805"/>
                      </a:lnTo>
                      <a:lnTo>
                        <a:pt x="8291" y="11831"/>
                      </a:lnTo>
                      <a:lnTo>
                        <a:pt x="8356" y="11855"/>
                      </a:lnTo>
                      <a:lnTo>
                        <a:pt x="8423" y="11880"/>
                      </a:lnTo>
                      <a:lnTo>
                        <a:pt x="8491" y="11903"/>
                      </a:lnTo>
                      <a:lnTo>
                        <a:pt x="8561" y="11925"/>
                      </a:lnTo>
                      <a:lnTo>
                        <a:pt x="8632" y="11946"/>
                      </a:lnTo>
                      <a:lnTo>
                        <a:pt x="8704" y="11964"/>
                      </a:lnTo>
                      <a:lnTo>
                        <a:pt x="8775" y="11982"/>
                      </a:lnTo>
                      <a:lnTo>
                        <a:pt x="8848" y="11997"/>
                      </a:lnTo>
                      <a:lnTo>
                        <a:pt x="8922" y="12009"/>
                      </a:lnTo>
                      <a:lnTo>
                        <a:pt x="8996" y="12019"/>
                      </a:lnTo>
                      <a:lnTo>
                        <a:pt x="9068" y="12027"/>
                      </a:lnTo>
                      <a:lnTo>
                        <a:pt x="9142" y="12031"/>
                      </a:lnTo>
                      <a:lnTo>
                        <a:pt x="9215" y="12032"/>
                      </a:lnTo>
                      <a:lnTo>
                        <a:pt x="9288" y="12030"/>
                      </a:lnTo>
                      <a:lnTo>
                        <a:pt x="9360" y="12025"/>
                      </a:lnTo>
                      <a:lnTo>
                        <a:pt x="9434" y="12020"/>
                      </a:lnTo>
                      <a:lnTo>
                        <a:pt x="9510" y="12014"/>
                      </a:lnTo>
                      <a:lnTo>
                        <a:pt x="9586" y="12008"/>
                      </a:lnTo>
                      <a:lnTo>
                        <a:pt x="9663" y="12001"/>
                      </a:lnTo>
                      <a:lnTo>
                        <a:pt x="9740" y="11993"/>
                      </a:lnTo>
                      <a:lnTo>
                        <a:pt x="9817" y="11985"/>
                      </a:lnTo>
                      <a:lnTo>
                        <a:pt x="9895" y="11975"/>
                      </a:lnTo>
                      <a:lnTo>
                        <a:pt x="10049" y="11956"/>
                      </a:lnTo>
                      <a:lnTo>
                        <a:pt x="10199" y="11937"/>
                      </a:lnTo>
                      <a:lnTo>
                        <a:pt x="10345" y="11917"/>
                      </a:lnTo>
                      <a:lnTo>
                        <a:pt x="10483" y="11897"/>
                      </a:lnTo>
                      <a:lnTo>
                        <a:pt x="10612" y="11876"/>
                      </a:lnTo>
                      <a:lnTo>
                        <a:pt x="10730" y="11858"/>
                      </a:lnTo>
                      <a:lnTo>
                        <a:pt x="10836" y="11841"/>
                      </a:lnTo>
                      <a:lnTo>
                        <a:pt x="10926" y="11826"/>
                      </a:lnTo>
                      <a:lnTo>
                        <a:pt x="11000" y="11813"/>
                      </a:lnTo>
                      <a:lnTo>
                        <a:pt x="11055" y="11804"/>
                      </a:lnTo>
                      <a:lnTo>
                        <a:pt x="11090" y="11798"/>
                      </a:lnTo>
                      <a:lnTo>
                        <a:pt x="11102" y="11795"/>
                      </a:lnTo>
                      <a:lnTo>
                        <a:pt x="11100" y="11803"/>
                      </a:lnTo>
                      <a:lnTo>
                        <a:pt x="11093" y="11823"/>
                      </a:lnTo>
                      <a:lnTo>
                        <a:pt x="11082" y="11856"/>
                      </a:lnTo>
                      <a:lnTo>
                        <a:pt x="11066" y="11899"/>
                      </a:lnTo>
                      <a:lnTo>
                        <a:pt x="11048" y="11951"/>
                      </a:lnTo>
                      <a:lnTo>
                        <a:pt x="11027" y="12010"/>
                      </a:lnTo>
                      <a:lnTo>
                        <a:pt x="11004" y="12075"/>
                      </a:lnTo>
                      <a:lnTo>
                        <a:pt x="10979" y="12144"/>
                      </a:lnTo>
                      <a:lnTo>
                        <a:pt x="10952" y="12217"/>
                      </a:lnTo>
                      <a:lnTo>
                        <a:pt x="10925" y="12290"/>
                      </a:lnTo>
                      <a:lnTo>
                        <a:pt x="10897" y="12363"/>
                      </a:lnTo>
                      <a:lnTo>
                        <a:pt x="10867" y="12434"/>
                      </a:lnTo>
                      <a:lnTo>
                        <a:pt x="10839" y="12502"/>
                      </a:lnTo>
                      <a:lnTo>
                        <a:pt x="10812" y="12565"/>
                      </a:lnTo>
                      <a:lnTo>
                        <a:pt x="10799" y="12595"/>
                      </a:lnTo>
                      <a:lnTo>
                        <a:pt x="10785" y="12621"/>
                      </a:lnTo>
                      <a:lnTo>
                        <a:pt x="10772" y="12647"/>
                      </a:lnTo>
                      <a:lnTo>
                        <a:pt x="10760" y="12669"/>
                      </a:lnTo>
                      <a:lnTo>
                        <a:pt x="10747" y="12692"/>
                      </a:lnTo>
                      <a:lnTo>
                        <a:pt x="10733" y="12713"/>
                      </a:lnTo>
                      <a:lnTo>
                        <a:pt x="10716" y="12734"/>
                      </a:lnTo>
                      <a:lnTo>
                        <a:pt x="10697" y="12755"/>
                      </a:lnTo>
                      <a:lnTo>
                        <a:pt x="10678" y="12776"/>
                      </a:lnTo>
                      <a:lnTo>
                        <a:pt x="10657" y="12796"/>
                      </a:lnTo>
                      <a:lnTo>
                        <a:pt x="10635" y="12815"/>
                      </a:lnTo>
                      <a:lnTo>
                        <a:pt x="10611" y="12834"/>
                      </a:lnTo>
                      <a:lnTo>
                        <a:pt x="10585" y="12853"/>
                      </a:lnTo>
                      <a:lnTo>
                        <a:pt x="10559" y="12872"/>
                      </a:lnTo>
                      <a:lnTo>
                        <a:pt x="10531" y="12890"/>
                      </a:lnTo>
                      <a:lnTo>
                        <a:pt x="10502" y="12907"/>
                      </a:lnTo>
                      <a:lnTo>
                        <a:pt x="10473" y="12924"/>
                      </a:lnTo>
                      <a:lnTo>
                        <a:pt x="10442" y="12941"/>
                      </a:lnTo>
                      <a:lnTo>
                        <a:pt x="10410" y="12957"/>
                      </a:lnTo>
                      <a:lnTo>
                        <a:pt x="10379" y="12974"/>
                      </a:lnTo>
                      <a:lnTo>
                        <a:pt x="10346" y="12990"/>
                      </a:lnTo>
                      <a:lnTo>
                        <a:pt x="10312" y="13005"/>
                      </a:lnTo>
                      <a:lnTo>
                        <a:pt x="10278" y="13020"/>
                      </a:lnTo>
                      <a:lnTo>
                        <a:pt x="10244" y="13035"/>
                      </a:lnTo>
                      <a:lnTo>
                        <a:pt x="10174" y="13063"/>
                      </a:lnTo>
                      <a:lnTo>
                        <a:pt x="10103" y="13090"/>
                      </a:lnTo>
                      <a:lnTo>
                        <a:pt x="10031" y="13115"/>
                      </a:lnTo>
                      <a:lnTo>
                        <a:pt x="9961" y="13139"/>
                      </a:lnTo>
                      <a:lnTo>
                        <a:pt x="9890" y="13161"/>
                      </a:lnTo>
                      <a:lnTo>
                        <a:pt x="9821" y="13182"/>
                      </a:lnTo>
                      <a:lnTo>
                        <a:pt x="9725" y="13209"/>
                      </a:lnTo>
                      <a:lnTo>
                        <a:pt x="9580" y="13248"/>
                      </a:lnTo>
                      <a:lnTo>
                        <a:pt x="9393" y="13299"/>
                      </a:lnTo>
                      <a:lnTo>
                        <a:pt x="9171" y="13357"/>
                      </a:lnTo>
                      <a:lnTo>
                        <a:pt x="8923" y="13422"/>
                      </a:lnTo>
                      <a:lnTo>
                        <a:pt x="8655" y="13492"/>
                      </a:lnTo>
                      <a:lnTo>
                        <a:pt x="8377" y="13564"/>
                      </a:lnTo>
                      <a:lnTo>
                        <a:pt x="8095" y="13638"/>
                      </a:lnTo>
                      <a:lnTo>
                        <a:pt x="7817" y="13710"/>
                      </a:lnTo>
                      <a:lnTo>
                        <a:pt x="7551" y="13779"/>
                      </a:lnTo>
                      <a:lnTo>
                        <a:pt x="7305" y="13842"/>
                      </a:lnTo>
                      <a:lnTo>
                        <a:pt x="7087" y="13899"/>
                      </a:lnTo>
                      <a:lnTo>
                        <a:pt x="6903" y="13946"/>
                      </a:lnTo>
                      <a:lnTo>
                        <a:pt x="6762" y="13983"/>
                      </a:lnTo>
                      <a:lnTo>
                        <a:pt x="6672" y="14006"/>
                      </a:lnTo>
                      <a:lnTo>
                        <a:pt x="6641" y="14014"/>
                      </a:lnTo>
                      <a:lnTo>
                        <a:pt x="6649" y="14004"/>
                      </a:lnTo>
                      <a:lnTo>
                        <a:pt x="6673" y="13976"/>
                      </a:lnTo>
                      <a:lnTo>
                        <a:pt x="6711" y="13930"/>
                      </a:lnTo>
                      <a:lnTo>
                        <a:pt x="6760" y="13869"/>
                      </a:lnTo>
                      <a:lnTo>
                        <a:pt x="6820" y="13795"/>
                      </a:lnTo>
                      <a:lnTo>
                        <a:pt x="6887" y="13709"/>
                      </a:lnTo>
                      <a:lnTo>
                        <a:pt x="6960" y="13614"/>
                      </a:lnTo>
                      <a:lnTo>
                        <a:pt x="7038" y="13510"/>
                      </a:lnTo>
                      <a:lnTo>
                        <a:pt x="7078" y="13455"/>
                      </a:lnTo>
                      <a:lnTo>
                        <a:pt x="7118" y="13400"/>
                      </a:lnTo>
                      <a:lnTo>
                        <a:pt x="7158" y="13343"/>
                      </a:lnTo>
                      <a:lnTo>
                        <a:pt x="7199" y="13286"/>
                      </a:lnTo>
                      <a:lnTo>
                        <a:pt x="7238" y="13228"/>
                      </a:lnTo>
                      <a:lnTo>
                        <a:pt x="7277" y="13168"/>
                      </a:lnTo>
                      <a:lnTo>
                        <a:pt x="7315" y="13110"/>
                      </a:lnTo>
                      <a:lnTo>
                        <a:pt x="7352" y="13051"/>
                      </a:lnTo>
                      <a:lnTo>
                        <a:pt x="7388" y="12993"/>
                      </a:lnTo>
                      <a:lnTo>
                        <a:pt x="7422" y="12934"/>
                      </a:lnTo>
                      <a:lnTo>
                        <a:pt x="7454" y="12877"/>
                      </a:lnTo>
                      <a:lnTo>
                        <a:pt x="7485" y="12820"/>
                      </a:lnTo>
                      <a:lnTo>
                        <a:pt x="7512" y="12764"/>
                      </a:lnTo>
                      <a:lnTo>
                        <a:pt x="7537" y="12710"/>
                      </a:lnTo>
                      <a:lnTo>
                        <a:pt x="7560" y="12657"/>
                      </a:lnTo>
                      <a:lnTo>
                        <a:pt x="7580" y="12606"/>
                      </a:lnTo>
                      <a:lnTo>
                        <a:pt x="7597" y="12556"/>
                      </a:lnTo>
                      <a:lnTo>
                        <a:pt x="7612" y="12506"/>
                      </a:lnTo>
                      <a:lnTo>
                        <a:pt x="7625" y="12455"/>
                      </a:lnTo>
                      <a:lnTo>
                        <a:pt x="7637" y="12405"/>
                      </a:lnTo>
                      <a:lnTo>
                        <a:pt x="7646" y="12355"/>
                      </a:lnTo>
                      <a:lnTo>
                        <a:pt x="7654" y="12306"/>
                      </a:lnTo>
                      <a:lnTo>
                        <a:pt x="7662" y="12256"/>
                      </a:lnTo>
                      <a:lnTo>
                        <a:pt x="7668" y="12208"/>
                      </a:lnTo>
                      <a:lnTo>
                        <a:pt x="7672" y="12159"/>
                      </a:lnTo>
                      <a:lnTo>
                        <a:pt x="7675" y="12113"/>
                      </a:lnTo>
                      <a:lnTo>
                        <a:pt x="7677" y="12066"/>
                      </a:lnTo>
                      <a:lnTo>
                        <a:pt x="7678" y="12021"/>
                      </a:lnTo>
                      <a:lnTo>
                        <a:pt x="7678" y="11976"/>
                      </a:lnTo>
                      <a:lnTo>
                        <a:pt x="7677" y="11933"/>
                      </a:lnTo>
                      <a:lnTo>
                        <a:pt x="7676" y="11892"/>
                      </a:lnTo>
                      <a:lnTo>
                        <a:pt x="7674" y="11851"/>
                      </a:lnTo>
                      <a:lnTo>
                        <a:pt x="7671" y="11813"/>
                      </a:lnTo>
                      <a:lnTo>
                        <a:pt x="7668" y="11775"/>
                      </a:lnTo>
                      <a:lnTo>
                        <a:pt x="7664" y="11740"/>
                      </a:lnTo>
                      <a:lnTo>
                        <a:pt x="7660" y="11707"/>
                      </a:lnTo>
                      <a:lnTo>
                        <a:pt x="7651" y="11646"/>
                      </a:lnTo>
                      <a:lnTo>
                        <a:pt x="7643" y="11595"/>
                      </a:lnTo>
                      <a:lnTo>
                        <a:pt x="7635" y="11553"/>
                      </a:lnTo>
                      <a:lnTo>
                        <a:pt x="7628" y="11522"/>
                      </a:lnTo>
                      <a:lnTo>
                        <a:pt x="7624" y="11503"/>
                      </a:lnTo>
                      <a:lnTo>
                        <a:pt x="7622" y="11497"/>
                      </a:lnTo>
                      <a:close/>
                      <a:moveTo>
                        <a:pt x="14393" y="10247"/>
                      </a:moveTo>
                      <a:lnTo>
                        <a:pt x="14396" y="10218"/>
                      </a:lnTo>
                      <a:lnTo>
                        <a:pt x="14405" y="10135"/>
                      </a:lnTo>
                      <a:lnTo>
                        <a:pt x="14412" y="10074"/>
                      </a:lnTo>
                      <a:lnTo>
                        <a:pt x="14418" y="10003"/>
                      </a:lnTo>
                      <a:lnTo>
                        <a:pt x="14423" y="9921"/>
                      </a:lnTo>
                      <a:lnTo>
                        <a:pt x="14429" y="9828"/>
                      </a:lnTo>
                      <a:lnTo>
                        <a:pt x="14433" y="9727"/>
                      </a:lnTo>
                      <a:lnTo>
                        <a:pt x="14436" y="9616"/>
                      </a:lnTo>
                      <a:lnTo>
                        <a:pt x="14438" y="9498"/>
                      </a:lnTo>
                      <a:lnTo>
                        <a:pt x="14437" y="9372"/>
                      </a:lnTo>
                      <a:lnTo>
                        <a:pt x="14435" y="9240"/>
                      </a:lnTo>
                      <a:lnTo>
                        <a:pt x="14429" y="9103"/>
                      </a:lnTo>
                      <a:lnTo>
                        <a:pt x="14421" y="8960"/>
                      </a:lnTo>
                      <a:lnTo>
                        <a:pt x="14408" y="8812"/>
                      </a:lnTo>
                      <a:lnTo>
                        <a:pt x="14393" y="8661"/>
                      </a:lnTo>
                      <a:lnTo>
                        <a:pt x="14373" y="8508"/>
                      </a:lnTo>
                      <a:lnTo>
                        <a:pt x="14349" y="8351"/>
                      </a:lnTo>
                      <a:lnTo>
                        <a:pt x="14321" y="8192"/>
                      </a:lnTo>
                      <a:lnTo>
                        <a:pt x="14286" y="8034"/>
                      </a:lnTo>
                      <a:lnTo>
                        <a:pt x="14246" y="7875"/>
                      </a:lnTo>
                      <a:lnTo>
                        <a:pt x="14200" y="7717"/>
                      </a:lnTo>
                      <a:lnTo>
                        <a:pt x="14148" y="7559"/>
                      </a:lnTo>
                      <a:lnTo>
                        <a:pt x="14089" y="7404"/>
                      </a:lnTo>
                      <a:lnTo>
                        <a:pt x="14022" y="7251"/>
                      </a:lnTo>
                      <a:lnTo>
                        <a:pt x="13949" y="7101"/>
                      </a:lnTo>
                      <a:lnTo>
                        <a:pt x="13868" y="6956"/>
                      </a:lnTo>
                      <a:lnTo>
                        <a:pt x="13779" y="6816"/>
                      </a:lnTo>
                      <a:lnTo>
                        <a:pt x="13681" y="6680"/>
                      </a:lnTo>
                      <a:lnTo>
                        <a:pt x="13574" y="6552"/>
                      </a:lnTo>
                      <a:lnTo>
                        <a:pt x="13457" y="6429"/>
                      </a:lnTo>
                      <a:lnTo>
                        <a:pt x="13339" y="6315"/>
                      </a:lnTo>
                      <a:lnTo>
                        <a:pt x="13226" y="6207"/>
                      </a:lnTo>
                      <a:lnTo>
                        <a:pt x="13119" y="6107"/>
                      </a:lnTo>
                      <a:lnTo>
                        <a:pt x="13016" y="6014"/>
                      </a:lnTo>
                      <a:lnTo>
                        <a:pt x="12918" y="5928"/>
                      </a:lnTo>
                      <a:lnTo>
                        <a:pt x="12825" y="5847"/>
                      </a:lnTo>
                      <a:lnTo>
                        <a:pt x="12735" y="5773"/>
                      </a:lnTo>
                      <a:lnTo>
                        <a:pt x="12650" y="5704"/>
                      </a:lnTo>
                      <a:lnTo>
                        <a:pt x="12568" y="5642"/>
                      </a:lnTo>
                      <a:lnTo>
                        <a:pt x="12490" y="5585"/>
                      </a:lnTo>
                      <a:lnTo>
                        <a:pt x="12416" y="5533"/>
                      </a:lnTo>
                      <a:lnTo>
                        <a:pt x="12344" y="5484"/>
                      </a:lnTo>
                      <a:lnTo>
                        <a:pt x="12274" y="5442"/>
                      </a:lnTo>
                      <a:lnTo>
                        <a:pt x="12208" y="5402"/>
                      </a:lnTo>
                      <a:lnTo>
                        <a:pt x="12144" y="5367"/>
                      </a:lnTo>
                      <a:lnTo>
                        <a:pt x="12082" y="5336"/>
                      </a:lnTo>
                      <a:lnTo>
                        <a:pt x="12021" y="5308"/>
                      </a:lnTo>
                      <a:lnTo>
                        <a:pt x="11963" y="5283"/>
                      </a:lnTo>
                      <a:lnTo>
                        <a:pt x="11906" y="5261"/>
                      </a:lnTo>
                      <a:lnTo>
                        <a:pt x="11850" y="5242"/>
                      </a:lnTo>
                      <a:lnTo>
                        <a:pt x="11795" y="5225"/>
                      </a:lnTo>
                      <a:lnTo>
                        <a:pt x="11740" y="5209"/>
                      </a:lnTo>
                      <a:lnTo>
                        <a:pt x="11687" y="5196"/>
                      </a:lnTo>
                      <a:lnTo>
                        <a:pt x="11632" y="5185"/>
                      </a:lnTo>
                      <a:lnTo>
                        <a:pt x="11579" y="5175"/>
                      </a:lnTo>
                      <a:lnTo>
                        <a:pt x="11524" y="5165"/>
                      </a:lnTo>
                      <a:lnTo>
                        <a:pt x="11470" y="5157"/>
                      </a:lnTo>
                      <a:lnTo>
                        <a:pt x="11415" y="5149"/>
                      </a:lnTo>
                      <a:lnTo>
                        <a:pt x="11301" y="5133"/>
                      </a:lnTo>
                      <a:lnTo>
                        <a:pt x="11182" y="5114"/>
                      </a:lnTo>
                      <a:lnTo>
                        <a:pt x="11119" y="5105"/>
                      </a:lnTo>
                      <a:lnTo>
                        <a:pt x="11057" y="5098"/>
                      </a:lnTo>
                      <a:lnTo>
                        <a:pt x="10995" y="5092"/>
                      </a:lnTo>
                      <a:lnTo>
                        <a:pt x="10933" y="5087"/>
                      </a:lnTo>
                      <a:lnTo>
                        <a:pt x="10870" y="5083"/>
                      </a:lnTo>
                      <a:lnTo>
                        <a:pt x="10808" y="5080"/>
                      </a:lnTo>
                      <a:lnTo>
                        <a:pt x="10746" y="5078"/>
                      </a:lnTo>
                      <a:lnTo>
                        <a:pt x="10684" y="5077"/>
                      </a:lnTo>
                      <a:lnTo>
                        <a:pt x="10623" y="5077"/>
                      </a:lnTo>
                      <a:lnTo>
                        <a:pt x="10561" y="5077"/>
                      </a:lnTo>
                      <a:lnTo>
                        <a:pt x="10500" y="5079"/>
                      </a:lnTo>
                      <a:lnTo>
                        <a:pt x="10440" y="5081"/>
                      </a:lnTo>
                      <a:lnTo>
                        <a:pt x="10380" y="5084"/>
                      </a:lnTo>
                      <a:lnTo>
                        <a:pt x="10321" y="5087"/>
                      </a:lnTo>
                      <a:lnTo>
                        <a:pt x="10262" y="5091"/>
                      </a:lnTo>
                      <a:lnTo>
                        <a:pt x="10204" y="5095"/>
                      </a:lnTo>
                      <a:lnTo>
                        <a:pt x="10090" y="5106"/>
                      </a:lnTo>
                      <a:lnTo>
                        <a:pt x="9981" y="5117"/>
                      </a:lnTo>
                      <a:lnTo>
                        <a:pt x="9876" y="5131"/>
                      </a:lnTo>
                      <a:lnTo>
                        <a:pt x="9776" y="5143"/>
                      </a:lnTo>
                      <a:lnTo>
                        <a:pt x="9681" y="5156"/>
                      </a:lnTo>
                      <a:lnTo>
                        <a:pt x="9593" y="5169"/>
                      </a:lnTo>
                      <a:lnTo>
                        <a:pt x="9511" y="5180"/>
                      </a:lnTo>
                      <a:lnTo>
                        <a:pt x="9436" y="5190"/>
                      </a:lnTo>
                      <a:lnTo>
                        <a:pt x="9379" y="5201"/>
                      </a:lnTo>
                      <a:lnTo>
                        <a:pt x="9280" y="5224"/>
                      </a:lnTo>
                      <a:lnTo>
                        <a:pt x="9143" y="5257"/>
                      </a:lnTo>
                      <a:lnTo>
                        <a:pt x="8970" y="5299"/>
                      </a:lnTo>
                      <a:lnTo>
                        <a:pt x="8764" y="5352"/>
                      </a:lnTo>
                      <a:lnTo>
                        <a:pt x="8529" y="5412"/>
                      </a:lnTo>
                      <a:lnTo>
                        <a:pt x="8266" y="5480"/>
                      </a:lnTo>
                      <a:lnTo>
                        <a:pt x="7980" y="5556"/>
                      </a:lnTo>
                      <a:lnTo>
                        <a:pt x="7343" y="5724"/>
                      </a:lnTo>
                      <a:lnTo>
                        <a:pt x="6644" y="5908"/>
                      </a:lnTo>
                      <a:lnTo>
                        <a:pt x="5904" y="6106"/>
                      </a:lnTo>
                      <a:lnTo>
                        <a:pt x="5145" y="6309"/>
                      </a:lnTo>
                      <a:lnTo>
                        <a:pt x="4391" y="6512"/>
                      </a:lnTo>
                      <a:lnTo>
                        <a:pt x="3665" y="6707"/>
                      </a:lnTo>
                      <a:lnTo>
                        <a:pt x="2987" y="6890"/>
                      </a:lnTo>
                      <a:lnTo>
                        <a:pt x="2382" y="7053"/>
                      </a:lnTo>
                      <a:lnTo>
                        <a:pt x="1873" y="7191"/>
                      </a:lnTo>
                      <a:lnTo>
                        <a:pt x="1481" y="7297"/>
                      </a:lnTo>
                      <a:lnTo>
                        <a:pt x="1229" y="7366"/>
                      </a:lnTo>
                      <a:lnTo>
                        <a:pt x="1140" y="7390"/>
                      </a:lnTo>
                      <a:lnTo>
                        <a:pt x="1167" y="7393"/>
                      </a:lnTo>
                      <a:lnTo>
                        <a:pt x="1246" y="7406"/>
                      </a:lnTo>
                      <a:lnTo>
                        <a:pt x="1303" y="7415"/>
                      </a:lnTo>
                      <a:lnTo>
                        <a:pt x="1371" y="7427"/>
                      </a:lnTo>
                      <a:lnTo>
                        <a:pt x="1451" y="7441"/>
                      </a:lnTo>
                      <a:lnTo>
                        <a:pt x="1540" y="7458"/>
                      </a:lnTo>
                      <a:lnTo>
                        <a:pt x="1638" y="7477"/>
                      </a:lnTo>
                      <a:lnTo>
                        <a:pt x="1745" y="7499"/>
                      </a:lnTo>
                      <a:lnTo>
                        <a:pt x="1861" y="7526"/>
                      </a:lnTo>
                      <a:lnTo>
                        <a:pt x="1984" y="7554"/>
                      </a:lnTo>
                      <a:lnTo>
                        <a:pt x="2113" y="7586"/>
                      </a:lnTo>
                      <a:lnTo>
                        <a:pt x="2251" y="7622"/>
                      </a:lnTo>
                      <a:lnTo>
                        <a:pt x="2392" y="7660"/>
                      </a:lnTo>
                      <a:lnTo>
                        <a:pt x="2540" y="7702"/>
                      </a:lnTo>
                      <a:lnTo>
                        <a:pt x="2692" y="7749"/>
                      </a:lnTo>
                      <a:lnTo>
                        <a:pt x="2849" y="7799"/>
                      </a:lnTo>
                      <a:lnTo>
                        <a:pt x="3009" y="7854"/>
                      </a:lnTo>
                      <a:lnTo>
                        <a:pt x="3171" y="7913"/>
                      </a:lnTo>
                      <a:lnTo>
                        <a:pt x="3336" y="7975"/>
                      </a:lnTo>
                      <a:lnTo>
                        <a:pt x="3503" y="8042"/>
                      </a:lnTo>
                      <a:lnTo>
                        <a:pt x="3671" y="8114"/>
                      </a:lnTo>
                      <a:lnTo>
                        <a:pt x="3839" y="8190"/>
                      </a:lnTo>
                      <a:lnTo>
                        <a:pt x="4007" y="8271"/>
                      </a:lnTo>
                      <a:lnTo>
                        <a:pt x="4175" y="8357"/>
                      </a:lnTo>
                      <a:lnTo>
                        <a:pt x="4342" y="8448"/>
                      </a:lnTo>
                      <a:lnTo>
                        <a:pt x="4506" y="8544"/>
                      </a:lnTo>
                      <a:lnTo>
                        <a:pt x="4669" y="8646"/>
                      </a:lnTo>
                      <a:lnTo>
                        <a:pt x="4829" y="8752"/>
                      </a:lnTo>
                      <a:lnTo>
                        <a:pt x="4984" y="8865"/>
                      </a:lnTo>
                      <a:lnTo>
                        <a:pt x="5136" y="8982"/>
                      </a:lnTo>
                      <a:lnTo>
                        <a:pt x="5285" y="9103"/>
                      </a:lnTo>
                      <a:lnTo>
                        <a:pt x="5433" y="9222"/>
                      </a:lnTo>
                      <a:lnTo>
                        <a:pt x="5581" y="9338"/>
                      </a:lnTo>
                      <a:lnTo>
                        <a:pt x="5727" y="9453"/>
                      </a:lnTo>
                      <a:lnTo>
                        <a:pt x="5873" y="9566"/>
                      </a:lnTo>
                      <a:lnTo>
                        <a:pt x="6017" y="9676"/>
                      </a:lnTo>
                      <a:lnTo>
                        <a:pt x="6160" y="9784"/>
                      </a:lnTo>
                      <a:lnTo>
                        <a:pt x="6302" y="9891"/>
                      </a:lnTo>
                      <a:lnTo>
                        <a:pt x="6442" y="9994"/>
                      </a:lnTo>
                      <a:lnTo>
                        <a:pt x="6581" y="10095"/>
                      </a:lnTo>
                      <a:lnTo>
                        <a:pt x="6718" y="10193"/>
                      </a:lnTo>
                      <a:lnTo>
                        <a:pt x="6852" y="10286"/>
                      </a:lnTo>
                      <a:lnTo>
                        <a:pt x="6985" y="10378"/>
                      </a:lnTo>
                      <a:lnTo>
                        <a:pt x="7116" y="10466"/>
                      </a:lnTo>
                      <a:lnTo>
                        <a:pt x="7245" y="10551"/>
                      </a:lnTo>
                      <a:lnTo>
                        <a:pt x="7371" y="10632"/>
                      </a:lnTo>
                      <a:lnTo>
                        <a:pt x="7495" y="10710"/>
                      </a:lnTo>
                      <a:lnTo>
                        <a:pt x="7616" y="10783"/>
                      </a:lnTo>
                      <a:lnTo>
                        <a:pt x="7734" y="10853"/>
                      </a:lnTo>
                      <a:lnTo>
                        <a:pt x="7851" y="10919"/>
                      </a:lnTo>
                      <a:lnTo>
                        <a:pt x="7964" y="10980"/>
                      </a:lnTo>
                      <a:lnTo>
                        <a:pt x="8073" y="11037"/>
                      </a:lnTo>
                      <a:lnTo>
                        <a:pt x="8180" y="11090"/>
                      </a:lnTo>
                      <a:lnTo>
                        <a:pt x="8284" y="11137"/>
                      </a:lnTo>
                      <a:lnTo>
                        <a:pt x="8384" y="11180"/>
                      </a:lnTo>
                      <a:lnTo>
                        <a:pt x="8480" y="11218"/>
                      </a:lnTo>
                      <a:lnTo>
                        <a:pt x="8573" y="11251"/>
                      </a:lnTo>
                      <a:lnTo>
                        <a:pt x="8663" y="11278"/>
                      </a:lnTo>
                      <a:lnTo>
                        <a:pt x="8748" y="11301"/>
                      </a:lnTo>
                      <a:lnTo>
                        <a:pt x="8830" y="11318"/>
                      </a:lnTo>
                      <a:lnTo>
                        <a:pt x="8907" y="11329"/>
                      </a:lnTo>
                      <a:lnTo>
                        <a:pt x="8980" y="11334"/>
                      </a:lnTo>
                      <a:lnTo>
                        <a:pt x="9120" y="11338"/>
                      </a:lnTo>
                      <a:lnTo>
                        <a:pt x="9254" y="11341"/>
                      </a:lnTo>
                      <a:lnTo>
                        <a:pt x="9384" y="11342"/>
                      </a:lnTo>
                      <a:lnTo>
                        <a:pt x="9510" y="11342"/>
                      </a:lnTo>
                      <a:lnTo>
                        <a:pt x="9572" y="11341"/>
                      </a:lnTo>
                      <a:lnTo>
                        <a:pt x="9633" y="11340"/>
                      </a:lnTo>
                      <a:lnTo>
                        <a:pt x="9694" y="11338"/>
                      </a:lnTo>
                      <a:lnTo>
                        <a:pt x="9754" y="11336"/>
                      </a:lnTo>
                      <a:lnTo>
                        <a:pt x="9814" y="11333"/>
                      </a:lnTo>
                      <a:lnTo>
                        <a:pt x="9873" y="11330"/>
                      </a:lnTo>
                      <a:lnTo>
                        <a:pt x="9932" y="11326"/>
                      </a:lnTo>
                      <a:lnTo>
                        <a:pt x="9992" y="11321"/>
                      </a:lnTo>
                      <a:lnTo>
                        <a:pt x="10052" y="11317"/>
                      </a:lnTo>
                      <a:lnTo>
                        <a:pt x="10110" y="11311"/>
                      </a:lnTo>
                      <a:lnTo>
                        <a:pt x="10170" y="11305"/>
                      </a:lnTo>
                      <a:lnTo>
                        <a:pt x="10231" y="11298"/>
                      </a:lnTo>
                      <a:lnTo>
                        <a:pt x="10290" y="11290"/>
                      </a:lnTo>
                      <a:lnTo>
                        <a:pt x="10351" y="11282"/>
                      </a:lnTo>
                      <a:lnTo>
                        <a:pt x="10412" y="11272"/>
                      </a:lnTo>
                      <a:lnTo>
                        <a:pt x="10474" y="11263"/>
                      </a:lnTo>
                      <a:lnTo>
                        <a:pt x="10537" y="11252"/>
                      </a:lnTo>
                      <a:lnTo>
                        <a:pt x="10600" y="11241"/>
                      </a:lnTo>
                      <a:lnTo>
                        <a:pt x="10665" y="11229"/>
                      </a:lnTo>
                      <a:lnTo>
                        <a:pt x="10730" y="11217"/>
                      </a:lnTo>
                      <a:lnTo>
                        <a:pt x="10797" y="11203"/>
                      </a:lnTo>
                      <a:lnTo>
                        <a:pt x="10864" y="11189"/>
                      </a:lnTo>
                      <a:lnTo>
                        <a:pt x="10934" y="11173"/>
                      </a:lnTo>
                      <a:lnTo>
                        <a:pt x="11004" y="11157"/>
                      </a:lnTo>
                      <a:lnTo>
                        <a:pt x="11167" y="11118"/>
                      </a:lnTo>
                      <a:lnTo>
                        <a:pt x="11368" y="11067"/>
                      </a:lnTo>
                      <a:lnTo>
                        <a:pt x="11598" y="11008"/>
                      </a:lnTo>
                      <a:lnTo>
                        <a:pt x="11854" y="10940"/>
                      </a:lnTo>
                      <a:lnTo>
                        <a:pt x="12126" y="10867"/>
                      </a:lnTo>
                      <a:lnTo>
                        <a:pt x="12409" y="10792"/>
                      </a:lnTo>
                      <a:lnTo>
                        <a:pt x="12697" y="10714"/>
                      </a:lnTo>
                      <a:lnTo>
                        <a:pt x="12983" y="10636"/>
                      </a:lnTo>
                      <a:lnTo>
                        <a:pt x="13259" y="10560"/>
                      </a:lnTo>
                      <a:lnTo>
                        <a:pt x="13521" y="10489"/>
                      </a:lnTo>
                      <a:lnTo>
                        <a:pt x="13760" y="10423"/>
                      </a:lnTo>
                      <a:lnTo>
                        <a:pt x="13970" y="10364"/>
                      </a:lnTo>
                      <a:lnTo>
                        <a:pt x="14146" y="10316"/>
                      </a:lnTo>
                      <a:lnTo>
                        <a:pt x="14279" y="10278"/>
                      </a:lnTo>
                      <a:lnTo>
                        <a:pt x="14363" y="10255"/>
                      </a:lnTo>
                      <a:lnTo>
                        <a:pt x="14393" y="10247"/>
                      </a:lnTo>
                      <a:close/>
                    </a:path>
                  </a:pathLst>
                </a:custGeom>
                <a:solidFill>
                  <a:schemeClr val="bg2">
                    <a:lumMod val="50000"/>
                  </a:schemeClr>
                </a:solidFill>
                <a:ln w="12700">
                  <a:noFill/>
                  <a:round/>
                </a:ln>
              </p:spPr>
              <p:txBody>
                <a:bodyPr vert="horz" wrap="square" lIns="89807" tIns="44901" rIns="89807" bIns="44901" numCol="1" anchor="t" anchorCtr="0" compatLnSpc="1">
                  <a:noAutofit/>
                </a:bodyPr>
                <a:lstStyle/>
                <a:p>
                  <a:pPr defTabSz="1197610" fontAlgn="ctr">
                    <a:defRPr/>
                  </a:pPr>
                  <a:endParaRPr lang="zh-CN" altLang="en-US" sz="700" kern="0" dirty="0">
                    <a:ln w="0"/>
                    <a:solidFill>
                      <a:prstClr val="white"/>
                    </a:solidFill>
                    <a:effectLst>
                      <a:outerShdw blurRad="38100" dist="25400" dir="5400000" algn="ctr" rotWithShape="0">
                        <a:srgbClr val="6E747A">
                          <a:alpha val="43000"/>
                        </a:srgbClr>
                      </a:outerShdw>
                    </a:effectLst>
                    <a:cs typeface="+mn-ea"/>
                    <a:sym typeface="Huawei Sans" panose="020C0503030203020204" pitchFamily="34" charset="0"/>
                  </a:endParaRPr>
                </a:p>
              </p:txBody>
            </p:sp>
          </p:grpSp>
          <p:sp>
            <p:nvSpPr>
              <p:cNvPr id="60" name="文本框 59">
                <a:extLst>
                  <a:ext uri="{FF2B5EF4-FFF2-40B4-BE49-F238E27FC236}">
                    <a16:creationId xmlns:a16="http://schemas.microsoft.com/office/drawing/2014/main" id="{191606F8-EB59-4905-8275-71BF315B5D5F}"/>
                  </a:ext>
                </a:extLst>
              </p:cNvPr>
              <p:cNvSpPr txBox="1"/>
              <p:nvPr/>
            </p:nvSpPr>
            <p:spPr>
              <a:xfrm>
                <a:off x="2041471" y="1697960"/>
                <a:ext cx="1571191" cy="423025"/>
              </a:xfrm>
              <a:prstGeom prst="rect">
                <a:avLst/>
              </a:prstGeom>
              <a:noFill/>
            </p:spPr>
            <p:txBody>
              <a:bodyPr wrap="square" rtlCol="0">
                <a:spAutoFit/>
              </a:bodyPr>
              <a:lstStyle/>
              <a:p>
                <a:r>
                  <a:rPr lang="en-US" altLang="en-US" sz="800" dirty="0">
                    <a:solidFill>
                      <a:srgbClr val="1D1D1A"/>
                    </a:solidFill>
                    <a:latin typeface="Microsoft YaHei" panose="020B0503020204020204" pitchFamily="34" charset="-122"/>
                    <a:ea typeface="Microsoft YaHei" panose="020B0503020204020204" pitchFamily="34" charset="-122"/>
                  </a:rPr>
                  <a:t>Campus Assets</a:t>
                </a:r>
              </a:p>
            </p:txBody>
          </p:sp>
        </p:grpSp>
        <p:cxnSp>
          <p:nvCxnSpPr>
            <p:cNvPr id="34" name="肘形连接符 326">
              <a:extLst>
                <a:ext uri="{FF2B5EF4-FFF2-40B4-BE49-F238E27FC236}">
                  <a16:creationId xmlns:a16="http://schemas.microsoft.com/office/drawing/2014/main" id="{1C8B3B49-A503-42B0-8D36-B1FA30542352}"/>
                </a:ext>
              </a:extLst>
            </p:cNvPr>
            <p:cNvCxnSpPr>
              <a:stCxn id="70" idx="3"/>
            </p:cNvCxnSpPr>
            <p:nvPr/>
          </p:nvCxnSpPr>
          <p:spPr>
            <a:xfrm>
              <a:off x="2835250" y="2141658"/>
              <a:ext cx="1172575" cy="555948"/>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肘形连接符 328">
              <a:extLst>
                <a:ext uri="{FF2B5EF4-FFF2-40B4-BE49-F238E27FC236}">
                  <a16:creationId xmlns:a16="http://schemas.microsoft.com/office/drawing/2014/main" id="{B927F3C1-A2BA-4AF3-8347-3D825F67F212}"/>
                </a:ext>
              </a:extLst>
            </p:cNvPr>
            <p:cNvCxnSpPr>
              <a:stCxn id="61" idx="3"/>
            </p:cNvCxnSpPr>
            <p:nvPr/>
          </p:nvCxnSpPr>
          <p:spPr>
            <a:xfrm flipV="1">
              <a:off x="2818027" y="3036262"/>
              <a:ext cx="1189798" cy="475167"/>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肘形连接符 135">
              <a:extLst>
                <a:ext uri="{FF2B5EF4-FFF2-40B4-BE49-F238E27FC236}">
                  <a16:creationId xmlns:a16="http://schemas.microsoft.com/office/drawing/2014/main" id="{223F70F3-CA95-4179-B7E8-E11B5FC337A9}"/>
                </a:ext>
              </a:extLst>
            </p:cNvPr>
            <p:cNvCxnSpPr/>
            <p:nvPr/>
          </p:nvCxnSpPr>
          <p:spPr>
            <a:xfrm flipV="1">
              <a:off x="2859428" y="2870827"/>
              <a:ext cx="1193246" cy="1"/>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27B73825-B778-49DB-B79B-572590AFE87E}"/>
                </a:ext>
              </a:extLst>
            </p:cNvPr>
            <p:cNvSpPr/>
            <p:nvPr/>
          </p:nvSpPr>
          <p:spPr>
            <a:xfrm>
              <a:off x="6138333" y="3729731"/>
              <a:ext cx="3033445" cy="392810"/>
            </a:xfrm>
            <a:prstGeom prst="rect">
              <a:avLst/>
            </a:prstGeom>
          </p:spPr>
          <p:txBody>
            <a:bodyPr wrap="square">
              <a:spAutoFit/>
            </a:bodyPr>
            <a:lstStyle/>
            <a:p>
              <a:pPr algn="ctr"/>
              <a:r>
                <a:rPr lang="en-US" altLang="en-US" sz="700" dirty="0">
                  <a:solidFill>
                    <a:schemeClr val="tx1">
                      <a:lumMod val="65000"/>
                      <a:lumOff val="35000"/>
                    </a:schemeClr>
                  </a:solidFill>
                  <a:latin typeface="微软雅黑" panose="020B0503020204020204" pitchFamily="34" charset="-122"/>
                  <a:ea typeface="微软雅黑" panose="020B0503020204020204" pitchFamily="34" charset="-122"/>
                </a:rPr>
                <a:t>Industry slicing private network</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8" name="肘形连接符 263">
              <a:extLst>
                <a:ext uri="{FF2B5EF4-FFF2-40B4-BE49-F238E27FC236}">
                  <a16:creationId xmlns:a16="http://schemas.microsoft.com/office/drawing/2014/main" id="{9D96BB18-E54E-4909-A444-600A4251A35D}"/>
                </a:ext>
              </a:extLst>
            </p:cNvPr>
            <p:cNvCxnSpPr>
              <a:stCxn id="55" idx="5"/>
            </p:cNvCxnSpPr>
            <p:nvPr/>
          </p:nvCxnSpPr>
          <p:spPr>
            <a:xfrm flipV="1">
              <a:off x="8168816" y="2245283"/>
              <a:ext cx="1661676" cy="473366"/>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9" name="Freeform 6">
              <a:extLst>
                <a:ext uri="{FF2B5EF4-FFF2-40B4-BE49-F238E27FC236}">
                  <a16:creationId xmlns:a16="http://schemas.microsoft.com/office/drawing/2014/main" id="{310A14EC-556D-40F1-B3B4-14A49B3E9BB5}"/>
                </a:ext>
              </a:extLst>
            </p:cNvPr>
            <p:cNvSpPr>
              <a:spLocks/>
            </p:cNvSpPr>
            <p:nvPr/>
          </p:nvSpPr>
          <p:spPr bwMode="auto">
            <a:xfrm>
              <a:off x="9624160" y="1952569"/>
              <a:ext cx="752725" cy="466790"/>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cxnSp>
          <p:nvCxnSpPr>
            <p:cNvPr id="40" name="肘形连接符 269">
              <a:extLst>
                <a:ext uri="{FF2B5EF4-FFF2-40B4-BE49-F238E27FC236}">
                  <a16:creationId xmlns:a16="http://schemas.microsoft.com/office/drawing/2014/main" id="{CC73387E-9ACA-4F4B-A54A-B73BF3DF437D}"/>
                </a:ext>
              </a:extLst>
            </p:cNvPr>
            <p:cNvCxnSpPr>
              <a:stCxn id="54" idx="5"/>
            </p:cNvCxnSpPr>
            <p:nvPr/>
          </p:nvCxnSpPr>
          <p:spPr>
            <a:xfrm>
              <a:off x="8443701" y="3062043"/>
              <a:ext cx="1493835" cy="427467"/>
            </a:xfrm>
            <a:prstGeom prst="bentConnector3">
              <a:avLst>
                <a:gd name="adj1"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1" name="Freeform 6">
              <a:extLst>
                <a:ext uri="{FF2B5EF4-FFF2-40B4-BE49-F238E27FC236}">
                  <a16:creationId xmlns:a16="http://schemas.microsoft.com/office/drawing/2014/main" id="{F41C6E84-615E-4774-808B-86B61B7DD367}"/>
                </a:ext>
              </a:extLst>
            </p:cNvPr>
            <p:cNvSpPr>
              <a:spLocks/>
            </p:cNvSpPr>
            <p:nvPr/>
          </p:nvSpPr>
          <p:spPr bwMode="auto">
            <a:xfrm>
              <a:off x="9675944" y="3248243"/>
              <a:ext cx="752725" cy="466790"/>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cxnSp>
          <p:nvCxnSpPr>
            <p:cNvPr id="42" name="直接连接符 41">
              <a:extLst>
                <a:ext uri="{FF2B5EF4-FFF2-40B4-BE49-F238E27FC236}">
                  <a16:creationId xmlns:a16="http://schemas.microsoft.com/office/drawing/2014/main" id="{3D6D52E9-6B53-4A25-B7B8-957A1A17D03B}"/>
                </a:ext>
              </a:extLst>
            </p:cNvPr>
            <p:cNvCxnSpPr>
              <a:stCxn id="53" idx="5"/>
            </p:cNvCxnSpPr>
            <p:nvPr/>
          </p:nvCxnSpPr>
          <p:spPr>
            <a:xfrm flipV="1">
              <a:off x="8321495" y="2870828"/>
              <a:ext cx="1769929" cy="15189"/>
            </a:xfrm>
            <a:prstGeom prst="line">
              <a:avLst/>
            </a:prstGeom>
          </p:spPr>
          <p:style>
            <a:lnRef idx="1">
              <a:schemeClr val="accent1"/>
            </a:lnRef>
            <a:fillRef idx="0">
              <a:schemeClr val="accent1"/>
            </a:fillRef>
            <a:effectRef idx="0">
              <a:schemeClr val="accent1"/>
            </a:effectRef>
            <a:fontRef idx="minor">
              <a:schemeClr val="tx1"/>
            </a:fontRef>
          </p:style>
        </p:cxnSp>
        <p:sp>
          <p:nvSpPr>
            <p:cNvPr id="43" name="Freeform 6">
              <a:extLst>
                <a:ext uri="{FF2B5EF4-FFF2-40B4-BE49-F238E27FC236}">
                  <a16:creationId xmlns:a16="http://schemas.microsoft.com/office/drawing/2014/main" id="{180B766E-C6C5-40CB-9ED1-930D1B8D4F4A}"/>
                </a:ext>
              </a:extLst>
            </p:cNvPr>
            <p:cNvSpPr>
              <a:spLocks/>
            </p:cNvSpPr>
            <p:nvPr/>
          </p:nvSpPr>
          <p:spPr bwMode="auto">
            <a:xfrm>
              <a:off x="9632805" y="2586795"/>
              <a:ext cx="756737" cy="467138"/>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FFFFF"/>
            </a:solidFill>
            <a:ln w="3175">
              <a:solidFill>
                <a:srgbClr val="C00000"/>
              </a:solidFill>
            </a:ln>
            <a:effectLst>
              <a:outerShdw blurRad="50800" dist="38100" dir="2700000" algn="tl" rotWithShape="0">
                <a:prstClr val="black">
                  <a:alpha val="40000"/>
                </a:prstClr>
              </a:outerShdw>
            </a:effectLst>
          </p:spPr>
          <p:txBody>
            <a:bodyPr rtlCol="0" anchor="b"/>
            <a:lstStyle/>
            <a:p>
              <a:pPr algn="ctr" defTabSz="914387"/>
              <a:endParaRPr lang="en-US" altLang="zh-CN" sz="800" kern="0" dirty="0">
                <a:solidFill>
                  <a:srgbClr val="1D1D1A"/>
                </a:solidFill>
                <a:latin typeface="Huawei Sans" panose="020C0503030203020204" pitchFamily="34" charset="0"/>
                <a:ea typeface="方正兰亭黑简体" panose="02000000000000000000" pitchFamily="2" charset="-122"/>
                <a:sym typeface="微软雅黑" panose="020B0503020204020204" pitchFamily="34" charset="-122"/>
              </a:endParaRPr>
            </a:p>
          </p:txBody>
        </p:sp>
        <p:sp>
          <p:nvSpPr>
            <p:cNvPr id="44" name="文本框 43">
              <a:extLst>
                <a:ext uri="{FF2B5EF4-FFF2-40B4-BE49-F238E27FC236}">
                  <a16:creationId xmlns:a16="http://schemas.microsoft.com/office/drawing/2014/main" id="{2052019A-7A14-455A-87E8-E9DAFCF9E6C5}"/>
                </a:ext>
              </a:extLst>
            </p:cNvPr>
            <p:cNvSpPr txBox="1"/>
            <p:nvPr/>
          </p:nvSpPr>
          <p:spPr>
            <a:xfrm>
              <a:off x="3778355" y="3331209"/>
              <a:ext cx="1669513" cy="392810"/>
            </a:xfrm>
            <a:prstGeom prst="rect">
              <a:avLst/>
            </a:prstGeom>
            <a:noFill/>
          </p:spPr>
          <p:txBody>
            <a:bodyPr wrap="square" rtlCol="0">
              <a:spAutoFit/>
            </a:bodyPr>
            <a:lstStyle/>
            <a:p>
              <a:pPr algn="ctr"/>
              <a:r>
                <a:rPr lang="en-US" altLang="zh-CN" sz="7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A821 E</a:t>
              </a:r>
            </a:p>
          </p:txBody>
        </p:sp>
        <p:grpSp>
          <p:nvGrpSpPr>
            <p:cNvPr id="46" name="组合 45">
              <a:extLst>
                <a:ext uri="{FF2B5EF4-FFF2-40B4-BE49-F238E27FC236}">
                  <a16:creationId xmlns:a16="http://schemas.microsoft.com/office/drawing/2014/main" id="{98FEE258-7316-4583-B4A0-CA3D3DE68D7E}"/>
                </a:ext>
              </a:extLst>
            </p:cNvPr>
            <p:cNvGrpSpPr/>
            <p:nvPr/>
          </p:nvGrpSpPr>
          <p:grpSpPr>
            <a:xfrm>
              <a:off x="6011941" y="2407490"/>
              <a:ext cx="2703676" cy="1306938"/>
              <a:chOff x="7554949" y="2662797"/>
              <a:chExt cx="2703676" cy="1388306"/>
            </a:xfrm>
          </p:grpSpPr>
          <p:grpSp>
            <p:nvGrpSpPr>
              <p:cNvPr id="51" name="组合 50">
                <a:extLst>
                  <a:ext uri="{FF2B5EF4-FFF2-40B4-BE49-F238E27FC236}">
                    <a16:creationId xmlns:a16="http://schemas.microsoft.com/office/drawing/2014/main" id="{E9B6089F-790C-4251-A7A4-E7E5B80E10F6}"/>
                  </a:ext>
                </a:extLst>
              </p:cNvPr>
              <p:cNvGrpSpPr/>
              <p:nvPr/>
            </p:nvGrpSpPr>
            <p:grpSpPr>
              <a:xfrm flipH="1">
                <a:off x="7641679" y="3076043"/>
                <a:ext cx="2491617" cy="811799"/>
                <a:chOff x="6807606" y="3042252"/>
                <a:chExt cx="2549754" cy="766657"/>
              </a:xfrm>
              <a:solidFill>
                <a:srgbClr val="A3A3A3">
                  <a:alpha val="43137"/>
                </a:srgbClr>
              </a:solidFill>
            </p:grpSpPr>
            <p:sp>
              <p:nvSpPr>
                <p:cNvPr id="56" name="平行四边形 55">
                  <a:extLst>
                    <a:ext uri="{FF2B5EF4-FFF2-40B4-BE49-F238E27FC236}">
                      <a16:creationId xmlns:a16="http://schemas.microsoft.com/office/drawing/2014/main" id="{8786E213-9A29-4993-900A-6FD56D730FD4}"/>
                    </a:ext>
                  </a:extLst>
                </p:cNvPr>
                <p:cNvSpPr/>
                <p:nvPr/>
              </p:nvSpPr>
              <p:spPr>
                <a:xfrm>
                  <a:off x="6807606" y="320989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7" name="平行四边形 56">
                  <a:extLst>
                    <a:ext uri="{FF2B5EF4-FFF2-40B4-BE49-F238E27FC236}">
                      <a16:creationId xmlns:a16="http://schemas.microsoft.com/office/drawing/2014/main" id="{62CE2372-BDAE-465D-962C-2BFB1B3126F4}"/>
                    </a:ext>
                  </a:extLst>
                </p:cNvPr>
                <p:cNvSpPr/>
                <p:nvPr/>
              </p:nvSpPr>
              <p:spPr>
                <a:xfrm>
                  <a:off x="6807606" y="336991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8" name="平行四边形 57">
                  <a:extLst>
                    <a:ext uri="{FF2B5EF4-FFF2-40B4-BE49-F238E27FC236}">
                      <a16:creationId xmlns:a16="http://schemas.microsoft.com/office/drawing/2014/main" id="{38C2133F-3B56-4187-8262-C1399CBE9EFB}"/>
                    </a:ext>
                  </a:extLst>
                </p:cNvPr>
                <p:cNvSpPr/>
                <p:nvPr/>
              </p:nvSpPr>
              <p:spPr>
                <a:xfrm>
                  <a:off x="6807606" y="3042252"/>
                  <a:ext cx="2549754" cy="438997"/>
                </a:xfrm>
                <a:prstGeom prst="parallelogram">
                  <a:avLst>
                    <a:gd name="adj" fmla="val 86151"/>
                  </a:avLst>
                </a:prstGeom>
                <a:grp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grpSp>
          <p:sp>
            <p:nvSpPr>
              <p:cNvPr id="52" name="圆柱形 83">
                <a:extLst>
                  <a:ext uri="{FF2B5EF4-FFF2-40B4-BE49-F238E27FC236}">
                    <a16:creationId xmlns:a16="http://schemas.microsoft.com/office/drawing/2014/main" id="{DBF6FA4C-015B-44E5-A0A3-90BE83B52730}"/>
                  </a:ext>
                </a:extLst>
              </p:cNvPr>
              <p:cNvSpPr/>
              <p:nvPr/>
            </p:nvSpPr>
            <p:spPr>
              <a:xfrm rot="16200000">
                <a:off x="8212634" y="2005112"/>
                <a:ext cx="1388306" cy="2703676"/>
              </a:xfrm>
              <a:prstGeom prst="can">
                <a:avLst>
                  <a:gd name="adj" fmla="val 39015"/>
                </a:avLst>
              </a:prstGeom>
              <a:gradFill flip="none" rotWithShape="1">
                <a:gsLst>
                  <a:gs pos="0">
                    <a:srgbClr val="666666">
                      <a:lumMod val="75000"/>
                      <a:alpha val="55000"/>
                    </a:srgbClr>
                  </a:gs>
                  <a:gs pos="53000">
                    <a:srgbClr val="666666">
                      <a:lumMod val="20000"/>
                      <a:lumOff val="80000"/>
                      <a:alpha val="1000"/>
                    </a:srgbClr>
                  </a:gs>
                  <a:gs pos="100000">
                    <a:srgbClr val="666666">
                      <a:lumMod val="75000"/>
                      <a:alpha val="55000"/>
                    </a:srgbClr>
                  </a:gs>
                </a:gsLst>
                <a:lin ang="0" scaled="1"/>
                <a:tileRect/>
              </a:gradFill>
              <a:ln w="12700" cap="flat" cmpd="sng" algn="ctr">
                <a:solidFill>
                  <a:srgbClr val="666666">
                    <a:lumMod val="20000"/>
                    <a:lumOff val="80000"/>
                  </a:srgbClr>
                </a:solid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3" name="平行四边形 52">
                <a:extLst>
                  <a:ext uri="{FF2B5EF4-FFF2-40B4-BE49-F238E27FC236}">
                    <a16:creationId xmlns:a16="http://schemas.microsoft.com/office/drawing/2014/main" id="{4C314092-56E4-4E52-9A20-3407B620BE6E}"/>
                  </a:ext>
                </a:extLst>
              </p:cNvPr>
              <p:cNvSpPr/>
              <p:nvPr/>
            </p:nvSpPr>
            <p:spPr>
              <a:xfrm flipH="1">
                <a:off x="7792920" y="3102866"/>
                <a:ext cx="2126935" cy="136501"/>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4" name="平行四边形 53">
                <a:extLst>
                  <a:ext uri="{FF2B5EF4-FFF2-40B4-BE49-F238E27FC236}">
                    <a16:creationId xmlns:a16="http://schemas.microsoft.com/office/drawing/2014/main" id="{1900B0CD-DBFE-4669-A7EF-991C6E1A1154}"/>
                  </a:ext>
                </a:extLst>
              </p:cNvPr>
              <p:cNvSpPr/>
              <p:nvPr/>
            </p:nvSpPr>
            <p:spPr>
              <a:xfrm flipH="1">
                <a:off x="7949098" y="3299327"/>
                <a:ext cx="2085279" cy="117552"/>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sp>
            <p:nvSpPr>
              <p:cNvPr id="55" name="平行四边形 54">
                <a:extLst>
                  <a:ext uri="{FF2B5EF4-FFF2-40B4-BE49-F238E27FC236}">
                    <a16:creationId xmlns:a16="http://schemas.microsoft.com/office/drawing/2014/main" id="{6F54E91F-FDA8-4BB9-9F17-62E56359321A}"/>
                  </a:ext>
                </a:extLst>
              </p:cNvPr>
              <p:cNvSpPr/>
              <p:nvPr/>
            </p:nvSpPr>
            <p:spPr>
              <a:xfrm flipH="1">
                <a:off x="7641678" y="2923306"/>
                <a:ext cx="2126935" cy="140045"/>
              </a:xfrm>
              <a:prstGeom prst="parallelogram">
                <a:avLst>
                  <a:gd name="adj" fmla="val 86151"/>
                </a:avLst>
              </a:prstGeom>
              <a:solidFill>
                <a:srgbClr val="C00000">
                  <a:alpha val="50000"/>
                </a:srgbClr>
              </a:solidFill>
              <a:ln w="12700" cap="flat" cmpd="sng" algn="ctr">
                <a:noFill/>
                <a:prstDash val="solid"/>
                <a:miter lim="800000"/>
              </a:ln>
              <a:effectLst/>
            </p:spPr>
            <p:txBody>
              <a:bodyPr rtlCol="0" anchor="ctr"/>
              <a:lstStyle/>
              <a:p>
                <a:pPr algn="ctr" defTabSz="914400">
                  <a:defRPr/>
                </a:pPr>
                <a:endParaRPr lang="zh-CN" altLang="en-US" kern="0">
                  <a:solidFill>
                    <a:srgbClr val="666666"/>
                  </a:solidFill>
                  <a:latin typeface="Arial" panose="020B0604020202020204"/>
                  <a:ea typeface="黑体" panose="02010609060101010101" pitchFamily="49" charset="-122"/>
                </a:endParaRPr>
              </a:p>
            </p:txBody>
          </p:sp>
        </p:grpSp>
        <p:pic>
          <p:nvPicPr>
            <p:cNvPr id="47" name="Picture 19" descr="\\Bchief-sever180\共享\华为\2016\6月\D-201606417-金融营销材料设计-刘泉\文件\link\组 26.png">
              <a:extLst>
                <a:ext uri="{FF2B5EF4-FFF2-40B4-BE49-F238E27FC236}">
                  <a16:creationId xmlns:a16="http://schemas.microsoft.com/office/drawing/2014/main" id="{B2095E1E-A853-477C-AA8D-2129F34CAB4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a:fillRect/>
            </a:stretch>
          </p:blipFill>
          <p:spPr bwMode="auto">
            <a:xfrm rot="10800000">
              <a:off x="3763002" y="1662401"/>
              <a:ext cx="4703996" cy="700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13">
              <a:extLst>
                <a:ext uri="{FF2B5EF4-FFF2-40B4-BE49-F238E27FC236}">
                  <a16:creationId xmlns:a16="http://schemas.microsoft.com/office/drawing/2014/main" id="{2C5CA1E4-DF13-4A68-AED6-EFD2CDD4C4F7}"/>
                </a:ext>
              </a:extLst>
            </p:cNvPr>
            <p:cNvSpPr>
              <a:spLocks/>
            </p:cNvSpPr>
            <p:nvPr/>
          </p:nvSpPr>
          <p:spPr bwMode="auto">
            <a:xfrm>
              <a:off x="5201123" y="1085802"/>
              <a:ext cx="1795093" cy="760444"/>
            </a:xfrm>
            <a:custGeom>
              <a:avLst/>
              <a:gdLst>
                <a:gd name="T0" fmla="*/ 570 w 662"/>
                <a:gd name="T1" fmla="*/ 174 h 373"/>
                <a:gd name="T2" fmla="*/ 576 w 662"/>
                <a:gd name="T3" fmla="*/ 135 h 373"/>
                <a:gd name="T4" fmla="*/ 441 w 662"/>
                <a:gd name="T5" fmla="*/ 0 h 373"/>
                <a:gd name="T6" fmla="*/ 319 w 662"/>
                <a:gd name="T7" fmla="*/ 77 h 373"/>
                <a:gd name="T8" fmla="*/ 236 w 662"/>
                <a:gd name="T9" fmla="*/ 41 h 373"/>
                <a:gd name="T10" fmla="*/ 122 w 662"/>
                <a:gd name="T11" fmla="*/ 156 h 373"/>
                <a:gd name="T12" fmla="*/ 123 w 662"/>
                <a:gd name="T13" fmla="*/ 174 h 373"/>
                <a:gd name="T14" fmla="*/ 100 w 662"/>
                <a:gd name="T15" fmla="*/ 174 h 373"/>
                <a:gd name="T16" fmla="*/ 0 w 662"/>
                <a:gd name="T17" fmla="*/ 273 h 373"/>
                <a:gd name="T18" fmla="*/ 100 w 662"/>
                <a:gd name="T19" fmla="*/ 373 h 373"/>
                <a:gd name="T20" fmla="*/ 469 w 662"/>
                <a:gd name="T21" fmla="*/ 373 h 373"/>
                <a:gd name="T22" fmla="*/ 563 w 662"/>
                <a:gd name="T23" fmla="*/ 373 h 373"/>
                <a:gd name="T24" fmla="*/ 662 w 662"/>
                <a:gd name="T25" fmla="*/ 273 h 373"/>
                <a:gd name="T26" fmla="*/ 570 w 662"/>
                <a:gd name="T27" fmla="*/ 174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2" h="373">
                  <a:moveTo>
                    <a:pt x="570" y="174"/>
                  </a:moveTo>
                  <a:cubicBezTo>
                    <a:pt x="574" y="162"/>
                    <a:pt x="576" y="148"/>
                    <a:pt x="576" y="135"/>
                  </a:cubicBezTo>
                  <a:cubicBezTo>
                    <a:pt x="576" y="60"/>
                    <a:pt x="515" y="0"/>
                    <a:pt x="441" y="0"/>
                  </a:cubicBezTo>
                  <a:cubicBezTo>
                    <a:pt x="387" y="0"/>
                    <a:pt x="340" y="31"/>
                    <a:pt x="319" y="77"/>
                  </a:cubicBezTo>
                  <a:cubicBezTo>
                    <a:pt x="298" y="55"/>
                    <a:pt x="269" y="41"/>
                    <a:pt x="236" y="41"/>
                  </a:cubicBezTo>
                  <a:cubicBezTo>
                    <a:pt x="173" y="41"/>
                    <a:pt x="122" y="92"/>
                    <a:pt x="122" y="156"/>
                  </a:cubicBezTo>
                  <a:cubicBezTo>
                    <a:pt x="122" y="162"/>
                    <a:pt x="122" y="168"/>
                    <a:pt x="123" y="174"/>
                  </a:cubicBezTo>
                  <a:cubicBezTo>
                    <a:pt x="100" y="174"/>
                    <a:pt x="100" y="174"/>
                    <a:pt x="100" y="174"/>
                  </a:cubicBezTo>
                  <a:cubicBezTo>
                    <a:pt x="45" y="174"/>
                    <a:pt x="0" y="218"/>
                    <a:pt x="0" y="273"/>
                  </a:cubicBezTo>
                  <a:cubicBezTo>
                    <a:pt x="0" y="328"/>
                    <a:pt x="45" y="373"/>
                    <a:pt x="100" y="373"/>
                  </a:cubicBezTo>
                  <a:cubicBezTo>
                    <a:pt x="469" y="373"/>
                    <a:pt x="469" y="373"/>
                    <a:pt x="469" y="373"/>
                  </a:cubicBezTo>
                  <a:cubicBezTo>
                    <a:pt x="563" y="373"/>
                    <a:pt x="563" y="373"/>
                    <a:pt x="563" y="373"/>
                  </a:cubicBezTo>
                  <a:cubicBezTo>
                    <a:pt x="618" y="373"/>
                    <a:pt x="662" y="328"/>
                    <a:pt x="662" y="273"/>
                  </a:cubicBezTo>
                  <a:cubicBezTo>
                    <a:pt x="662" y="221"/>
                    <a:pt x="622" y="178"/>
                    <a:pt x="570" y="174"/>
                  </a:cubicBezTo>
                  <a:close/>
                </a:path>
              </a:pathLst>
            </a:custGeom>
            <a:solidFill>
              <a:srgbClr val="EBEBEB"/>
            </a:solidFill>
            <a:ln>
              <a:solidFill>
                <a:srgbClr val="666666">
                  <a:lumMod val="60000"/>
                  <a:lumOff val="40000"/>
                </a:srgbClr>
              </a:solidFill>
            </a:ln>
          </p:spPr>
          <p:txBody>
            <a:bodyPr vert="horz" wrap="square" lIns="91440" tIns="45720" rIns="91440" bIns="45720" numCol="1" anchor="t" anchorCtr="0" compatLnSpc="1">
              <a:prstTxWarp prst="textNoShape">
                <a:avLst/>
              </a:prstTxWarp>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endParaRPr>
            </a:p>
          </p:txBody>
        </p:sp>
        <p:pic>
          <p:nvPicPr>
            <p:cNvPr id="49" name="图片 48">
              <a:extLst>
                <a:ext uri="{FF2B5EF4-FFF2-40B4-BE49-F238E27FC236}">
                  <a16:creationId xmlns:a16="http://schemas.microsoft.com/office/drawing/2014/main" id="{0226CD3C-4B28-4FD9-995A-9D65B85DC6C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b="83220"/>
            <a:stretch/>
          </p:blipFill>
          <p:spPr>
            <a:xfrm>
              <a:off x="5201123" y="1512485"/>
              <a:ext cx="1463118" cy="303596"/>
            </a:xfrm>
            <a:prstGeom prst="rect">
              <a:avLst/>
            </a:prstGeom>
            <a:noFill/>
          </p:spPr>
        </p:pic>
        <p:cxnSp>
          <p:nvCxnSpPr>
            <p:cNvPr id="50" name="直接连接符 49">
              <a:extLst>
                <a:ext uri="{FF2B5EF4-FFF2-40B4-BE49-F238E27FC236}">
                  <a16:creationId xmlns:a16="http://schemas.microsoft.com/office/drawing/2014/main" id="{7D19515C-7A3C-4E17-B290-98D8D5D85916}"/>
                </a:ext>
              </a:extLst>
            </p:cNvPr>
            <p:cNvCxnSpPr>
              <a:endCxn id="53" idx="2"/>
            </p:cNvCxnSpPr>
            <p:nvPr/>
          </p:nvCxnSpPr>
          <p:spPr>
            <a:xfrm flipV="1">
              <a:off x="4979888" y="2886017"/>
              <a:ext cx="1325376" cy="6553"/>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75" name="object 2">
            <a:extLst>
              <a:ext uri="{FF2B5EF4-FFF2-40B4-BE49-F238E27FC236}">
                <a16:creationId xmlns:a16="http://schemas.microsoft.com/office/drawing/2014/main" id="{1C802691-4F0C-49FD-9B02-8DE034BF495E}"/>
              </a:ext>
            </a:extLst>
          </p:cNvPr>
          <p:cNvSpPr txBox="1"/>
          <p:nvPr/>
        </p:nvSpPr>
        <p:spPr>
          <a:xfrm>
            <a:off x="1103090" y="7053362"/>
            <a:ext cx="1499235"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A821 E (AC)</a:t>
            </a:r>
            <a:endParaRPr sz="900" dirty="0">
              <a:latin typeface="微软雅黑"/>
              <a:cs typeface="微软雅黑"/>
            </a:endParaRPr>
          </a:p>
        </p:txBody>
      </p:sp>
      <p:sp>
        <p:nvSpPr>
          <p:cNvPr id="76" name="object 2">
            <a:extLst>
              <a:ext uri="{FF2B5EF4-FFF2-40B4-BE49-F238E27FC236}">
                <a16:creationId xmlns:a16="http://schemas.microsoft.com/office/drawing/2014/main" id="{AB8A4CE8-E819-4F42-9653-4B743574C480}"/>
              </a:ext>
            </a:extLst>
          </p:cNvPr>
          <p:cNvSpPr txBox="1"/>
          <p:nvPr/>
        </p:nvSpPr>
        <p:spPr>
          <a:xfrm>
            <a:off x="4311650" y="7053362"/>
            <a:ext cx="1499235"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A821 E (</a:t>
            </a:r>
            <a:r>
              <a:rPr lang="zh-CN" altLang="en-US" sz="900" dirty="0">
                <a:latin typeface="微软雅黑"/>
                <a:cs typeface="微软雅黑"/>
              </a:rPr>
              <a:t>双</a:t>
            </a:r>
            <a:r>
              <a:rPr lang="en-US" altLang="zh-CN" sz="900" dirty="0">
                <a:latin typeface="微软雅黑"/>
                <a:cs typeface="微软雅黑"/>
              </a:rPr>
              <a:t>A</a:t>
            </a:r>
            <a:r>
              <a:rPr lang="en-US" sz="900" dirty="0">
                <a:latin typeface="微软雅黑"/>
                <a:cs typeface="微软雅黑"/>
              </a:rPr>
              <a:t>C)</a:t>
            </a:r>
            <a:endParaRPr sz="900" dirty="0">
              <a:latin typeface="微软雅黑"/>
              <a:cs typeface="微软雅黑"/>
            </a:endParaRPr>
          </a:p>
        </p:txBody>
      </p:sp>
      <p:sp>
        <p:nvSpPr>
          <p:cNvPr id="81" name="object 2">
            <a:extLst>
              <a:ext uri="{FF2B5EF4-FFF2-40B4-BE49-F238E27FC236}">
                <a16:creationId xmlns:a16="http://schemas.microsoft.com/office/drawing/2014/main" id="{18768C80-F208-4A47-9250-924D91D1445D}"/>
              </a:ext>
            </a:extLst>
          </p:cNvPr>
          <p:cNvSpPr txBox="1"/>
          <p:nvPr/>
        </p:nvSpPr>
        <p:spPr>
          <a:xfrm>
            <a:off x="2984340" y="7802662"/>
            <a:ext cx="1740218" cy="153888"/>
          </a:xfrm>
          <a:prstGeom prst="rect">
            <a:avLst/>
          </a:prstGeom>
        </p:spPr>
        <p:txBody>
          <a:bodyPr vert="horz" wrap="square" lIns="0" tIns="15240" rIns="0" bIns="0" rtlCol="0">
            <a:spAutoFit/>
          </a:bodyPr>
          <a:lstStyle/>
          <a:p>
            <a:pPr marL="12700" algn="ctr">
              <a:lnSpc>
                <a:spcPct val="100000"/>
              </a:lnSpc>
              <a:spcBef>
                <a:spcPts val="120"/>
              </a:spcBef>
            </a:pPr>
            <a:r>
              <a:rPr sz="900" dirty="0" err="1">
                <a:latin typeface="微软雅黑"/>
                <a:cs typeface="微软雅黑"/>
              </a:rPr>
              <a:t>NetEngine</a:t>
            </a:r>
            <a:r>
              <a:rPr sz="900" spc="-30" dirty="0">
                <a:latin typeface="微软雅黑"/>
                <a:cs typeface="微软雅黑"/>
              </a:rPr>
              <a:t> </a:t>
            </a:r>
            <a:r>
              <a:rPr lang="en-US" sz="900" dirty="0">
                <a:latin typeface="微软雅黑"/>
                <a:cs typeface="微软雅黑"/>
              </a:rPr>
              <a:t>A821 E (AC+DC)</a:t>
            </a:r>
            <a:endParaRPr sz="900" dirty="0">
              <a:latin typeface="微软雅黑"/>
              <a:cs typeface="微软雅黑"/>
            </a:endParaRPr>
          </a:p>
        </p:txBody>
      </p:sp>
      <p:pic>
        <p:nvPicPr>
          <p:cNvPr id="85" name="图片 84">
            <a:extLst>
              <a:ext uri="{FF2B5EF4-FFF2-40B4-BE49-F238E27FC236}">
                <a16:creationId xmlns:a16="http://schemas.microsoft.com/office/drawing/2014/main" id="{7AD2ACDA-979D-44EF-A1BB-44A130CE08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383273" y="8858865"/>
            <a:ext cx="1006515" cy="221031"/>
          </a:xfrm>
          <a:prstGeom prst="rect">
            <a:avLst/>
          </a:prstGeom>
        </p:spPr>
      </p:pic>
      <p:pic>
        <p:nvPicPr>
          <p:cNvPr id="74" name="Picture 6">
            <a:extLst>
              <a:ext uri="{FF2B5EF4-FFF2-40B4-BE49-F238E27FC236}">
                <a16:creationId xmlns:a16="http://schemas.microsoft.com/office/drawing/2014/main" id="{5D26EAEF-30A3-4BD4-BC99-9F441A7A08D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91210" y="6474636"/>
            <a:ext cx="2722994" cy="534874"/>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0">
            <a:extLst>
              <a:ext uri="{FF2B5EF4-FFF2-40B4-BE49-F238E27FC236}">
                <a16:creationId xmlns:a16="http://schemas.microsoft.com/office/drawing/2014/main" id="{BBF0D1AE-966C-4FF5-87C0-20F9F7BA1ED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60744" y="6489023"/>
            <a:ext cx="3601046" cy="520487"/>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8">
            <a:extLst>
              <a:ext uri="{FF2B5EF4-FFF2-40B4-BE49-F238E27FC236}">
                <a16:creationId xmlns:a16="http://schemas.microsoft.com/office/drawing/2014/main" id="{9CBFCF36-F816-479A-A750-09154CDA4E6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118302" y="7280087"/>
            <a:ext cx="3472295" cy="501877"/>
          </a:xfrm>
          <a:prstGeom prst="rect">
            <a:avLst/>
          </a:prstGeom>
          <a:noFill/>
          <a:extLst>
            <a:ext uri="{909E8E84-426E-40DD-AFC4-6F175D3DCCD1}">
              <a14:hiddenFill xmlns:a14="http://schemas.microsoft.com/office/drawing/2010/main">
                <a:solidFill>
                  <a:srgbClr val="FFFFFF"/>
                </a:solidFill>
              </a14:hiddenFill>
            </a:ext>
          </a:extLst>
        </p:spPr>
      </p:pic>
      <p:sp>
        <p:nvSpPr>
          <p:cNvPr id="79" name="矩形 78">
            <a:extLst>
              <a:ext uri="{FF2B5EF4-FFF2-40B4-BE49-F238E27FC236}">
                <a16:creationId xmlns:a16="http://schemas.microsoft.com/office/drawing/2014/main" id="{CD143681-0A97-4741-99C8-96029E72FEAD}"/>
              </a:ext>
            </a:extLst>
          </p:cNvPr>
          <p:cNvSpPr/>
          <p:nvPr/>
        </p:nvSpPr>
        <p:spPr>
          <a:xfrm>
            <a:off x="1458908" y="6716723"/>
            <a:ext cx="514352" cy="221426"/>
          </a:xfrm>
          <a:prstGeom prst="rect">
            <a:avLst/>
          </a:prstGeom>
          <a:noFill/>
          <a:ln w="12700" cap="flat" cmpd="sng" algn="ctr">
            <a:solidFill>
              <a:srgbClr val="0070C0"/>
            </a:solidFill>
            <a:prstDash val="solid"/>
            <a:miter lim="800000"/>
          </a:ln>
          <a:effectLst/>
        </p:spPr>
        <p:txBody>
          <a:bodyPr rtlCol="0" anchor="ctr"/>
          <a:lstStyle/>
          <a:p>
            <a:pPr algn="ctr" defTabSz="913765">
              <a:defRPr/>
            </a:pPr>
            <a:endParaRPr lang="zh-CN" altLang="en-US" sz="1800" kern="0">
              <a:solidFill>
                <a:prstClr val="white"/>
              </a:solidFill>
              <a:latin typeface="Calibri" panose="020F0502020204030204"/>
              <a:ea typeface="宋体" panose="02010600030101010101" pitchFamily="2" charset="-122"/>
            </a:endParaRPr>
          </a:p>
        </p:txBody>
      </p:sp>
      <p:sp>
        <p:nvSpPr>
          <p:cNvPr id="80" name="矩形 79">
            <a:extLst>
              <a:ext uri="{FF2B5EF4-FFF2-40B4-BE49-F238E27FC236}">
                <a16:creationId xmlns:a16="http://schemas.microsoft.com/office/drawing/2014/main" id="{CF13489F-34B0-41AA-A919-87D48A4C654A}"/>
              </a:ext>
            </a:extLst>
          </p:cNvPr>
          <p:cNvSpPr/>
          <p:nvPr/>
        </p:nvSpPr>
        <p:spPr>
          <a:xfrm>
            <a:off x="1989873" y="6716898"/>
            <a:ext cx="383435" cy="221251"/>
          </a:xfrm>
          <a:prstGeom prst="rect">
            <a:avLst/>
          </a:prstGeom>
          <a:noFill/>
          <a:ln w="12700" cap="flat" cmpd="sng" algn="ctr">
            <a:solidFill>
              <a:srgbClr val="FFC000"/>
            </a:solidFill>
            <a:prstDash val="solid"/>
            <a:miter lim="800000"/>
          </a:ln>
          <a:effectLst/>
        </p:spPr>
        <p:txBody>
          <a:bodyPr rtlCol="0" anchor="ctr"/>
          <a:lstStyle/>
          <a:p>
            <a:pPr algn="ctr" defTabSz="913765">
              <a:defRPr/>
            </a:pPr>
            <a:endParaRPr lang="zh-CN" altLang="en-US" sz="1800" kern="0">
              <a:solidFill>
                <a:prstClr val="white"/>
              </a:solidFill>
              <a:latin typeface="Calibri" panose="020F0502020204030204"/>
              <a:ea typeface="宋体" panose="02010600030101010101" pitchFamily="2" charset="-122"/>
            </a:endParaRPr>
          </a:p>
        </p:txBody>
      </p:sp>
      <p:sp>
        <p:nvSpPr>
          <p:cNvPr id="82" name="矩形 81">
            <a:extLst>
              <a:ext uri="{FF2B5EF4-FFF2-40B4-BE49-F238E27FC236}">
                <a16:creationId xmlns:a16="http://schemas.microsoft.com/office/drawing/2014/main" id="{5208E7D4-8ABA-4249-9E3E-048B6893BADF}"/>
              </a:ext>
            </a:extLst>
          </p:cNvPr>
          <p:cNvSpPr/>
          <p:nvPr/>
        </p:nvSpPr>
        <p:spPr>
          <a:xfrm>
            <a:off x="2389921" y="6713783"/>
            <a:ext cx="228686" cy="224366"/>
          </a:xfrm>
          <a:prstGeom prst="rect">
            <a:avLst/>
          </a:prstGeom>
          <a:noFill/>
          <a:ln w="12700" cap="flat" cmpd="sng" algn="ctr">
            <a:solidFill>
              <a:srgbClr val="7030A0"/>
            </a:solidFill>
            <a:prstDash val="solid"/>
            <a:miter lim="800000"/>
          </a:ln>
          <a:effectLst/>
        </p:spPr>
        <p:txBody>
          <a:bodyPr rtlCol="0" anchor="ctr"/>
          <a:lstStyle/>
          <a:p>
            <a:pPr algn="ctr" defTabSz="913765">
              <a:defRPr/>
            </a:pPr>
            <a:endParaRPr lang="zh-CN" altLang="en-US" sz="1800" kern="0" dirty="0">
              <a:solidFill>
                <a:prstClr val="white"/>
              </a:solidFill>
              <a:latin typeface="Calibri" panose="020F0502020204030204"/>
              <a:ea typeface="宋体" panose="02010600030101010101" pitchFamily="2" charset="-122"/>
            </a:endParaRPr>
          </a:p>
        </p:txBody>
      </p:sp>
      <p:sp>
        <p:nvSpPr>
          <p:cNvPr id="83" name="矩形 82">
            <a:extLst>
              <a:ext uri="{FF2B5EF4-FFF2-40B4-BE49-F238E27FC236}">
                <a16:creationId xmlns:a16="http://schemas.microsoft.com/office/drawing/2014/main" id="{AE28A59B-09DE-4BA6-A880-C2AADEE18A6F}"/>
              </a:ext>
            </a:extLst>
          </p:cNvPr>
          <p:cNvSpPr/>
          <p:nvPr/>
        </p:nvSpPr>
        <p:spPr>
          <a:xfrm>
            <a:off x="2303361" y="6896928"/>
            <a:ext cx="401072" cy="184666"/>
          </a:xfrm>
          <a:prstGeom prst="rect">
            <a:avLst/>
          </a:prstGeom>
        </p:spPr>
        <p:txBody>
          <a:bodyPr wrap="none">
            <a:spAutoFit/>
          </a:bodyPr>
          <a:lstStyle/>
          <a:p>
            <a:pPr defTabSz="913765">
              <a:defRPr/>
            </a:pPr>
            <a:r>
              <a:rPr lang="zh-CN" altLang="en-US" sz="600" kern="0" dirty="0">
                <a:solidFill>
                  <a:srgbClr val="7030A0"/>
                </a:solidFill>
                <a:latin typeface="微软雅黑" panose="020B0503020204020204" pitchFamily="34" charset="-122"/>
                <a:ea typeface="微软雅黑" panose="020B0503020204020204" pitchFamily="34" charset="-122"/>
              </a:rPr>
              <a:t>GE/</a:t>
            </a:r>
            <a:r>
              <a:rPr lang="en-US" altLang="zh-CN" sz="600" dirty="0">
                <a:solidFill>
                  <a:srgbClr val="7030A0"/>
                </a:solidFill>
                <a:latin typeface="微软雅黑" panose="020B0503020204020204" pitchFamily="34" charset="-122"/>
                <a:ea typeface="微软雅黑" panose="020B0503020204020204" pitchFamily="34" charset="-122"/>
              </a:rPr>
              <a:t>FE</a:t>
            </a:r>
            <a:endParaRPr lang="zh-CN" altLang="en-US" sz="600" kern="0" dirty="0">
              <a:solidFill>
                <a:srgbClr val="7030A0"/>
              </a:solidFill>
              <a:latin typeface="微软雅黑" panose="020B0503020204020204" pitchFamily="34" charset="-122"/>
              <a:ea typeface="微软雅黑" panose="020B0503020204020204" pitchFamily="34" charset="-122"/>
            </a:endParaRPr>
          </a:p>
        </p:txBody>
      </p:sp>
      <p:sp>
        <p:nvSpPr>
          <p:cNvPr id="84" name="矩形 83">
            <a:extLst>
              <a:ext uri="{FF2B5EF4-FFF2-40B4-BE49-F238E27FC236}">
                <a16:creationId xmlns:a16="http://schemas.microsoft.com/office/drawing/2014/main" id="{9AC1A10A-58AD-4881-8F38-E24C7E044ED9}"/>
              </a:ext>
            </a:extLst>
          </p:cNvPr>
          <p:cNvSpPr/>
          <p:nvPr/>
        </p:nvSpPr>
        <p:spPr>
          <a:xfrm>
            <a:off x="1402793" y="6896928"/>
            <a:ext cx="401072" cy="184666"/>
          </a:xfrm>
          <a:prstGeom prst="rect">
            <a:avLst/>
          </a:prstGeom>
        </p:spPr>
        <p:txBody>
          <a:bodyPr wrap="none">
            <a:spAutoFit/>
          </a:bodyPr>
          <a:lstStyle/>
          <a:p>
            <a:pPr defTabSz="913765">
              <a:defRPr/>
            </a:pPr>
            <a:r>
              <a:rPr lang="zh-CN" altLang="en-US" sz="600" kern="0" dirty="0">
                <a:solidFill>
                  <a:srgbClr val="0070C0"/>
                </a:solidFill>
                <a:latin typeface="微软雅黑" panose="020B0503020204020204" pitchFamily="34" charset="-122"/>
                <a:ea typeface="微软雅黑" panose="020B0503020204020204" pitchFamily="34" charset="-122"/>
              </a:rPr>
              <a:t>GE/</a:t>
            </a:r>
            <a:r>
              <a:rPr lang="en-US" altLang="zh-CN" sz="600" kern="0">
                <a:solidFill>
                  <a:srgbClr val="0070C0"/>
                </a:solidFill>
                <a:latin typeface="微软雅黑" panose="020B0503020204020204" pitchFamily="34" charset="-122"/>
                <a:ea typeface="微软雅黑" panose="020B0503020204020204" pitchFamily="34" charset="-122"/>
              </a:rPr>
              <a:t>F</a:t>
            </a:r>
            <a:r>
              <a:rPr lang="zh-CN" altLang="en-US" sz="600" kern="0">
                <a:solidFill>
                  <a:srgbClr val="0070C0"/>
                </a:solidFill>
                <a:latin typeface="微软雅黑" panose="020B0503020204020204" pitchFamily="34" charset="-122"/>
                <a:ea typeface="微软雅黑" panose="020B0503020204020204" pitchFamily="34" charset="-122"/>
              </a:rPr>
              <a:t>E</a:t>
            </a:r>
            <a:endParaRPr lang="zh-CN" altLang="en-US" sz="600" kern="0" dirty="0">
              <a:solidFill>
                <a:srgbClr val="0070C0"/>
              </a:solidFill>
              <a:latin typeface="微软雅黑" panose="020B0503020204020204" pitchFamily="34" charset="-122"/>
              <a:ea typeface="微软雅黑" panose="020B0503020204020204" pitchFamily="34" charset="-122"/>
            </a:endParaRPr>
          </a:p>
        </p:txBody>
      </p:sp>
      <p:sp>
        <p:nvSpPr>
          <p:cNvPr id="86" name="矩形 85">
            <a:extLst>
              <a:ext uri="{FF2B5EF4-FFF2-40B4-BE49-F238E27FC236}">
                <a16:creationId xmlns:a16="http://schemas.microsoft.com/office/drawing/2014/main" id="{258128CC-369C-42DD-B4B4-E09557F2ACE1}"/>
              </a:ext>
            </a:extLst>
          </p:cNvPr>
          <p:cNvSpPr/>
          <p:nvPr/>
        </p:nvSpPr>
        <p:spPr>
          <a:xfrm>
            <a:off x="1852597" y="6896928"/>
            <a:ext cx="623889" cy="184666"/>
          </a:xfrm>
          <a:prstGeom prst="rect">
            <a:avLst/>
          </a:prstGeom>
        </p:spPr>
        <p:txBody>
          <a:bodyPr wrap="none">
            <a:spAutoFit/>
          </a:bodyPr>
          <a:lstStyle/>
          <a:p>
            <a:pPr defTabSz="913765">
              <a:defRPr/>
            </a:pPr>
            <a:r>
              <a:rPr lang="zh-CN" altLang="en-US" sz="600" kern="0" dirty="0">
                <a:solidFill>
                  <a:srgbClr val="FFC000"/>
                </a:solidFill>
                <a:latin typeface="微软雅黑" panose="020B0503020204020204" pitchFamily="34" charset="-122"/>
                <a:ea typeface="微软雅黑" panose="020B0503020204020204" pitchFamily="34" charset="-122"/>
              </a:rPr>
              <a:t>10GE</a:t>
            </a:r>
            <a:r>
              <a:rPr lang="en-US" altLang="zh-CN" sz="600" kern="0" dirty="0">
                <a:solidFill>
                  <a:srgbClr val="FFC000"/>
                </a:solidFill>
                <a:latin typeface="微软雅黑" panose="020B0503020204020204" pitchFamily="34" charset="-122"/>
                <a:ea typeface="微软雅黑" panose="020B0503020204020204" pitchFamily="34" charset="-122"/>
              </a:rPr>
              <a:t>/GE</a:t>
            </a:r>
            <a:r>
              <a:rPr lang="en-US" altLang="zh-CN" sz="600" dirty="0">
                <a:solidFill>
                  <a:srgbClr val="FFC000"/>
                </a:solidFill>
                <a:latin typeface="微软雅黑" panose="020B0503020204020204" pitchFamily="34" charset="-122"/>
                <a:ea typeface="微软雅黑" panose="020B0503020204020204" pitchFamily="34" charset="-122"/>
              </a:rPr>
              <a:t>/</a:t>
            </a:r>
            <a:r>
              <a:rPr lang="en-US" altLang="zh-CN" sz="600" kern="0" dirty="0">
                <a:solidFill>
                  <a:srgbClr val="FFC000"/>
                </a:solidFill>
                <a:latin typeface="微软雅黑" panose="020B0503020204020204" pitchFamily="34" charset="-122"/>
                <a:ea typeface="微软雅黑" panose="020B0503020204020204" pitchFamily="34" charset="-122"/>
              </a:rPr>
              <a:t>FE</a:t>
            </a:r>
            <a:endParaRPr lang="zh-CN" altLang="en-US" sz="600" kern="0"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197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AF63EA40-A0D7-4065-BF48-1A85CE15483D}"/>
              </a:ext>
            </a:extLst>
          </p:cNvPr>
          <p:cNvGrpSpPr/>
          <p:nvPr/>
        </p:nvGrpSpPr>
        <p:grpSpPr>
          <a:xfrm>
            <a:off x="430831" y="1372013"/>
            <a:ext cx="2108347" cy="1200604"/>
            <a:chOff x="695167" y="1303142"/>
            <a:chExt cx="5099770" cy="4889905"/>
          </a:xfrm>
        </p:grpSpPr>
        <p:grpSp>
          <p:nvGrpSpPr>
            <p:cNvPr id="9" name="组合 8">
              <a:extLst>
                <a:ext uri="{FF2B5EF4-FFF2-40B4-BE49-F238E27FC236}">
                  <a16:creationId xmlns:a16="http://schemas.microsoft.com/office/drawing/2014/main" id="{9A5F5DE9-FF8F-4246-9555-22CC4100D759}"/>
                </a:ext>
              </a:extLst>
            </p:cNvPr>
            <p:cNvGrpSpPr/>
            <p:nvPr/>
          </p:nvGrpSpPr>
          <p:grpSpPr>
            <a:xfrm>
              <a:off x="695167" y="1303142"/>
              <a:ext cx="5099770" cy="4889905"/>
              <a:chOff x="523417" y="2159662"/>
              <a:chExt cx="5492414" cy="4889905"/>
            </a:xfrm>
          </p:grpSpPr>
          <p:sp>
            <p:nvSpPr>
              <p:cNvPr id="11" name="矩形 10">
                <a:extLst>
                  <a:ext uri="{FF2B5EF4-FFF2-40B4-BE49-F238E27FC236}">
                    <a16:creationId xmlns:a16="http://schemas.microsoft.com/office/drawing/2014/main" id="{4CCD2193-9FCD-4B3F-97F7-0E1F857958DB}"/>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12" name="组合 11">
                <a:extLst>
                  <a:ext uri="{FF2B5EF4-FFF2-40B4-BE49-F238E27FC236}">
                    <a16:creationId xmlns:a16="http://schemas.microsoft.com/office/drawing/2014/main" id="{14A677E4-E0F9-408C-AA8B-7C40206DC05A}"/>
                  </a:ext>
                </a:extLst>
              </p:cNvPr>
              <p:cNvGrpSpPr/>
              <p:nvPr/>
            </p:nvGrpSpPr>
            <p:grpSpPr>
              <a:xfrm>
                <a:off x="523417" y="2159662"/>
                <a:ext cx="5492414" cy="366438"/>
                <a:chOff x="611210" y="1110638"/>
                <a:chExt cx="1880550" cy="276645"/>
              </a:xfrm>
            </p:grpSpPr>
            <p:sp>
              <p:nvSpPr>
                <p:cNvPr id="13" name="梯形 12">
                  <a:extLst>
                    <a:ext uri="{FF2B5EF4-FFF2-40B4-BE49-F238E27FC236}">
                      <a16:creationId xmlns:a16="http://schemas.microsoft.com/office/drawing/2014/main" id="{F6404BBD-D3C1-4305-A5E6-CA281F0DF6F6}"/>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14" name="梯形 13">
                  <a:extLst>
                    <a:ext uri="{FF2B5EF4-FFF2-40B4-BE49-F238E27FC236}">
                      <a16:creationId xmlns:a16="http://schemas.microsoft.com/office/drawing/2014/main" id="{C21A1193-9D44-465B-A11F-306716D7C00C}"/>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10" name="直接连接符 9">
              <a:extLst>
                <a:ext uri="{FF2B5EF4-FFF2-40B4-BE49-F238E27FC236}">
                  <a16:creationId xmlns:a16="http://schemas.microsoft.com/office/drawing/2014/main" id="{C7B98492-4D36-436C-A48F-BC21878EA652}"/>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grpSp>
        <p:nvGrpSpPr>
          <p:cNvPr id="15" name="组合 14">
            <a:extLst>
              <a:ext uri="{FF2B5EF4-FFF2-40B4-BE49-F238E27FC236}">
                <a16:creationId xmlns:a16="http://schemas.microsoft.com/office/drawing/2014/main" id="{09C5A42A-435A-4C7E-BDDD-B7224EE206DC}"/>
              </a:ext>
            </a:extLst>
          </p:cNvPr>
          <p:cNvGrpSpPr/>
          <p:nvPr/>
        </p:nvGrpSpPr>
        <p:grpSpPr>
          <a:xfrm>
            <a:off x="2711450" y="1386550"/>
            <a:ext cx="2108347" cy="1200604"/>
            <a:chOff x="695167" y="1303142"/>
            <a:chExt cx="5099770" cy="4889905"/>
          </a:xfrm>
        </p:grpSpPr>
        <p:grpSp>
          <p:nvGrpSpPr>
            <p:cNvPr id="16" name="组合 15">
              <a:extLst>
                <a:ext uri="{FF2B5EF4-FFF2-40B4-BE49-F238E27FC236}">
                  <a16:creationId xmlns:a16="http://schemas.microsoft.com/office/drawing/2014/main" id="{CE9CCFCA-C28A-49E4-9369-E8A286374123}"/>
                </a:ext>
              </a:extLst>
            </p:cNvPr>
            <p:cNvGrpSpPr/>
            <p:nvPr/>
          </p:nvGrpSpPr>
          <p:grpSpPr>
            <a:xfrm>
              <a:off x="695167" y="1303142"/>
              <a:ext cx="5099770" cy="4889905"/>
              <a:chOff x="523417" y="2159662"/>
              <a:chExt cx="5492414" cy="4889905"/>
            </a:xfrm>
          </p:grpSpPr>
          <p:sp>
            <p:nvSpPr>
              <p:cNvPr id="18" name="矩形 17">
                <a:extLst>
                  <a:ext uri="{FF2B5EF4-FFF2-40B4-BE49-F238E27FC236}">
                    <a16:creationId xmlns:a16="http://schemas.microsoft.com/office/drawing/2014/main" id="{692F6572-4328-41AE-A464-C869F426881A}"/>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19" name="组合 18">
                <a:extLst>
                  <a:ext uri="{FF2B5EF4-FFF2-40B4-BE49-F238E27FC236}">
                    <a16:creationId xmlns:a16="http://schemas.microsoft.com/office/drawing/2014/main" id="{09D8990B-7018-49A6-85B1-8F42902AF83D}"/>
                  </a:ext>
                </a:extLst>
              </p:cNvPr>
              <p:cNvGrpSpPr/>
              <p:nvPr/>
            </p:nvGrpSpPr>
            <p:grpSpPr>
              <a:xfrm>
                <a:off x="523417" y="2159662"/>
                <a:ext cx="5492414" cy="366438"/>
                <a:chOff x="611210" y="1110638"/>
                <a:chExt cx="1880550" cy="276645"/>
              </a:xfrm>
            </p:grpSpPr>
            <p:sp>
              <p:nvSpPr>
                <p:cNvPr id="20" name="梯形 19">
                  <a:extLst>
                    <a:ext uri="{FF2B5EF4-FFF2-40B4-BE49-F238E27FC236}">
                      <a16:creationId xmlns:a16="http://schemas.microsoft.com/office/drawing/2014/main" id="{FE6C8769-CE2A-4D18-A9BB-E5DCE0F01AA9}"/>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21" name="梯形 20">
                  <a:extLst>
                    <a:ext uri="{FF2B5EF4-FFF2-40B4-BE49-F238E27FC236}">
                      <a16:creationId xmlns:a16="http://schemas.microsoft.com/office/drawing/2014/main" id="{69369F88-22EE-455A-BBA0-F1F2222F89C2}"/>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17" name="直接连接符 16">
              <a:extLst>
                <a:ext uri="{FF2B5EF4-FFF2-40B4-BE49-F238E27FC236}">
                  <a16:creationId xmlns:a16="http://schemas.microsoft.com/office/drawing/2014/main" id="{49F817B8-9549-45D5-9657-8F91FBBD9993}"/>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grpSp>
        <p:nvGrpSpPr>
          <p:cNvPr id="22" name="组合 21">
            <a:extLst>
              <a:ext uri="{FF2B5EF4-FFF2-40B4-BE49-F238E27FC236}">
                <a16:creationId xmlns:a16="http://schemas.microsoft.com/office/drawing/2014/main" id="{633544EA-6502-4573-B62C-F9FE589110B1}"/>
              </a:ext>
            </a:extLst>
          </p:cNvPr>
          <p:cNvGrpSpPr/>
          <p:nvPr/>
        </p:nvGrpSpPr>
        <p:grpSpPr>
          <a:xfrm>
            <a:off x="4997450" y="1402896"/>
            <a:ext cx="2087906" cy="1200604"/>
            <a:chOff x="695167" y="1303142"/>
            <a:chExt cx="5099770" cy="4889905"/>
          </a:xfrm>
        </p:grpSpPr>
        <p:grpSp>
          <p:nvGrpSpPr>
            <p:cNvPr id="23" name="组合 22">
              <a:extLst>
                <a:ext uri="{FF2B5EF4-FFF2-40B4-BE49-F238E27FC236}">
                  <a16:creationId xmlns:a16="http://schemas.microsoft.com/office/drawing/2014/main" id="{C14D92F5-8DEF-47E7-A8E5-10E7010F86D5}"/>
                </a:ext>
              </a:extLst>
            </p:cNvPr>
            <p:cNvGrpSpPr/>
            <p:nvPr/>
          </p:nvGrpSpPr>
          <p:grpSpPr>
            <a:xfrm>
              <a:off x="695167" y="1303142"/>
              <a:ext cx="5099770" cy="4889905"/>
              <a:chOff x="523417" y="2159662"/>
              <a:chExt cx="5492414" cy="4889905"/>
            </a:xfrm>
          </p:grpSpPr>
          <p:sp>
            <p:nvSpPr>
              <p:cNvPr id="25" name="矩形 24">
                <a:extLst>
                  <a:ext uri="{FF2B5EF4-FFF2-40B4-BE49-F238E27FC236}">
                    <a16:creationId xmlns:a16="http://schemas.microsoft.com/office/drawing/2014/main" id="{A638D32A-4653-4FBD-8955-BA969FBFD1DA}"/>
                  </a:ext>
                </a:extLst>
              </p:cNvPr>
              <p:cNvSpPr/>
              <p:nvPr/>
            </p:nvSpPr>
            <p:spPr>
              <a:xfrm>
                <a:off x="523417" y="2593143"/>
                <a:ext cx="5483314" cy="445642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endParaRPr>
              </a:p>
            </p:txBody>
          </p:sp>
          <p:grpSp>
            <p:nvGrpSpPr>
              <p:cNvPr id="26" name="组合 25">
                <a:extLst>
                  <a:ext uri="{FF2B5EF4-FFF2-40B4-BE49-F238E27FC236}">
                    <a16:creationId xmlns:a16="http://schemas.microsoft.com/office/drawing/2014/main" id="{E7857B8B-3F69-4C90-ADC0-CEE93BC5F2FF}"/>
                  </a:ext>
                </a:extLst>
              </p:cNvPr>
              <p:cNvGrpSpPr/>
              <p:nvPr/>
            </p:nvGrpSpPr>
            <p:grpSpPr>
              <a:xfrm>
                <a:off x="523417" y="2159662"/>
                <a:ext cx="5492414" cy="366438"/>
                <a:chOff x="611210" y="1110638"/>
                <a:chExt cx="1880550" cy="276645"/>
              </a:xfrm>
            </p:grpSpPr>
            <p:sp>
              <p:nvSpPr>
                <p:cNvPr id="27" name="梯形 26">
                  <a:extLst>
                    <a:ext uri="{FF2B5EF4-FFF2-40B4-BE49-F238E27FC236}">
                      <a16:creationId xmlns:a16="http://schemas.microsoft.com/office/drawing/2014/main" id="{09FAD9F0-C311-41F0-B0DB-89C5AA80C5C1}"/>
                    </a:ext>
                  </a:extLst>
                </p:cNvPr>
                <p:cNvSpPr/>
                <p:nvPr/>
              </p:nvSpPr>
              <p:spPr>
                <a:xfrm>
                  <a:off x="624643" y="1110638"/>
                  <a:ext cx="1853685" cy="276645"/>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sp>
              <p:nvSpPr>
                <p:cNvPr id="28" name="梯形 27">
                  <a:extLst>
                    <a:ext uri="{FF2B5EF4-FFF2-40B4-BE49-F238E27FC236}">
                      <a16:creationId xmlns:a16="http://schemas.microsoft.com/office/drawing/2014/main" id="{3291837C-6BB5-4822-9B6D-871969C1FC36}"/>
                    </a:ext>
                  </a:extLst>
                </p:cNvPr>
                <p:cNvSpPr/>
                <p:nvPr/>
              </p:nvSpPr>
              <p:spPr>
                <a:xfrm>
                  <a:off x="611210" y="1110638"/>
                  <a:ext cx="1880550" cy="25205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itchFamily="34" charset="0"/>
                  </a:endParaRPr>
                </a:p>
              </p:txBody>
            </p:sp>
          </p:grpSp>
        </p:grpSp>
        <p:cxnSp>
          <p:nvCxnSpPr>
            <p:cNvPr id="24" name="直接连接符 23">
              <a:extLst>
                <a:ext uri="{FF2B5EF4-FFF2-40B4-BE49-F238E27FC236}">
                  <a16:creationId xmlns:a16="http://schemas.microsoft.com/office/drawing/2014/main" id="{50946C45-B497-4CAD-A908-0DCB8AFEF85E}"/>
                </a:ext>
              </a:extLst>
            </p:cNvPr>
            <p:cNvCxnSpPr/>
            <p:nvPr/>
          </p:nvCxnSpPr>
          <p:spPr>
            <a:xfrm>
              <a:off x="1785788" y="1637002"/>
              <a:ext cx="2833209" cy="0"/>
            </a:xfrm>
            <a:prstGeom prst="line">
              <a:avLst/>
            </a:prstGeom>
            <a:noFill/>
            <a:ln w="19050" cap="flat" cmpd="sng" algn="ctr">
              <a:solidFill>
                <a:srgbClr val="C7000B"/>
              </a:solidFill>
              <a:prstDash val="solid"/>
              <a:miter lim="800000"/>
            </a:ln>
            <a:effectLst/>
          </p:spPr>
        </p:cxnSp>
      </p:grpSp>
      <p:sp>
        <p:nvSpPr>
          <p:cNvPr id="29" name="object 10">
            <a:extLst>
              <a:ext uri="{FF2B5EF4-FFF2-40B4-BE49-F238E27FC236}">
                <a16:creationId xmlns:a16="http://schemas.microsoft.com/office/drawing/2014/main" id="{3BD822EB-D0C1-4F00-8801-D30823F77002}"/>
              </a:ext>
            </a:extLst>
          </p:cNvPr>
          <p:cNvSpPr txBox="1"/>
          <p:nvPr/>
        </p:nvSpPr>
        <p:spPr>
          <a:xfrm>
            <a:off x="588655" y="713477"/>
            <a:ext cx="1935463"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Highlights</a:t>
            </a:r>
            <a:endParaRPr sz="1400" dirty="0">
              <a:solidFill>
                <a:srgbClr val="C00000"/>
              </a:solidFill>
              <a:latin typeface="微软雅黑"/>
              <a:cs typeface="微软雅黑"/>
            </a:endParaRPr>
          </a:p>
        </p:txBody>
      </p:sp>
      <p:sp>
        <p:nvSpPr>
          <p:cNvPr id="30" name="object 2">
            <a:extLst>
              <a:ext uri="{FF2B5EF4-FFF2-40B4-BE49-F238E27FC236}">
                <a16:creationId xmlns:a16="http://schemas.microsoft.com/office/drawing/2014/main" id="{CA69CDF5-878B-4292-AAC0-726349BCD4EC}"/>
              </a:ext>
            </a:extLst>
          </p:cNvPr>
          <p:cNvSpPr txBox="1"/>
          <p:nvPr/>
        </p:nvSpPr>
        <p:spPr>
          <a:xfrm>
            <a:off x="580160" y="1231900"/>
            <a:ext cx="1809688" cy="166712"/>
          </a:xfrm>
          <a:prstGeom prst="rect">
            <a:avLst/>
          </a:prstGeom>
        </p:spPr>
        <p:txBody>
          <a:bodyPr vert="horz" wrap="square" lIns="0" tIns="12700" rIns="0" bIns="0" rtlCol="0">
            <a:spAutoFit/>
          </a:bodyPr>
          <a:lstStyle/>
          <a:p>
            <a:pPr marL="12700" algn="ctr">
              <a:lnSpc>
                <a:spcPct val="100000"/>
              </a:lnSpc>
              <a:spcBef>
                <a:spcPts val="100"/>
              </a:spcBef>
            </a:pPr>
            <a:r>
              <a:rPr lang="en-US" altLang="en-US" sz="1000" b="1" spc="-10" dirty="0">
                <a:solidFill>
                  <a:schemeClr val="tx1"/>
                </a:solidFill>
                <a:latin typeface="微软雅黑" panose="020B0503020204020204" pitchFamily="34" charset="-122"/>
                <a:ea typeface="微软雅黑" panose="020B0503020204020204" pitchFamily="34" charset="-122"/>
                <a:cs typeface="宋体"/>
              </a:rPr>
              <a:t>Compact and large capacity</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1" name="object 3">
            <a:extLst>
              <a:ext uri="{FF2B5EF4-FFF2-40B4-BE49-F238E27FC236}">
                <a16:creationId xmlns:a16="http://schemas.microsoft.com/office/drawing/2014/main" id="{84BBE9FA-BAE0-440E-983A-D48428B1DB71}"/>
              </a:ext>
            </a:extLst>
          </p:cNvPr>
          <p:cNvSpPr txBox="1"/>
          <p:nvPr/>
        </p:nvSpPr>
        <p:spPr>
          <a:xfrm>
            <a:off x="511284" y="1547369"/>
            <a:ext cx="1971566" cy="675698"/>
          </a:xfrm>
          <a:prstGeom prst="rect">
            <a:avLst/>
          </a:prstGeom>
        </p:spPr>
        <p:txBody>
          <a:bodyPr vert="horz" wrap="square" lIns="0" tIns="38100" rIns="0" bIns="0" rtlCol="0">
            <a:spAutoFit/>
          </a:bodyPr>
          <a:lstStyle>
            <a:defPPr>
              <a:defRPr kern="0"/>
            </a:defPPr>
            <a:lvl1pPr marL="134620" indent="-122555">
              <a:lnSpc>
                <a:spcPct val="150000"/>
              </a:lnSpc>
              <a:spcBef>
                <a:spcPts val="300"/>
              </a:spcBef>
              <a:buClr>
                <a:srgbClr val="7A7979"/>
              </a:buClr>
              <a:buChar char="•"/>
              <a:tabLst>
                <a:tab pos="135255" algn="l"/>
              </a:tabLst>
              <a:defRPr sz="900">
                <a:solidFill>
                  <a:schemeClr val="tx1"/>
                </a:solidFill>
                <a:latin typeface="微软雅黑" panose="020B0503020204020204" pitchFamily="34" charset="-122"/>
                <a:ea typeface="微软雅黑" panose="020B0503020204020204" pitchFamily="34" charset="-122"/>
                <a:cs typeface="Huawei Sans"/>
              </a:defRPr>
            </a:lvl1pPr>
          </a:lstStyle>
          <a:p>
            <a:r>
              <a:rPr lang="en-US" altLang="en-US" dirty="0"/>
              <a:t>Size: 300 mm deep cabinet, 1 U high</a:t>
            </a:r>
            <a:endParaRPr lang="en-US" altLang="zh-CN" dirty="0"/>
          </a:p>
          <a:p>
            <a:r>
              <a:rPr lang="en-US" altLang="en-US" dirty="0"/>
              <a:t>Capacity: 72 Gbit/s</a:t>
            </a:r>
          </a:p>
        </p:txBody>
      </p:sp>
      <p:sp>
        <p:nvSpPr>
          <p:cNvPr id="32" name="object 4">
            <a:extLst>
              <a:ext uri="{FF2B5EF4-FFF2-40B4-BE49-F238E27FC236}">
                <a16:creationId xmlns:a16="http://schemas.microsoft.com/office/drawing/2014/main" id="{8FE86B04-9A38-42B9-892C-6364B529F52C}"/>
              </a:ext>
            </a:extLst>
          </p:cNvPr>
          <p:cNvSpPr txBox="1"/>
          <p:nvPr/>
        </p:nvSpPr>
        <p:spPr>
          <a:xfrm>
            <a:off x="3043421" y="1231900"/>
            <a:ext cx="1508234" cy="166712"/>
          </a:xfrm>
          <a:prstGeom prst="rect">
            <a:avLst/>
          </a:prstGeom>
        </p:spPr>
        <p:txBody>
          <a:bodyPr vert="horz" wrap="square" lIns="0" tIns="12700" rIns="0" bIns="0" rtlCol="0">
            <a:spAutoFit/>
          </a:bodyPr>
          <a:lstStyle/>
          <a:p>
            <a:pPr marL="12700" algn="ctr">
              <a:lnSpc>
                <a:spcPct val="100000"/>
              </a:lnSpc>
              <a:spcBef>
                <a:spcPts val="100"/>
              </a:spcBef>
            </a:pPr>
            <a:r>
              <a:rPr lang="en-US" sz="1000" b="1" dirty="0">
                <a:solidFill>
                  <a:schemeClr val="tx1"/>
                </a:solidFill>
                <a:latin typeface="微软雅黑" panose="020B0503020204020204" pitchFamily="34" charset="-122"/>
                <a:ea typeface="微软雅黑" panose="020B0503020204020204" pitchFamily="34" charset="-122"/>
                <a:cs typeface="宋体"/>
              </a:rPr>
              <a:t>IPv6+ fully supported</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3" name="object 5">
            <a:extLst>
              <a:ext uri="{FF2B5EF4-FFF2-40B4-BE49-F238E27FC236}">
                <a16:creationId xmlns:a16="http://schemas.microsoft.com/office/drawing/2014/main" id="{A7FEAA2D-005B-4E0F-BDAD-07899330E5D2}"/>
              </a:ext>
            </a:extLst>
          </p:cNvPr>
          <p:cNvSpPr txBox="1"/>
          <p:nvPr/>
        </p:nvSpPr>
        <p:spPr>
          <a:xfrm>
            <a:off x="2827844" y="1547369"/>
            <a:ext cx="1939388" cy="921919"/>
          </a:xfrm>
          <a:prstGeom prst="rect">
            <a:avLst/>
          </a:prstGeom>
        </p:spPr>
        <p:txBody>
          <a:bodyPr vert="horz" wrap="square" lIns="0" tIns="38100" rIns="0" bIns="0" rtlCol="0">
            <a:spAutoFit/>
          </a:bodyPr>
          <a:lstStyle/>
          <a:p>
            <a:pPr marL="134620" indent="-122555">
              <a:lnSpc>
                <a:spcPct val="150000"/>
              </a:lnSpc>
              <a:spcBef>
                <a:spcPts val="300"/>
              </a:spcBef>
              <a:buClr>
                <a:srgbClr val="7A7979"/>
              </a:buClr>
              <a:buFontTx/>
              <a:buChar char="•"/>
              <a:tabLst>
                <a:tab pos="135255" algn="l"/>
              </a:tabLst>
            </a:pP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SRv6 Ready, Simplified Network</a:t>
            </a:r>
            <a:endParaRPr lang="zh-CN" altLang="en-US" sz="900" dirty="0">
              <a:solidFill>
                <a:schemeClr val="tx1"/>
              </a:solidFill>
              <a:latin typeface="微软雅黑" panose="020B0503020204020204" pitchFamily="34" charset="-122"/>
              <a:ea typeface="微软雅黑" panose="020B0503020204020204" pitchFamily="34" charset="-122"/>
              <a:cs typeface="宋体"/>
            </a:endParaRPr>
          </a:p>
          <a:p>
            <a:pPr marL="134620" indent="-122555">
              <a:lnSpc>
                <a:spcPct val="150000"/>
              </a:lnSpc>
              <a:spcBef>
                <a:spcPts val="300"/>
              </a:spcBef>
              <a:buClr>
                <a:srgbClr val="7A7979"/>
              </a:buClr>
              <a:buFontTx/>
              <a:buChar char="•"/>
              <a:tabLst>
                <a:tab pos="135255" algn="l"/>
              </a:tabLst>
            </a:pPr>
            <a:r>
              <a:rPr lang="en-US" altLang="en-US" sz="900" dirty="0">
                <a:solidFill>
                  <a:prstClr val="black"/>
                </a:solidFill>
                <a:latin typeface="微软雅黑" panose="020B0503020204020204" pitchFamily="34" charset="-122"/>
                <a:ea typeface="微软雅黑" panose="020B0503020204020204" pitchFamily="34" charset="-122"/>
                <a:cs typeface="宋体"/>
              </a:rPr>
              <a:t>Network slicing, one network for multiple purposes</a:t>
            </a:r>
            <a:endParaRPr sz="900" dirty="0">
              <a:solidFill>
                <a:schemeClr val="tx1"/>
              </a:solidFill>
              <a:latin typeface="微软雅黑" panose="020B0503020204020204" pitchFamily="34" charset="-122"/>
              <a:ea typeface="微软雅黑" panose="020B0503020204020204" pitchFamily="34" charset="-122"/>
              <a:cs typeface="宋体"/>
            </a:endParaRPr>
          </a:p>
          <a:p>
            <a:pPr marL="124460" indent="-111760">
              <a:lnSpc>
                <a:spcPct val="150000"/>
              </a:lnSpc>
              <a:spcBef>
                <a:spcPts val="300"/>
              </a:spcBef>
              <a:buClr>
                <a:srgbClr val="7A7979"/>
              </a:buClr>
              <a:buSzPct val="112500"/>
              <a:buChar char="•"/>
              <a:tabLst>
                <a:tab pos="124460" algn="l"/>
              </a:tabLst>
            </a:pPr>
            <a:r>
              <a:rPr lang="en-US" altLang="zh-CN" sz="900" dirty="0" err="1">
                <a:solidFill>
                  <a:prstClr val="black"/>
                </a:solidFill>
                <a:latin typeface="微软雅黑" panose="020B0503020204020204" pitchFamily="34" charset="-122"/>
                <a:ea typeface="微软雅黑" panose="020B0503020204020204" pitchFamily="34" charset="-122"/>
                <a:cs typeface="宋体"/>
              </a:rPr>
              <a:t>iFIT</a:t>
            </a:r>
            <a:r>
              <a:rPr lang="en-US" sz="900" dirty="0">
                <a:solidFill>
                  <a:prstClr val="black"/>
                </a:solidFill>
                <a:latin typeface="微软雅黑" panose="020B0503020204020204" pitchFamily="34" charset="-122"/>
                <a:ea typeface="微软雅黑" panose="020B0503020204020204" pitchFamily="34" charset="-122"/>
                <a:cs typeface="宋体"/>
              </a:rPr>
              <a:t>, with-flow detection</a:t>
            </a:r>
            <a:endParaRPr sz="900" dirty="0">
              <a:solidFill>
                <a:schemeClr val="tx1"/>
              </a:solidFill>
              <a:latin typeface="微软雅黑" panose="020B0503020204020204" pitchFamily="34" charset="-122"/>
              <a:ea typeface="微软雅黑" panose="020B0503020204020204" pitchFamily="34" charset="-122"/>
              <a:cs typeface="宋体"/>
            </a:endParaRPr>
          </a:p>
        </p:txBody>
      </p:sp>
      <p:sp>
        <p:nvSpPr>
          <p:cNvPr id="34" name="object 6">
            <a:extLst>
              <a:ext uri="{FF2B5EF4-FFF2-40B4-BE49-F238E27FC236}">
                <a16:creationId xmlns:a16="http://schemas.microsoft.com/office/drawing/2014/main" id="{78682603-C8AA-48A0-9968-8836716D97E5}"/>
              </a:ext>
            </a:extLst>
          </p:cNvPr>
          <p:cNvSpPr txBox="1"/>
          <p:nvPr/>
        </p:nvSpPr>
        <p:spPr>
          <a:xfrm>
            <a:off x="5287286" y="1231900"/>
            <a:ext cx="1508234" cy="166712"/>
          </a:xfrm>
          <a:prstGeom prst="rect">
            <a:avLst/>
          </a:prstGeom>
        </p:spPr>
        <p:txBody>
          <a:bodyPr vert="horz" wrap="square" lIns="0" tIns="12700" rIns="0" bIns="0" rtlCol="0">
            <a:spAutoFit/>
          </a:bodyPr>
          <a:lstStyle/>
          <a:p>
            <a:pPr marL="12700" algn="ctr">
              <a:lnSpc>
                <a:spcPct val="100000"/>
              </a:lnSpc>
              <a:spcBef>
                <a:spcPts val="100"/>
              </a:spcBef>
            </a:pPr>
            <a:r>
              <a:rPr lang="en-US" altLang="en-US" sz="1000" b="1" dirty="0">
                <a:solidFill>
                  <a:schemeClr val="tx1"/>
                </a:solidFill>
                <a:latin typeface="微软雅黑" panose="020B0503020204020204" pitchFamily="34" charset="-122"/>
                <a:ea typeface="微软雅黑" panose="020B0503020204020204" pitchFamily="34" charset="-122"/>
                <a:cs typeface="宋体"/>
              </a:rPr>
              <a:t>Flexible deployment</a:t>
            </a:r>
            <a:endParaRPr sz="1000" b="1" dirty="0">
              <a:solidFill>
                <a:schemeClr val="tx1"/>
              </a:solidFill>
              <a:latin typeface="微软雅黑" panose="020B0503020204020204" pitchFamily="34" charset="-122"/>
              <a:ea typeface="微软雅黑" panose="020B0503020204020204" pitchFamily="34" charset="-122"/>
              <a:cs typeface="宋体"/>
            </a:endParaRPr>
          </a:p>
        </p:txBody>
      </p:sp>
      <p:sp>
        <p:nvSpPr>
          <p:cNvPr id="35" name="object 7">
            <a:extLst>
              <a:ext uri="{FF2B5EF4-FFF2-40B4-BE49-F238E27FC236}">
                <a16:creationId xmlns:a16="http://schemas.microsoft.com/office/drawing/2014/main" id="{AFA83347-7832-435B-B9CE-511211265602}"/>
              </a:ext>
            </a:extLst>
          </p:cNvPr>
          <p:cNvSpPr txBox="1"/>
          <p:nvPr/>
        </p:nvSpPr>
        <p:spPr>
          <a:xfrm>
            <a:off x="4997451" y="1547369"/>
            <a:ext cx="2128218" cy="1102738"/>
          </a:xfrm>
          <a:prstGeom prst="rect">
            <a:avLst/>
          </a:prstGeom>
        </p:spPr>
        <p:txBody>
          <a:bodyPr vert="horz" wrap="square" lIns="0" tIns="36830" rIns="0" bIns="0" rtlCol="0">
            <a:spAutoFit/>
          </a:bodyPr>
          <a:lstStyle/>
          <a:p>
            <a:pPr marL="134620" indent="-121920">
              <a:lnSpc>
                <a:spcPct val="150000"/>
              </a:lnSpc>
              <a:spcBef>
                <a:spcPts val="290"/>
              </a:spcBef>
              <a:buClr>
                <a:srgbClr val="7A7979"/>
              </a:buClr>
              <a:buFont typeface="Huawei Sans"/>
              <a:buChar char="•"/>
              <a:tabLst>
                <a:tab pos="134620" algn="l"/>
              </a:tabLst>
            </a:pPr>
            <a:r>
              <a:rPr lang="en-US" altLang="en-US" sz="900" dirty="0">
                <a:solidFill>
                  <a:prstClr val="black"/>
                </a:solidFill>
                <a:latin typeface="微软雅黑" panose="020B0503020204020204" pitchFamily="34" charset="-122"/>
                <a:ea typeface="微软雅黑" panose="020B0503020204020204" pitchFamily="34" charset="-122"/>
                <a:cs typeface="宋体"/>
              </a:rPr>
              <a:t>Supports mobile phone deployment and remote deployment</a:t>
            </a:r>
            <a:endParaRPr sz="900" dirty="0">
              <a:solidFill>
                <a:schemeClr val="tx1"/>
              </a:solidFill>
              <a:latin typeface="微软雅黑" panose="020B0503020204020204" pitchFamily="34" charset="-122"/>
              <a:ea typeface="微软雅黑" panose="020B0503020204020204" pitchFamily="34" charset="-122"/>
              <a:cs typeface="宋体"/>
            </a:endParaRPr>
          </a:p>
          <a:p>
            <a:pPr marL="134620" indent="-121920">
              <a:lnSpc>
                <a:spcPct val="150000"/>
              </a:lnSpc>
              <a:spcBef>
                <a:spcPts val="200"/>
              </a:spcBef>
              <a:buClr>
                <a:srgbClr val="7A7979"/>
              </a:buClr>
              <a:buFont typeface="Huawei Sans"/>
              <a:buChar char="•"/>
              <a:tabLst>
                <a:tab pos="134620" algn="l"/>
              </a:tabLst>
            </a:pPr>
            <a:r>
              <a:rPr lang="en-US" altLang="zh-CN" sz="900" dirty="0">
                <a:solidFill>
                  <a:prstClr val="black"/>
                </a:solidFill>
                <a:latin typeface="微软雅黑" panose="020B0503020204020204" pitchFamily="34" charset="-122"/>
                <a:ea typeface="微软雅黑" panose="020B0503020204020204" pitchFamily="34" charset="-122"/>
              </a:rPr>
              <a:t>1 U high, can be placed on a desktop, wall, or cabinet</a:t>
            </a:r>
          </a:p>
          <a:p>
            <a:pPr marL="134620" indent="-121920">
              <a:lnSpc>
                <a:spcPct val="150000"/>
              </a:lnSpc>
              <a:spcBef>
                <a:spcPts val="200"/>
              </a:spcBef>
              <a:buClr>
                <a:srgbClr val="7A7979"/>
              </a:buClr>
              <a:buFont typeface="Huawei Sans"/>
              <a:buChar char="•"/>
              <a:tabLst>
                <a:tab pos="134620" algn="l"/>
              </a:tabLst>
            </a:pPr>
            <a:r>
              <a:rPr kumimoji="0" lang="en-US"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Support MPLS, SRv6, IPsec </a:t>
            </a:r>
            <a:endPar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6" name="object 3">
            <a:extLst>
              <a:ext uri="{FF2B5EF4-FFF2-40B4-BE49-F238E27FC236}">
                <a16:creationId xmlns:a16="http://schemas.microsoft.com/office/drawing/2014/main" id="{38CC3B90-4895-4D7E-A280-84F0E108B666}"/>
              </a:ext>
            </a:extLst>
          </p:cNvPr>
          <p:cNvSpPr txBox="1"/>
          <p:nvPr/>
        </p:nvSpPr>
        <p:spPr>
          <a:xfrm>
            <a:off x="607479" y="2790108"/>
            <a:ext cx="2119031"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Specifications</a:t>
            </a:r>
            <a:endParaRPr sz="1400" dirty="0">
              <a:solidFill>
                <a:srgbClr val="C00000"/>
              </a:solidFill>
              <a:latin typeface="微软雅黑"/>
              <a:cs typeface="微软雅黑"/>
            </a:endParaRPr>
          </a:p>
        </p:txBody>
      </p:sp>
      <p:graphicFrame>
        <p:nvGraphicFramePr>
          <p:cNvPr id="38" name="object 2">
            <a:extLst>
              <a:ext uri="{FF2B5EF4-FFF2-40B4-BE49-F238E27FC236}">
                <a16:creationId xmlns:a16="http://schemas.microsoft.com/office/drawing/2014/main" id="{A4012169-5D59-48D1-87D7-93268FA7D43B}"/>
              </a:ext>
            </a:extLst>
          </p:cNvPr>
          <p:cNvGraphicFramePr>
            <a:graphicFrameLocks noGrp="1"/>
          </p:cNvGraphicFramePr>
          <p:nvPr>
            <p:extLst>
              <p:ext uri="{D42A27DB-BD31-4B8C-83A1-F6EECF244321}">
                <p14:modId xmlns:p14="http://schemas.microsoft.com/office/powerpoint/2010/main" val="1342357787"/>
              </p:ext>
            </p:extLst>
          </p:nvPr>
        </p:nvGraphicFramePr>
        <p:xfrm>
          <a:off x="607479" y="3224167"/>
          <a:ext cx="6472654" cy="2492501"/>
        </p:xfrm>
        <a:graphic>
          <a:graphicData uri="http://schemas.openxmlformats.org/drawingml/2006/table">
            <a:tbl>
              <a:tblPr firstRow="1" bandRow="1">
                <a:tableStyleId>{2D5ABB26-0587-4C30-8999-92F81FD0307C}</a:tableStyleId>
              </a:tblPr>
              <a:tblGrid>
                <a:gridCol w="1978231">
                  <a:extLst>
                    <a:ext uri="{9D8B030D-6E8A-4147-A177-3AD203B41FA5}">
                      <a16:colId xmlns:a16="http://schemas.microsoft.com/office/drawing/2014/main" val="20000"/>
                    </a:ext>
                  </a:extLst>
                </a:gridCol>
                <a:gridCol w="4494423">
                  <a:extLst>
                    <a:ext uri="{9D8B030D-6E8A-4147-A177-3AD203B41FA5}">
                      <a16:colId xmlns:a16="http://schemas.microsoft.com/office/drawing/2014/main" val="20001"/>
                    </a:ext>
                  </a:extLst>
                </a:gridCol>
              </a:tblGrid>
              <a:tr h="218934">
                <a:tc>
                  <a:txBody>
                    <a:bodyPr/>
                    <a:lstStyle/>
                    <a:p>
                      <a:pPr marL="72000" algn="l">
                        <a:lnSpc>
                          <a:spcPct val="100000"/>
                        </a:lnSpc>
                        <a:spcBef>
                          <a:spcPts val="0"/>
                        </a:spcBef>
                      </a:pPr>
                      <a:r>
                        <a:rPr lang="en-US" altLang="en-US" sz="1000" b="1" spc="-25" dirty="0">
                          <a:solidFill>
                            <a:schemeClr val="tx1"/>
                          </a:solidFill>
                          <a:latin typeface="微软雅黑" panose="020B0503020204020204" pitchFamily="34" charset="-122"/>
                          <a:ea typeface="微软雅黑" panose="020B0503020204020204" pitchFamily="34" charset="-122"/>
                          <a:cs typeface="微软雅黑"/>
                        </a:rPr>
                        <a:t>Property</a:t>
                      </a:r>
                      <a:endParaRPr lang="en-US" altLang="zh-CN" sz="1000" b="1" spc="-25" dirty="0">
                        <a:solidFill>
                          <a:schemeClr val="tx1"/>
                        </a:solidFill>
                        <a:latin typeface="微软雅黑" panose="020B0503020204020204" pitchFamily="34" charset="-122"/>
                        <a:ea typeface="微软雅黑" panose="020B0503020204020204" pitchFamily="34" charset="-122"/>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0"/>
                        </a:spcBef>
                      </a:pPr>
                      <a:r>
                        <a:rPr lang="en-US" sz="1000" b="1" spc="-25" dirty="0">
                          <a:solidFill>
                            <a:schemeClr val="tx1"/>
                          </a:solidFill>
                          <a:latin typeface="微软雅黑" panose="020B0503020204020204" pitchFamily="34" charset="-122"/>
                          <a:ea typeface="微软雅黑" panose="020B0503020204020204" pitchFamily="34" charset="-122"/>
                          <a:cs typeface="微软雅黑"/>
                        </a:rPr>
                        <a:t>Description</a:t>
                      </a:r>
                      <a:endParaRPr sz="1000" dirty="0">
                        <a:solidFill>
                          <a:schemeClr val="tx1"/>
                        </a:solidFill>
                        <a:latin typeface="微软雅黑" panose="020B0503020204020204" pitchFamily="34" charset="-122"/>
                        <a:ea typeface="微软雅黑" panose="020B0503020204020204" pitchFamily="34" charset="-122"/>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91261">
                <a:tc>
                  <a:txBody>
                    <a:bodyPr/>
                    <a:lstStyle/>
                    <a:p>
                      <a:pPr marL="73660">
                        <a:lnSpc>
                          <a:spcPct val="100000"/>
                        </a:lnSpc>
                        <a:spcBef>
                          <a:spcPts val="720"/>
                        </a:spcBef>
                      </a:pPr>
                      <a:r>
                        <a:rPr lang="en-US" altLang="en-US" sz="900" spc="-20" dirty="0">
                          <a:solidFill>
                            <a:schemeClr val="tx1"/>
                          </a:solidFill>
                          <a:latin typeface="微软雅黑" panose="020B0503020204020204" pitchFamily="34" charset="-122"/>
                          <a:ea typeface="微软雅黑" panose="020B0503020204020204" pitchFamily="34" charset="-122"/>
                          <a:cs typeface="微软雅黑"/>
                        </a:rPr>
                        <a:t>Interface Type</a:t>
                      </a:r>
                      <a:endParaRPr sz="900" spc="-20" dirty="0">
                        <a:solidFill>
                          <a:schemeClr val="tx1"/>
                        </a:solidFill>
                        <a:latin typeface="微软雅黑" panose="020B0503020204020204" pitchFamily="34" charset="-122"/>
                        <a:ea typeface="微软雅黑" panose="020B0503020204020204" pitchFamily="34" charset="-122"/>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660" indent="0">
                        <a:lnSpc>
                          <a:spcPct val="100000"/>
                        </a:lnSpc>
                        <a:spcBef>
                          <a:spcPts val="720"/>
                        </a:spcBef>
                        <a:buClr>
                          <a:srgbClr val="7A7979"/>
                        </a:buClr>
                        <a:buFont typeface="Huawei Sans"/>
                        <a:buNone/>
                        <a:tabLst>
                          <a:tab pos="134620" algn="l"/>
                        </a:tabLst>
                      </a:pPr>
                      <a:r>
                        <a:rPr lang="en-US" altLang="zh-CN" sz="900" spc="-20" dirty="0">
                          <a:solidFill>
                            <a:schemeClr val="tx1"/>
                          </a:solidFill>
                          <a:latin typeface="微软雅黑" panose="020B0503020204020204" pitchFamily="34" charset="-122"/>
                          <a:ea typeface="微软雅黑" panose="020B0503020204020204" pitchFamily="34" charset="-122"/>
                          <a:cs typeface="Huawei Sans"/>
                        </a:rPr>
                        <a:t>6</a:t>
                      </a:r>
                      <a:r>
                        <a:rPr lang="en-US" altLang="zh-CN" sz="900" spc="-20">
                          <a:solidFill>
                            <a:schemeClr val="tx1"/>
                          </a:solidFill>
                          <a:latin typeface="微软雅黑" panose="020B0503020204020204" pitchFamily="34" charset="-122"/>
                          <a:ea typeface="微软雅黑" panose="020B0503020204020204" pitchFamily="34" charset="-122"/>
                          <a:cs typeface="Huawei Sans"/>
                        </a:rPr>
                        <a:t>*10GE + 4*</a:t>
                      </a:r>
                      <a:r>
                        <a:rPr lang="en-US" altLang="zh-CN" sz="900" spc="-20" dirty="0">
                          <a:solidFill>
                            <a:schemeClr val="tx1"/>
                          </a:solidFill>
                          <a:latin typeface="微软雅黑" panose="020B0503020204020204" pitchFamily="34" charset="-122"/>
                          <a:ea typeface="微软雅黑" panose="020B0503020204020204" pitchFamily="34" charset="-122"/>
                          <a:cs typeface="Huawei Sans"/>
                        </a:rPr>
                        <a:t>GE/FE (optical) + 8*GE/FE (electrical)</a:t>
                      </a:r>
                    </a:p>
                  </a:txBody>
                  <a:tcPr marL="0" marR="0" marT="2540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191261">
                <a:tc>
                  <a:txBody>
                    <a:bodyPr/>
                    <a:lstStyle/>
                    <a:p>
                      <a:pPr marL="73660">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Main control board</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Securing the box-shaped structure</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03135">
                <a:tc>
                  <a:txBody>
                    <a:bodyPr/>
                    <a:lstStyle/>
                    <a:p>
                      <a:pPr marL="73660">
                        <a:lnSpc>
                          <a:spcPct val="100000"/>
                        </a:lnSpc>
                        <a:spcBef>
                          <a:spcPts val="0"/>
                        </a:spcBef>
                      </a:pPr>
                      <a:r>
                        <a:rPr lang="en-US" altLang="en-US" sz="900" dirty="0">
                          <a:latin typeface="微软雅黑" panose="020B0503020204020204" pitchFamily="34" charset="-122"/>
                          <a:ea typeface="微软雅黑" panose="020B0503020204020204" pitchFamily="34" charset="-122"/>
                          <a:cs typeface="微软雅黑"/>
                        </a:rPr>
                        <a:t>Service Slot</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Securing the box-shaped structure</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198327">
                <a:tc>
                  <a:txBody>
                    <a:bodyPr/>
                    <a:lstStyle/>
                    <a:p>
                      <a:pPr marL="73660">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Power supply</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solidFill>
                            <a:schemeClr val="tx1"/>
                          </a:solidFill>
                          <a:latin typeface="微软雅黑" panose="020B0503020204020204" pitchFamily="34" charset="-122"/>
                          <a:ea typeface="微软雅黑" panose="020B0503020204020204" pitchFamily="34" charset="-122"/>
                          <a:cs typeface="微软雅黑"/>
                        </a:rPr>
                        <a:t>Single AC, dual AC, single AC+single DC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35611961"/>
                  </a:ext>
                </a:extLst>
              </a:tr>
              <a:tr h="203135">
                <a:tc>
                  <a:txBody>
                    <a:bodyPr/>
                    <a:lstStyle/>
                    <a:p>
                      <a:pPr marL="72000">
                        <a:lnSpc>
                          <a:spcPct val="100000"/>
                        </a:lnSpc>
                        <a:spcBef>
                          <a:spcPts val="200"/>
                        </a:spcBef>
                      </a:pPr>
                      <a:r>
                        <a:rPr lang="en-US" altLang="en-US" sz="900" b="0" spc="-10" dirty="0">
                          <a:solidFill>
                            <a:schemeClr val="tx1"/>
                          </a:solidFill>
                          <a:latin typeface="微软雅黑" panose="020B0503020204020204" pitchFamily="34" charset="-122"/>
                          <a:ea typeface="微软雅黑" panose="020B0503020204020204" pitchFamily="34" charset="-122"/>
                        </a:rPr>
                        <a:t>Dimensions (W x D x H)</a:t>
                      </a:r>
                      <a:endParaRPr lang="zh-CN"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0" lvl="0" indent="0" algn="l" defTabSz="914400" eaLnBrk="1" fontAlgn="auto" latinLnBrk="0" hangingPunct="1">
                        <a:lnSpc>
                          <a:spcPct val="100000"/>
                        </a:lnSpc>
                        <a:spcBef>
                          <a:spcPts val="720"/>
                        </a:spcBef>
                        <a:spcAft>
                          <a:spcPts val="0"/>
                        </a:spcAft>
                        <a:buClrTx/>
                        <a:buSzTx/>
                        <a:buFontTx/>
                        <a:buNone/>
                        <a:tabLst/>
                        <a:defRPr/>
                      </a:pPr>
                      <a:r>
                        <a:rPr lang="en-US" altLang="zh-CN" sz="900" b="0" spc="30" dirty="0">
                          <a:solidFill>
                            <a:schemeClr val="tx1"/>
                          </a:solidFill>
                          <a:latin typeface="微软雅黑" panose="020B0503020204020204" pitchFamily="34" charset="-122"/>
                          <a:ea typeface="微软雅黑" panose="020B0503020204020204" pitchFamily="34" charset="-122"/>
                          <a:cs typeface="Arial Unicode MS" panose="020B0604020202020204" pitchFamily="34" charset="-122"/>
                        </a:rPr>
                        <a:t>320 mm x 220 mm x 43.6 mm (1U)</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Typical power consumption</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70 W</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37030521"/>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Heat Dissipation Mode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Natural heat dissipation</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796642776"/>
                  </a:ext>
                </a:extLst>
              </a:tr>
              <a:tr h="203135">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Long-term operating temperature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0" lvl="0" indent="0" algn="l" defTabSz="914400" eaLnBrk="1" fontAlgn="auto" latinLnBrk="0" hangingPunct="1">
                        <a:lnSpc>
                          <a:spcPct val="100000"/>
                        </a:lnSpc>
                        <a:spcBef>
                          <a:spcPts val="720"/>
                        </a:spcBef>
                        <a:spcAft>
                          <a:spcPts val="0"/>
                        </a:spcAft>
                        <a:buClrTx/>
                        <a:buSzTx/>
                        <a:buFontTx/>
                        <a:buNone/>
                        <a:tabLst/>
                        <a:defRPr/>
                      </a:pPr>
                      <a:r>
                        <a:rPr lang="en-US" altLang="zh-CN" sz="900" dirty="0">
                          <a:solidFill>
                            <a:schemeClr val="tx1"/>
                          </a:solidFill>
                          <a:latin typeface="微软雅黑" panose="020B0503020204020204" pitchFamily="34" charset="-122"/>
                          <a:ea typeface="微软雅黑" panose="020B0503020204020204" pitchFamily="34" charset="-122"/>
                          <a:cs typeface="Arial Unicode MS" panose="020B0604020202020204" pitchFamily="34" charset="-122"/>
                        </a:rPr>
                        <a:t>-40°C - 65°C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14993087"/>
                  </a:ext>
                </a:extLst>
              </a:tr>
              <a:tr h="380397">
                <a:tc>
                  <a:txBody>
                    <a:bodyPr/>
                    <a:lstStyle/>
                    <a:p>
                      <a:pPr marL="72000">
                        <a:lnSpc>
                          <a:spcPct val="100000"/>
                        </a:lnSpc>
                        <a:spcBef>
                          <a:spcPts val="200"/>
                        </a:spcBef>
                      </a:pPr>
                      <a:r>
                        <a:rPr lang="en-US" altLang="en-US" sz="900" b="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Voltage Range</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AC: 100 V-240 V</a:t>
                      </a:r>
                    </a:p>
                    <a:p>
                      <a:pPr marL="73025">
                        <a:lnSpc>
                          <a:spcPct val="100000"/>
                        </a:lnSpc>
                        <a:spcBef>
                          <a:spcPts val="720"/>
                        </a:spcBef>
                      </a:pP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DC: ±48 V/+24 V to 12 V power</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2974286"/>
                  </a:ext>
                </a:extLst>
              </a:tr>
            </a:tbl>
          </a:graphicData>
        </a:graphic>
      </p:graphicFrame>
      <p:sp>
        <p:nvSpPr>
          <p:cNvPr id="39" name="object 5">
            <a:extLst>
              <a:ext uri="{FF2B5EF4-FFF2-40B4-BE49-F238E27FC236}">
                <a16:creationId xmlns:a16="http://schemas.microsoft.com/office/drawing/2014/main" id="{C184CCAB-7155-486B-9E5D-C343DAC06DB5}"/>
              </a:ext>
            </a:extLst>
          </p:cNvPr>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sz="700" dirty="0">
                <a:solidFill>
                  <a:schemeClr val="tx1"/>
                </a:solidFill>
                <a:latin typeface="微软雅黑"/>
                <a:cs typeface="微软雅黑"/>
              </a:rPr>
              <a:t>2</a:t>
            </a:r>
          </a:p>
        </p:txBody>
      </p:sp>
      <p:sp>
        <p:nvSpPr>
          <p:cNvPr id="40" name="object 10">
            <a:extLst>
              <a:ext uri="{FF2B5EF4-FFF2-40B4-BE49-F238E27FC236}">
                <a16:creationId xmlns:a16="http://schemas.microsoft.com/office/drawing/2014/main" id="{F141A2F3-61E5-4F19-903D-2A3A9CE900A2}"/>
              </a:ext>
            </a:extLst>
          </p:cNvPr>
          <p:cNvSpPr txBox="1"/>
          <p:nvPr/>
        </p:nvSpPr>
        <p:spPr>
          <a:xfrm>
            <a:off x="618591" y="6108700"/>
            <a:ext cx="1736403" cy="228268"/>
          </a:xfrm>
          <a:prstGeom prst="rect">
            <a:avLst/>
          </a:prstGeom>
        </p:spPr>
        <p:txBody>
          <a:bodyPr vert="horz" wrap="square" lIns="0" tIns="12700" rIns="0" bIns="0" rtlCol="0">
            <a:spAutoFit/>
          </a:bodyPr>
          <a:lstStyle/>
          <a:p>
            <a:pPr marL="12700">
              <a:lnSpc>
                <a:spcPct val="100000"/>
              </a:lnSpc>
              <a:spcBef>
                <a:spcPts val="100"/>
              </a:spcBef>
            </a:pPr>
            <a:r>
              <a:rPr lang="en-US" sz="1400" b="1" spc="-15" dirty="0">
                <a:solidFill>
                  <a:srgbClr val="C00000"/>
                </a:solidFill>
                <a:latin typeface="微软雅黑"/>
                <a:cs typeface="微软雅黑"/>
              </a:rPr>
              <a:t>Product Features</a:t>
            </a:r>
            <a:endParaRPr sz="1400" dirty="0">
              <a:solidFill>
                <a:srgbClr val="C00000"/>
              </a:solidFill>
              <a:latin typeface="微软雅黑"/>
              <a:cs typeface="微软雅黑"/>
            </a:endParaRPr>
          </a:p>
        </p:txBody>
      </p:sp>
      <p:graphicFrame>
        <p:nvGraphicFramePr>
          <p:cNvPr id="41" name="object 2">
            <a:extLst>
              <a:ext uri="{FF2B5EF4-FFF2-40B4-BE49-F238E27FC236}">
                <a16:creationId xmlns:a16="http://schemas.microsoft.com/office/drawing/2014/main" id="{78EF1D30-5145-4199-A311-B97DEBC025EF}"/>
              </a:ext>
            </a:extLst>
          </p:cNvPr>
          <p:cNvGraphicFramePr>
            <a:graphicFrameLocks noGrp="1"/>
          </p:cNvGraphicFramePr>
          <p:nvPr>
            <p:extLst>
              <p:ext uri="{D42A27DB-BD31-4B8C-83A1-F6EECF244321}">
                <p14:modId xmlns:p14="http://schemas.microsoft.com/office/powerpoint/2010/main" val="3386979725"/>
              </p:ext>
            </p:extLst>
          </p:nvPr>
        </p:nvGraphicFramePr>
        <p:xfrm>
          <a:off x="607479" y="6560821"/>
          <a:ext cx="6486525" cy="3419102"/>
        </p:xfrm>
        <a:graphic>
          <a:graphicData uri="http://schemas.openxmlformats.org/drawingml/2006/table">
            <a:tbl>
              <a:tblPr firstRow="1" bandRow="1">
                <a:tableStyleId>{2D5ABB26-0587-4C30-8999-92F81FD0307C}</a:tableStyleId>
              </a:tblPr>
              <a:tblGrid>
                <a:gridCol w="1982470">
                  <a:extLst>
                    <a:ext uri="{9D8B030D-6E8A-4147-A177-3AD203B41FA5}">
                      <a16:colId xmlns:a16="http://schemas.microsoft.com/office/drawing/2014/main" val="20000"/>
                    </a:ext>
                  </a:extLst>
                </a:gridCol>
                <a:gridCol w="4504055">
                  <a:extLst>
                    <a:ext uri="{9D8B030D-6E8A-4147-A177-3AD203B41FA5}">
                      <a16:colId xmlns:a16="http://schemas.microsoft.com/office/drawing/2014/main" val="20001"/>
                    </a:ext>
                  </a:extLst>
                </a:gridCol>
              </a:tblGrid>
              <a:tr h="497002">
                <a:tc>
                  <a:txBody>
                    <a:bodyPr/>
                    <a:lstStyle/>
                    <a:p>
                      <a:pPr marL="73660">
                        <a:lnSpc>
                          <a:spcPct val="100000"/>
                        </a:lnSpc>
                        <a:spcBef>
                          <a:spcPts val="740"/>
                        </a:spcBef>
                      </a:pPr>
                      <a:r>
                        <a:rPr lang="en-US" sz="1000" b="1" spc="-25" dirty="0">
                          <a:solidFill>
                            <a:schemeClr val="tx1"/>
                          </a:solidFill>
                          <a:latin typeface="微软雅黑"/>
                          <a:cs typeface="微软雅黑"/>
                        </a:rPr>
                        <a:t>Features</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74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84235">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Ethernet Layer 2 Protocol</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spc="-10" dirty="0">
                          <a:latin typeface="微软雅黑" panose="020B0503020204020204" pitchFamily="34" charset="-122"/>
                          <a:ea typeface="微软雅黑" panose="020B0503020204020204" pitchFamily="34" charset="-122"/>
                          <a:cs typeface="微软雅黑"/>
                        </a:rPr>
                        <a:t>G.8032, STP/RSTP, MSTP, Layer 2 protocol transparent transmission, BPDU, and LACP</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86647">
                <a:tc>
                  <a:txBody>
                    <a:bodyPr/>
                    <a:lstStyle/>
                    <a:p>
                      <a:pPr marL="73025">
                        <a:lnSpc>
                          <a:spcPct val="100000"/>
                        </a:lnSpc>
                      </a:pPr>
                      <a:r>
                        <a:rPr lang="en-US" sz="900" dirty="0">
                          <a:latin typeface="微软雅黑" panose="020B0503020204020204" pitchFamily="34" charset="-122"/>
                          <a:ea typeface="微软雅黑" panose="020B0503020204020204" pitchFamily="34" charset="-122"/>
                          <a:cs typeface="微软雅黑"/>
                        </a:rPr>
                        <a:t>Ethernet service</a:t>
                      </a:r>
                      <a:endParaRPr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pPr>
                      <a:r>
                        <a:rPr lang="en-US" sz="900" spc="-10" dirty="0">
                          <a:latin typeface="微软雅黑" panose="020B0503020204020204" pitchFamily="34" charset="-122"/>
                          <a:ea typeface="微软雅黑" panose="020B0503020204020204" pitchFamily="34" charset="-122"/>
                          <a:cs typeface="微软雅黑"/>
                        </a:rPr>
                        <a:t>VLAN, Bridge Domain, QinQ</a:t>
                      </a:r>
                      <a:endParaRPr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750836">
                <a:tc>
                  <a:txBody>
                    <a:bodyPr/>
                    <a:lstStyle/>
                    <a:p>
                      <a:pPr marL="73025">
                        <a:lnSpc>
                          <a:spcPct val="100000"/>
                        </a:lnSpc>
                      </a:pPr>
                      <a:r>
                        <a:rPr lang="en-US" sz="900" dirty="0">
                          <a:latin typeface="微软雅黑"/>
                          <a:cs typeface="微软雅黑"/>
                        </a:rPr>
                        <a:t>Route selection</a:t>
                      </a:r>
                      <a:endParaRPr sz="900" dirty="0">
                        <a:latin typeface="微软雅黑"/>
                        <a:cs typeface="微软雅黑"/>
                      </a:endParaRPr>
                    </a:p>
                  </a:txBody>
                  <a:tcPr marL="0" marR="0" marT="50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900" dirty="0">
                          <a:latin typeface="微软雅黑"/>
                          <a:cs typeface="微软雅黑"/>
                        </a:rPr>
                        <a:t>RIP, RIPng, OSPF, OSPFv3, IS-IS, IS-ISv6, BGP, BGPv6, static routing</a:t>
                      </a:r>
                      <a:r>
                        <a:rPr lang="en-US" altLang="zh-CN" sz="900" dirty="0">
                          <a:latin typeface="微软雅黑"/>
                          <a:cs typeface="微软雅黑"/>
                        </a:rPr>
                        <a:t>, </a:t>
                      </a:r>
                      <a:r>
                        <a:rPr lang="en-US" sz="900" dirty="0">
                          <a:latin typeface="微软雅黑"/>
                          <a:cs typeface="微软雅黑"/>
                        </a:rPr>
                        <a:t>Static multicast routing</a:t>
                      </a:r>
                      <a:r>
                        <a:rPr lang="en-US" altLang="zh-CN" sz="900" dirty="0">
                          <a:latin typeface="微软雅黑"/>
                          <a:cs typeface="微软雅黑"/>
                        </a:rPr>
                        <a:t>, </a:t>
                      </a:r>
                      <a:r>
                        <a:rPr lang="en-US" sz="900" dirty="0">
                          <a:latin typeface="微软雅黑"/>
                          <a:cs typeface="微软雅黑"/>
                        </a:rPr>
                        <a:t>BIERv6</a:t>
                      </a:r>
                      <a:endParaRPr sz="900" dirty="0">
                        <a:latin typeface="微软雅黑"/>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1400382">
                <a:tc>
                  <a:txBody>
                    <a:bodyPr/>
                    <a:lstStyle/>
                    <a:p>
                      <a:pPr marL="73025">
                        <a:lnSpc>
                          <a:spcPct val="100000"/>
                        </a:lnSpc>
                      </a:pPr>
                      <a:r>
                        <a:rPr lang="en-US" sz="900" dirty="0">
                          <a:latin typeface="微软雅黑"/>
                          <a:cs typeface="微软雅黑"/>
                        </a:rPr>
                        <a:t>IPv4 protocol</a:t>
                      </a:r>
                    </a:p>
                  </a:txBody>
                  <a:tcPr marL="0" marR="0" marT="50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900" dirty="0">
                          <a:latin typeface="微软雅黑"/>
                          <a:cs typeface="微软雅黑"/>
                        </a:rPr>
                        <a:t>ICMP, IP, TCP, UDP, Socket (TCP/UDP/RAW IP)</a:t>
                      </a:r>
                    </a:p>
                    <a:p>
                      <a:pPr marL="73025">
                        <a:lnSpc>
                          <a:spcPct val="100000"/>
                        </a:lnSpc>
                        <a:spcBef>
                          <a:spcPts val="680"/>
                        </a:spcBef>
                      </a:pPr>
                      <a:r>
                        <a:rPr lang="en-US" sz="900" dirty="0">
                          <a:latin typeface="微软雅黑"/>
                          <a:cs typeface="微软雅黑"/>
                        </a:rPr>
                        <a:t>ARP, Static DNS, DNS Client</a:t>
                      </a:r>
                    </a:p>
                    <a:p>
                      <a:pPr marL="73025" marR="0" lvl="0" indent="0" defTabSz="914400" eaLnBrk="1" fontAlgn="auto" latinLnBrk="0" hangingPunct="1">
                        <a:lnSpc>
                          <a:spcPct val="100000"/>
                        </a:lnSpc>
                        <a:spcBef>
                          <a:spcPts val="680"/>
                        </a:spcBef>
                        <a:spcAft>
                          <a:spcPts val="0"/>
                        </a:spcAft>
                        <a:buClrTx/>
                        <a:buSzTx/>
                        <a:buFontTx/>
                        <a:buNone/>
                        <a:tabLst/>
                        <a:defRPr/>
                      </a:pPr>
                      <a:r>
                        <a:rPr lang="en-US" altLang="zh-CN" sz="900" dirty="0">
                          <a:latin typeface="微软雅黑" panose="020B0503020204020204" pitchFamily="34" charset="-122"/>
                          <a:ea typeface="微软雅黑" panose="020B0503020204020204" pitchFamily="34" charset="-122"/>
                          <a:cs typeface="微软雅黑"/>
                        </a:rPr>
                        <a:t>DHCP</a:t>
                      </a:r>
                      <a:r>
                        <a:rPr lang="zh-CN" altLang="en-US" sz="900" dirty="0">
                          <a:latin typeface="微软雅黑" panose="020B0503020204020204" pitchFamily="34" charset="-122"/>
                          <a:ea typeface="微软雅黑" panose="020B0503020204020204" pitchFamily="34" charset="-122"/>
                          <a:cs typeface="微软雅黑"/>
                        </a:rPr>
                        <a:t>、</a:t>
                      </a:r>
                      <a:r>
                        <a:rPr lang="en-US" altLang="zh-CN" sz="900" dirty="0">
                          <a:latin typeface="微软雅黑" panose="020B0503020204020204" pitchFamily="34" charset="-122"/>
                          <a:ea typeface="微软雅黑" panose="020B0503020204020204" pitchFamily="34" charset="-122"/>
                          <a:cs typeface="微软雅黑"/>
                        </a:rPr>
                        <a:t>DHCP Relay</a:t>
                      </a:r>
                      <a:r>
                        <a:rPr lang="zh-CN" altLang="en-US" sz="900" dirty="0">
                          <a:latin typeface="微软雅黑" panose="020B0503020204020204" pitchFamily="34" charset="-122"/>
                          <a:ea typeface="微软雅黑" panose="020B0503020204020204" pitchFamily="34" charset="-122"/>
                          <a:cs typeface="微软雅黑"/>
                        </a:rPr>
                        <a:t>、</a:t>
                      </a:r>
                      <a:r>
                        <a:rPr lang="en-US" altLang="zh-CN" sz="900" dirty="0">
                          <a:solidFill>
                            <a:schemeClr val="tx1"/>
                          </a:solidFill>
                          <a:latin typeface="微软雅黑" panose="020B0503020204020204" pitchFamily="34" charset="-122"/>
                          <a:ea typeface="微软雅黑" panose="020B0503020204020204" pitchFamily="34" charset="-122"/>
                          <a:cs typeface="+mn-cs"/>
                        </a:rPr>
                        <a:t>DHCP Server</a:t>
                      </a:r>
                      <a:r>
                        <a:rPr lang="zh-CN" altLang="en-US" sz="900" dirty="0">
                          <a:solidFill>
                            <a:schemeClr val="tx1"/>
                          </a:solidFill>
                          <a:latin typeface="微软雅黑" panose="020B0503020204020204" pitchFamily="34" charset="-122"/>
                          <a:ea typeface="微软雅黑" panose="020B0503020204020204" pitchFamily="34" charset="-122"/>
                          <a:cs typeface="+mn-cs"/>
                        </a:rPr>
                        <a:t>、</a:t>
                      </a:r>
                      <a:r>
                        <a:rPr lang="en-US" altLang="zh-CN" sz="900" dirty="0">
                          <a:solidFill>
                            <a:schemeClr val="tx1"/>
                          </a:solidFill>
                          <a:latin typeface="微软雅黑" panose="020B0503020204020204" pitchFamily="34" charset="-122"/>
                          <a:ea typeface="微软雅黑" panose="020B0503020204020204" pitchFamily="34" charset="-122"/>
                          <a:cs typeface="+mn-cs"/>
                        </a:rPr>
                        <a:t>DHCP Client</a:t>
                      </a:r>
                      <a:endParaRPr lang="en-US" altLang="zh-CN" sz="900" dirty="0">
                        <a:solidFill>
                          <a:schemeClr val="tx1"/>
                        </a:solidFill>
                        <a:latin typeface="微软雅黑" panose="020B0503020204020204" pitchFamily="34" charset="-122"/>
                        <a:ea typeface="微软雅黑" panose="020B0503020204020204" pitchFamily="34" charset="-122"/>
                        <a:cs typeface="微软雅黑"/>
                      </a:endParaRPr>
                    </a:p>
                    <a:p>
                      <a:pPr marL="73025">
                        <a:lnSpc>
                          <a:spcPct val="100000"/>
                        </a:lnSpc>
                        <a:spcBef>
                          <a:spcPts val="680"/>
                        </a:spcBef>
                      </a:pPr>
                      <a:r>
                        <a:rPr lang="en-US" sz="900" dirty="0">
                          <a:latin typeface="微软雅黑"/>
                          <a:cs typeface="微软雅黑"/>
                        </a:rPr>
                        <a:t>Ping, Tracert, NQA</a:t>
                      </a:r>
                    </a:p>
                    <a:p>
                      <a:pPr marL="73025">
                        <a:lnSpc>
                          <a:spcPct val="100000"/>
                        </a:lnSpc>
                        <a:spcBef>
                          <a:spcPts val="680"/>
                        </a:spcBef>
                      </a:pPr>
                      <a:endParaRPr sz="900" dirty="0">
                        <a:latin typeface="微软雅黑"/>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6732182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873926537"/>
              </p:ext>
            </p:extLst>
          </p:nvPr>
        </p:nvGraphicFramePr>
        <p:xfrm>
          <a:off x="577850" y="609762"/>
          <a:ext cx="6486525" cy="6756622"/>
        </p:xfrm>
        <a:graphic>
          <a:graphicData uri="http://schemas.openxmlformats.org/drawingml/2006/table">
            <a:tbl>
              <a:tblPr firstRow="1" bandRow="1">
                <a:tableStyleId>{2D5ABB26-0587-4C30-8999-92F81FD0307C}</a:tableStyleId>
              </a:tblPr>
              <a:tblGrid>
                <a:gridCol w="1982470">
                  <a:extLst>
                    <a:ext uri="{9D8B030D-6E8A-4147-A177-3AD203B41FA5}">
                      <a16:colId xmlns:a16="http://schemas.microsoft.com/office/drawing/2014/main" val="20000"/>
                    </a:ext>
                  </a:extLst>
                </a:gridCol>
                <a:gridCol w="4504055">
                  <a:extLst>
                    <a:ext uri="{9D8B030D-6E8A-4147-A177-3AD203B41FA5}">
                      <a16:colId xmlns:a16="http://schemas.microsoft.com/office/drawing/2014/main" val="20001"/>
                    </a:ext>
                  </a:extLst>
                </a:gridCol>
              </a:tblGrid>
              <a:tr h="266420">
                <a:tc>
                  <a:txBody>
                    <a:bodyPr/>
                    <a:lstStyle/>
                    <a:p>
                      <a:pPr marL="73660">
                        <a:lnSpc>
                          <a:spcPct val="100000"/>
                        </a:lnSpc>
                        <a:spcBef>
                          <a:spcPts val="740"/>
                        </a:spcBef>
                      </a:pPr>
                      <a:r>
                        <a:rPr lang="en-US" sz="1000" b="1" spc="-25" dirty="0">
                          <a:solidFill>
                            <a:schemeClr val="tx1"/>
                          </a:solidFill>
                          <a:latin typeface="微软雅黑"/>
                          <a:cs typeface="微软雅黑"/>
                        </a:rPr>
                        <a:t>Features</a:t>
                      </a:r>
                      <a:endParaRPr sz="1000" dirty="0">
                        <a:solidFill>
                          <a:schemeClr val="tx1"/>
                        </a:solidFill>
                        <a:latin typeface="微软雅黑"/>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025">
                        <a:lnSpc>
                          <a:spcPct val="100000"/>
                        </a:lnSpc>
                        <a:spcBef>
                          <a:spcPts val="74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65318">
                <a:tc>
                  <a:txBody>
                    <a:bodyPr/>
                    <a:lstStyle/>
                    <a:p>
                      <a:pPr marL="73025" marR="0" lvl="0" indent="0" defTabSz="914400" eaLnBrk="1" fontAlgn="auto" latinLnBrk="0" hangingPunct="1">
                        <a:lnSpc>
                          <a:spcPct val="100000"/>
                        </a:lnSpc>
                        <a:spcBef>
                          <a:spcPts val="0"/>
                        </a:spcBef>
                        <a:spcAft>
                          <a:spcPts val="0"/>
                        </a:spcAft>
                        <a:buClrTx/>
                        <a:buSzTx/>
                        <a:buFontTx/>
                        <a:buNone/>
                        <a:tabLst/>
                        <a:defRPr/>
                      </a:pPr>
                      <a:r>
                        <a:rPr lang="en-US" altLang="zh-CN" sz="900" dirty="0">
                          <a:latin typeface="微软雅黑" panose="020B0503020204020204" pitchFamily="34" charset="-122"/>
                          <a:ea typeface="微软雅黑" panose="020B0503020204020204" pitchFamily="34" charset="-122"/>
                          <a:cs typeface="微软雅黑"/>
                        </a:rPr>
                        <a:t>IPv4 protocol</a:t>
                      </a:r>
                      <a:endParaRPr lang="zh-CN" altLang="en-US" sz="900" dirty="0">
                        <a:latin typeface="微软雅黑" panose="020B0503020204020204" pitchFamily="34" charset="-122"/>
                        <a:ea typeface="微软雅黑" panose="020B0503020204020204" pitchFamily="34" charset="-122"/>
                        <a:cs typeface="微软雅黑"/>
                      </a:endParaRP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IP policy-based routing</a:t>
                      </a:r>
                    </a:p>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Flow-based forwarding next hop</a:t>
                      </a:r>
                    </a:p>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IP policy-based routing load balancing</a:t>
                      </a:r>
                    </a:p>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IPv4 load balancing is supported.</a:t>
                      </a:r>
                    </a:p>
                  </a:txBody>
                  <a:tcPr marL="0" marR="0" marT="381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980535">
                <a:tc>
                  <a:txBody>
                    <a:bodyPr/>
                    <a:lstStyle/>
                    <a:p>
                      <a:pPr marL="73025">
                        <a:lnSpc>
                          <a:spcPct val="100000"/>
                        </a:lnSpc>
                      </a:pPr>
                      <a:r>
                        <a:rPr lang="en-US" sz="900" dirty="0">
                          <a:latin typeface="微软雅黑" panose="020B0503020204020204" pitchFamily="34" charset="-122"/>
                          <a:ea typeface="微软雅黑" panose="020B0503020204020204" pitchFamily="34" charset="-122"/>
                          <a:cs typeface="微软雅黑"/>
                        </a:rPr>
                        <a:t>IPv6 Protocol</a:t>
                      </a:r>
                      <a:endParaRPr sz="900" dirty="0">
                        <a:latin typeface="微软雅黑" panose="020B0503020204020204" pitchFamily="34" charset="-122"/>
                        <a:ea typeface="微软雅黑" panose="020B0503020204020204" pitchFamily="34" charset="-122"/>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IPv6(ND), Path MTU (PMTU)</a:t>
                      </a:r>
                    </a:p>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TCP6, Ping IPv6</a:t>
                      </a:r>
                    </a:p>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Tracert IPv6, Socket IPv6</a:t>
                      </a:r>
                    </a:p>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DHCPv6 Relay, Static IPv6 DNS</a:t>
                      </a:r>
                    </a:p>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Policy-based routing</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0779">
                <a:tc>
                  <a:txBody>
                    <a:bodyPr/>
                    <a:lstStyle/>
                    <a:p>
                      <a:pPr marL="73025">
                        <a:lnSpc>
                          <a:spcPct val="100000"/>
                        </a:lnSpc>
                        <a:spcBef>
                          <a:spcPts val="680"/>
                        </a:spcBef>
                      </a:pPr>
                      <a:r>
                        <a:rPr lang="en-US" sz="900" spc="-20" dirty="0">
                          <a:latin typeface="微软雅黑" panose="020B0503020204020204" pitchFamily="34" charset="-122"/>
                          <a:ea typeface="微软雅黑" panose="020B0503020204020204" pitchFamily="34" charset="-122"/>
                          <a:cs typeface="微软雅黑"/>
                        </a:rPr>
                        <a:t>MPLS</a:t>
                      </a:r>
                      <a:endParaRPr sz="900" dirty="0">
                        <a:latin typeface="微软雅黑" panose="020B0503020204020204" pitchFamily="34" charset="-122"/>
                        <a:ea typeface="微软雅黑" panose="020B0503020204020204" pitchFamily="34" charset="-122"/>
                        <a:cs typeface="微软雅黑"/>
                      </a:endParaRP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680"/>
                        </a:spcBef>
                      </a:pPr>
                      <a:r>
                        <a:rPr lang="en-US" sz="900" dirty="0">
                          <a:latin typeface="微软雅黑" panose="020B0503020204020204" pitchFamily="34" charset="-122"/>
                          <a:ea typeface="微软雅黑" panose="020B0503020204020204" pitchFamily="34" charset="-122"/>
                          <a:cs typeface="微软雅黑"/>
                        </a:rPr>
                        <a:t>LDP, MPLS TE, SR MPLS, MPLS-TP OAM</a:t>
                      </a:r>
                    </a:p>
                  </a:txBody>
                  <a:tcPr marL="0" marR="0" marT="8636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80105335"/>
                  </a:ext>
                </a:extLst>
              </a:tr>
              <a:tr h="430779">
                <a:tc>
                  <a:txBody>
                    <a:bodyPr/>
                    <a:lstStyle/>
                    <a:p>
                      <a:pPr marL="73025">
                        <a:lnSpc>
                          <a:spcPct val="100000"/>
                        </a:lnSpc>
                        <a:spcBef>
                          <a:spcPts val="720"/>
                        </a:spcBef>
                      </a:pPr>
                      <a:r>
                        <a:rPr lang="en-US" sz="900" spc="-10" dirty="0">
                          <a:latin typeface="微软雅黑" panose="020B0503020204020204" pitchFamily="34" charset="-122"/>
                          <a:ea typeface="微软雅黑" panose="020B0503020204020204" pitchFamily="34" charset="-122"/>
                          <a:cs typeface="微软雅黑"/>
                        </a:rPr>
                        <a:t>L2VPN</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PWE3/VLL, VPLS, EVPN</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583658231"/>
                  </a:ext>
                </a:extLst>
              </a:tr>
              <a:tr h="901202">
                <a:tc>
                  <a:txBody>
                    <a:bodyPr/>
                    <a:lstStyle/>
                    <a:p>
                      <a:pPr marL="73025">
                        <a:lnSpc>
                          <a:spcPct val="100000"/>
                        </a:lnSpc>
                      </a:pPr>
                      <a:r>
                        <a:rPr lang="en-US" sz="900" dirty="0">
                          <a:latin typeface="微软雅黑" panose="020B0503020204020204" pitchFamily="34" charset="-122"/>
                          <a:ea typeface="微软雅黑" panose="020B0503020204020204" pitchFamily="34" charset="-122"/>
                          <a:cs typeface="微软雅黑"/>
                        </a:rPr>
                        <a:t>L3VPN</a:t>
                      </a:r>
                      <a:endParaRPr sz="900" dirty="0">
                        <a:latin typeface="微软雅黑" panose="020B0503020204020204" pitchFamily="34" charset="-122"/>
                        <a:ea typeface="微软雅黑" panose="020B0503020204020204" pitchFamily="34" charset="-122"/>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CE routers can access L3VPN through L3 interfaces.</a:t>
                      </a:r>
                    </a:p>
                    <a:p>
                      <a:pPr marL="73025">
                        <a:lnSpc>
                          <a:spcPct val="100000"/>
                        </a:lnSpc>
                        <a:spcBef>
                          <a:spcPts val="720"/>
                        </a:spcBef>
                      </a:pPr>
                      <a:r>
                        <a:rPr lang="en-US" altLang="en-US" sz="900" dirty="0">
                          <a:latin typeface="微软雅黑" panose="020B0503020204020204" pitchFamily="34" charset="-122"/>
                          <a:ea typeface="微软雅黑" panose="020B0503020204020204" pitchFamily="34" charset="-122"/>
                          <a:cs typeface="微软雅黑"/>
                        </a:rPr>
                        <a:t>Supports static routes between CEs and PEs, between BGP, RIP, OSPF, and IS-IS.</a:t>
                      </a:r>
                    </a:p>
                    <a:p>
                      <a:pPr marL="73025">
                        <a:lnSpc>
                          <a:spcPct val="100000"/>
                        </a:lnSpc>
                        <a:spcBef>
                          <a:spcPts val="720"/>
                        </a:spcBef>
                      </a:pPr>
                      <a:r>
                        <a:rPr lang="en-US" altLang="zh-CN" sz="900" dirty="0">
                          <a:latin typeface="微软雅黑" panose="020B0503020204020204" pitchFamily="34" charset="-122"/>
                          <a:ea typeface="微软雅黑" panose="020B0503020204020204" pitchFamily="34" charset="-122"/>
                          <a:cs typeface="微软雅黑"/>
                        </a:rPr>
                        <a:t>Inter-AS VPN, including RFC 2547bis option A, RFC 2547bis option B, and RFC 2547bis option C</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612491">
                <a:tc>
                  <a:txBody>
                    <a:bodyPr/>
                    <a:lstStyle/>
                    <a:p>
                      <a:pPr>
                        <a:lnSpc>
                          <a:spcPct val="100000"/>
                        </a:lnSpc>
                        <a:spcBef>
                          <a:spcPts val="25"/>
                        </a:spcBef>
                      </a:pPr>
                      <a:endParaRPr sz="900" dirty="0">
                        <a:latin typeface="微软雅黑" panose="020B0503020204020204" pitchFamily="34" charset="-122"/>
                        <a:ea typeface="微软雅黑" panose="020B0503020204020204" pitchFamily="34" charset="-122"/>
                        <a:cs typeface="Times New Roman"/>
                      </a:endParaRPr>
                    </a:p>
                    <a:p>
                      <a:pPr marL="73025">
                        <a:lnSpc>
                          <a:spcPct val="100000"/>
                        </a:lnSpc>
                      </a:pPr>
                      <a:r>
                        <a:rPr lang="en-US" sz="900" spc="-20" dirty="0">
                          <a:latin typeface="微软雅黑" panose="020B0503020204020204" pitchFamily="34" charset="-122"/>
                          <a:ea typeface="微软雅黑" panose="020B0503020204020204" pitchFamily="34" charset="-122"/>
                          <a:cs typeface="微软雅黑"/>
                        </a:rPr>
                        <a:t>SRv6</a:t>
                      </a:r>
                      <a:endParaRPr sz="900" dirty="0">
                        <a:latin typeface="微软雅黑" panose="020B0503020204020204" pitchFamily="34" charset="-122"/>
                        <a:ea typeface="微软雅黑" panose="020B0503020204020204" pitchFamily="34" charset="-122"/>
                        <a:cs typeface="微软雅黑"/>
                      </a:endParaRPr>
                    </a:p>
                  </a:txBody>
                  <a:tcPr marL="0" marR="0" marT="317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SRv6 BE, SRv6 TE Policy, Flex-Algo, G-SRv6, SRv6 network slicing, and anti-microloop</a:t>
                      </a: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438014">
                <a:tc>
                  <a:txBody>
                    <a:bodyPr/>
                    <a:lstStyle/>
                    <a:p>
                      <a:pPr>
                        <a:lnSpc>
                          <a:spcPct val="100000"/>
                        </a:lnSpc>
                        <a:spcBef>
                          <a:spcPts val="25"/>
                        </a:spcBef>
                      </a:pPr>
                      <a:endParaRPr sz="900" dirty="0">
                        <a:latin typeface="微软雅黑" panose="020B0503020204020204" pitchFamily="34" charset="-122"/>
                        <a:ea typeface="微软雅黑" panose="020B0503020204020204" pitchFamily="34" charset="-122"/>
                        <a:cs typeface="Times New Roman"/>
                      </a:endParaRPr>
                    </a:p>
                    <a:p>
                      <a:pPr marL="73025">
                        <a:lnSpc>
                          <a:spcPct val="100000"/>
                        </a:lnSpc>
                      </a:pPr>
                      <a:r>
                        <a:rPr lang="en-US" sz="900" dirty="0">
                          <a:latin typeface="微软雅黑" panose="020B0503020204020204" pitchFamily="34" charset="-122"/>
                          <a:ea typeface="微软雅黑" panose="020B0503020204020204" pitchFamily="34" charset="-122"/>
                          <a:cs typeface="微软雅黑"/>
                        </a:rPr>
                        <a:t>Value-added service</a:t>
                      </a:r>
                      <a:endParaRPr sz="900" dirty="0">
                        <a:latin typeface="微软雅黑" panose="020B0503020204020204" pitchFamily="34" charset="-122"/>
                        <a:ea typeface="微软雅黑" panose="020B0503020204020204" pitchFamily="34" charset="-122"/>
                        <a:cs typeface="微软雅黑"/>
                      </a:endParaRPr>
                    </a:p>
                  </a:txBody>
                  <a:tcPr marL="0" marR="0" marT="317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86360">
                        <a:lnSpc>
                          <a:spcPct val="144600"/>
                        </a:lnSpc>
                        <a:spcBef>
                          <a:spcPts val="235"/>
                        </a:spcBef>
                      </a:pPr>
                      <a:r>
                        <a:rPr lang="en-US" sz="900" spc="-10" dirty="0">
                          <a:latin typeface="微软雅黑" panose="020B0503020204020204" pitchFamily="34" charset="-122"/>
                          <a:ea typeface="微软雅黑" panose="020B0503020204020204" pitchFamily="34" charset="-122"/>
                          <a:cs typeface="微软雅黑"/>
                        </a:rPr>
                        <a:t>NAT/CGN, IPsec, Xsec</a:t>
                      </a:r>
                      <a:endParaRPr sz="900" dirty="0">
                        <a:latin typeface="微软雅黑" panose="020B0503020204020204" pitchFamily="34" charset="-122"/>
                        <a:ea typeface="微软雅黑" panose="020B0503020204020204" pitchFamily="34" charset="-122"/>
                        <a:cs typeface="微软雅黑"/>
                      </a:endParaRPr>
                    </a:p>
                  </a:txBody>
                  <a:tcPr marL="0" marR="0" marT="2984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0831264"/>
                  </a:ext>
                </a:extLst>
              </a:tr>
              <a:tr h="778295">
                <a:tc>
                  <a:txBody>
                    <a:bodyPr/>
                    <a:lstStyle/>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marL="73025">
                        <a:lnSpc>
                          <a:spcPct val="100000"/>
                        </a:lnSpc>
                        <a:spcBef>
                          <a:spcPts val="880"/>
                        </a:spcBef>
                      </a:pPr>
                      <a:r>
                        <a:rPr lang="en-US" sz="900" spc="-25" dirty="0">
                          <a:latin typeface="微软雅黑" panose="020B0503020204020204" pitchFamily="34" charset="-122"/>
                          <a:ea typeface="微软雅黑" panose="020B0503020204020204" pitchFamily="34" charset="-122"/>
                          <a:cs typeface="微软雅黑"/>
                        </a:rPr>
                        <a:t>O&amp;M</a:t>
                      </a:r>
                      <a:endParaRPr sz="900" dirty="0">
                        <a:latin typeface="微软雅黑" panose="020B0503020204020204" pitchFamily="34" charset="-122"/>
                        <a:ea typeface="微软雅黑" panose="020B0503020204020204" pitchFamily="34" charset="-122"/>
                        <a:cs typeface="微软雅黑"/>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marR="2155190">
                        <a:lnSpc>
                          <a:spcPts val="1920"/>
                        </a:lnSpc>
                        <a:spcBef>
                          <a:spcPts val="85"/>
                        </a:spcBef>
                      </a:pPr>
                      <a:r>
                        <a:rPr lang="en-US" sz="900" dirty="0">
                          <a:latin typeface="微软雅黑" panose="020B0503020204020204" pitchFamily="34" charset="-122"/>
                          <a:ea typeface="微软雅黑" panose="020B0503020204020204" pitchFamily="34" charset="-122"/>
                          <a:cs typeface="微软雅黑"/>
                        </a:rPr>
                        <a:t>IFIT, NQA, TWAMP, BFD, Telemetry</a:t>
                      </a:r>
                      <a:endParaRPr sz="900" dirty="0">
                        <a:latin typeface="微软雅黑" panose="020B0503020204020204" pitchFamily="34" charset="-122"/>
                        <a:ea typeface="微软雅黑" panose="020B0503020204020204" pitchFamily="34" charset="-122"/>
                        <a:cs typeface="微软雅黑"/>
                      </a:endParaRPr>
                    </a:p>
                    <a:p>
                      <a:pPr marL="73025">
                        <a:lnSpc>
                          <a:spcPct val="100000"/>
                        </a:lnSpc>
                        <a:spcBef>
                          <a:spcPts val="675"/>
                        </a:spcBef>
                      </a:pPr>
                      <a:r>
                        <a:rPr lang="en-US" sz="900" dirty="0">
                          <a:latin typeface="微软雅黑" panose="020B0503020204020204" pitchFamily="34" charset="-122"/>
                          <a:ea typeface="微软雅黑" panose="020B0503020204020204" pitchFamily="34" charset="-122"/>
                          <a:cs typeface="微软雅黑"/>
                        </a:rPr>
                        <a:t>VRRP, Ethernet OAM, and bit-error-triggered protection switching</a:t>
                      </a:r>
                      <a:endParaRPr sz="900" dirty="0">
                        <a:latin typeface="微软雅黑" panose="020B0503020204020204" pitchFamily="34" charset="-122"/>
                        <a:ea typeface="微软雅黑" panose="020B0503020204020204" pitchFamily="34" charset="-122"/>
                        <a:cs typeface="微软雅黑"/>
                      </a:endParaRPr>
                    </a:p>
                  </a:txBody>
                  <a:tcPr marL="0" marR="0" marT="1079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84111765"/>
                  </a:ext>
                </a:extLst>
              </a:tr>
              <a:tr h="400242">
                <a:tc>
                  <a:txBody>
                    <a:bodyPr/>
                    <a:lstStyle/>
                    <a:p>
                      <a:pPr marL="73025">
                        <a:lnSpc>
                          <a:spcPct val="100000"/>
                        </a:lnSpc>
                        <a:spcBef>
                          <a:spcPts val="720"/>
                        </a:spcBef>
                      </a:pPr>
                      <a:r>
                        <a:rPr lang="en-US" sz="900" spc="-25" dirty="0">
                          <a:latin typeface="微软雅黑" panose="020B0503020204020204" pitchFamily="34" charset="-122"/>
                          <a:ea typeface="微软雅黑" panose="020B0503020204020204" pitchFamily="34" charset="-122"/>
                          <a:cs typeface="微软雅黑"/>
                        </a:rPr>
                        <a:t>QoS</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spc="-10" dirty="0">
                          <a:latin typeface="微软雅黑" panose="020B0503020204020204" pitchFamily="34" charset="-122"/>
                          <a:ea typeface="微软雅黑" panose="020B0503020204020204" pitchFamily="34" charset="-122"/>
                          <a:cs typeface="微软雅黑"/>
                        </a:rPr>
                        <a:t>QPPB, DiffServ, level-3 HQoS, redirection, ACL, and policy-based routing</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18364408"/>
                  </a:ext>
                </a:extLst>
              </a:tr>
              <a:tr h="400242">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Other</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025">
                        <a:lnSpc>
                          <a:spcPct val="100000"/>
                        </a:lnSpc>
                        <a:spcBef>
                          <a:spcPts val="720"/>
                        </a:spcBef>
                      </a:pPr>
                      <a:r>
                        <a:rPr lang="en-US" sz="900" dirty="0">
                          <a:latin typeface="微软雅黑" panose="020B0503020204020204" pitchFamily="34" charset="-122"/>
                          <a:ea typeface="微软雅黑" panose="020B0503020204020204" pitchFamily="34" charset="-122"/>
                          <a:cs typeface="微软雅黑"/>
                        </a:rPr>
                        <a:t>AAA, RADIUS, SSH, SNMP v3, and system logs</a:t>
                      </a:r>
                      <a:endParaRPr sz="900" dirty="0">
                        <a:latin typeface="微软雅黑" panose="020B0503020204020204" pitchFamily="34" charset="-122"/>
                        <a:ea typeface="微软雅黑" panose="020B0503020204020204" pitchFamily="34" charset="-122"/>
                        <a:cs typeface="微软雅黑"/>
                      </a:endParaRPr>
                    </a:p>
                  </a:txBody>
                  <a:tcPr marL="0" marR="0" marT="9144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52038314"/>
                  </a:ext>
                </a:extLst>
              </a:tr>
            </a:tbl>
          </a:graphicData>
        </a:graphic>
      </p:graphicFrame>
      <p:sp>
        <p:nvSpPr>
          <p:cNvPr id="5" name="object 5"/>
          <p:cNvSpPr txBox="1"/>
          <p:nvPr/>
        </p:nvSpPr>
        <p:spPr>
          <a:xfrm>
            <a:off x="6870065" y="10272000"/>
            <a:ext cx="100330" cy="173766"/>
          </a:xfrm>
          <a:prstGeom prst="rect">
            <a:avLst/>
          </a:prstGeom>
        </p:spPr>
        <p:txBody>
          <a:bodyPr vert="horz" wrap="square" lIns="0" tIns="19685" rIns="0" bIns="0" rtlCol="0">
            <a:spAutoFit/>
          </a:bodyPr>
          <a:lstStyle/>
          <a:p>
            <a:pPr marL="12700">
              <a:lnSpc>
                <a:spcPct val="100000"/>
              </a:lnSpc>
              <a:spcBef>
                <a:spcPts val="155"/>
              </a:spcBef>
            </a:pPr>
            <a:r>
              <a:rPr lang="en-US" altLang="zh-CN" sz="700" dirty="0">
                <a:solidFill>
                  <a:schemeClr val="tx1"/>
                </a:solidFill>
                <a:latin typeface="微软雅黑"/>
                <a:cs typeface="微软雅黑"/>
              </a:rPr>
              <a:t>3</a:t>
            </a:r>
            <a:endParaRPr sz="1000" dirty="0">
              <a:solidFill>
                <a:schemeClr val="tx1"/>
              </a:solidFill>
              <a:latin typeface="微软雅黑"/>
              <a:cs typeface="微软雅黑"/>
            </a:endParaRPr>
          </a:p>
        </p:txBody>
      </p:sp>
    </p:spTree>
    <p:extLst>
      <p:ext uri="{BB962C8B-B14F-4D97-AF65-F5344CB8AC3E}">
        <p14:creationId xmlns:p14="http://schemas.microsoft.com/office/powerpoint/2010/main" val="2316494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80606" y="10294619"/>
            <a:ext cx="88900" cy="166712"/>
          </a:xfrm>
          <a:prstGeom prst="rect">
            <a:avLst/>
          </a:prstGeom>
        </p:spPr>
        <p:txBody>
          <a:bodyPr vert="horz" wrap="square" lIns="0" tIns="12700" rIns="0" bIns="0" rtlCol="0">
            <a:spAutoFit/>
          </a:bodyPr>
          <a:lstStyle/>
          <a:p>
            <a:pPr marL="12700">
              <a:lnSpc>
                <a:spcPct val="100000"/>
              </a:lnSpc>
              <a:spcBef>
                <a:spcPts val="100"/>
              </a:spcBef>
            </a:pPr>
            <a:r>
              <a:rPr lang="en-US" altLang="zh-CN" sz="700" dirty="0">
                <a:solidFill>
                  <a:schemeClr val="tx1"/>
                </a:solidFill>
                <a:latin typeface="宋体"/>
                <a:cs typeface="宋体"/>
              </a:rPr>
              <a:t>4</a:t>
            </a:r>
            <a:endParaRPr sz="1000" dirty="0">
              <a:solidFill>
                <a:schemeClr val="tx1"/>
              </a:solidFill>
              <a:latin typeface="宋体"/>
              <a:cs typeface="宋体"/>
            </a:endParaRPr>
          </a:p>
        </p:txBody>
      </p:sp>
      <p:sp>
        <p:nvSpPr>
          <p:cNvPr id="4" name="object 4"/>
          <p:cNvSpPr txBox="1"/>
          <p:nvPr/>
        </p:nvSpPr>
        <p:spPr>
          <a:xfrm>
            <a:off x="607786" y="698500"/>
            <a:ext cx="1646464" cy="228268"/>
          </a:xfrm>
          <a:prstGeom prst="rect">
            <a:avLst/>
          </a:prstGeom>
        </p:spPr>
        <p:txBody>
          <a:bodyPr vert="horz" wrap="square" lIns="0" tIns="12700" rIns="0" bIns="0" rtlCol="0">
            <a:spAutoFit/>
          </a:bodyPr>
          <a:lstStyle/>
          <a:p>
            <a:pPr marL="12700">
              <a:lnSpc>
                <a:spcPct val="100000"/>
              </a:lnSpc>
              <a:spcBef>
                <a:spcPts val="100"/>
              </a:spcBef>
            </a:pPr>
            <a:r>
              <a:rPr lang="en-US" sz="1400" b="1" spc="-20" dirty="0">
                <a:solidFill>
                  <a:srgbClr val="C00000"/>
                </a:solidFill>
                <a:latin typeface="微软雅黑"/>
                <a:cs typeface="微软雅黑"/>
              </a:rPr>
              <a:t>Compliance</a:t>
            </a:r>
            <a:endParaRPr sz="1400" b="1" dirty="0">
              <a:solidFill>
                <a:srgbClr val="C00000"/>
              </a:solidFill>
              <a:latin typeface="微软雅黑"/>
              <a:cs typeface="微软雅黑"/>
            </a:endParaRPr>
          </a:p>
        </p:txBody>
      </p:sp>
      <p:graphicFrame>
        <p:nvGraphicFramePr>
          <p:cNvPr id="5" name="object 5"/>
          <p:cNvGraphicFramePr>
            <a:graphicFrameLocks noGrp="1"/>
          </p:cNvGraphicFramePr>
          <p:nvPr>
            <p:extLst>
              <p:ext uri="{D42A27DB-BD31-4B8C-83A1-F6EECF244321}">
                <p14:modId xmlns:p14="http://schemas.microsoft.com/office/powerpoint/2010/main" val="945947713"/>
              </p:ext>
            </p:extLst>
          </p:nvPr>
        </p:nvGraphicFramePr>
        <p:xfrm>
          <a:off x="577850" y="1155700"/>
          <a:ext cx="6435789" cy="8458200"/>
        </p:xfrm>
        <a:graphic>
          <a:graphicData uri="http://schemas.openxmlformats.org/drawingml/2006/table">
            <a:tbl>
              <a:tblPr firstRow="1" bandRow="1">
                <a:tableStyleId>{2D5ABB26-0587-4C30-8999-92F81FD0307C}</a:tableStyleId>
              </a:tblPr>
              <a:tblGrid>
                <a:gridCol w="2481458">
                  <a:extLst>
                    <a:ext uri="{9D8B030D-6E8A-4147-A177-3AD203B41FA5}">
                      <a16:colId xmlns:a16="http://schemas.microsoft.com/office/drawing/2014/main" val="20000"/>
                    </a:ext>
                  </a:extLst>
                </a:gridCol>
                <a:gridCol w="3954331">
                  <a:extLst>
                    <a:ext uri="{9D8B030D-6E8A-4147-A177-3AD203B41FA5}">
                      <a16:colId xmlns:a16="http://schemas.microsoft.com/office/drawing/2014/main" val="20001"/>
                    </a:ext>
                  </a:extLst>
                </a:gridCol>
              </a:tblGrid>
              <a:tr h="329373">
                <a:tc>
                  <a:txBody>
                    <a:bodyPr/>
                    <a:lstStyle/>
                    <a:p>
                      <a:pPr marL="73660">
                        <a:lnSpc>
                          <a:spcPct val="100000"/>
                        </a:lnSpc>
                        <a:spcBef>
                          <a:spcPts val="700"/>
                        </a:spcBef>
                      </a:pPr>
                      <a:r>
                        <a:rPr lang="en-US" sz="1000" b="1" spc="-25" dirty="0">
                          <a:solidFill>
                            <a:schemeClr val="tx1"/>
                          </a:solidFill>
                          <a:latin typeface="微软雅黑"/>
                          <a:cs typeface="微软雅黑"/>
                        </a:rPr>
                        <a:t>Project</a:t>
                      </a:r>
                      <a:endParaRPr sz="1000" dirty="0">
                        <a:solidFill>
                          <a:schemeClr val="tx1"/>
                        </a:solidFill>
                        <a:latin typeface="微软雅黑"/>
                        <a:cs typeface="微软雅黑"/>
                      </a:endParaRPr>
                    </a:p>
                  </a:txBody>
                  <a:tcPr marL="0" marR="0" marT="889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660">
                        <a:lnSpc>
                          <a:spcPct val="100000"/>
                        </a:lnSpc>
                        <a:spcBef>
                          <a:spcPts val="700"/>
                        </a:spcBef>
                      </a:pPr>
                      <a:r>
                        <a:rPr lang="en-US" sz="10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889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128827">
                <a:tc>
                  <a:txBody>
                    <a:bodyPr/>
                    <a:lstStyle/>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pPr>
                      <a:endParaRPr sz="900" dirty="0">
                        <a:latin typeface="微软雅黑" panose="020B0503020204020204" pitchFamily="34" charset="-122"/>
                        <a:ea typeface="微软雅黑" panose="020B0503020204020204" pitchFamily="34" charset="-122"/>
                        <a:cs typeface="Times New Roman"/>
                      </a:endParaRPr>
                    </a:p>
                    <a:p>
                      <a:pPr>
                        <a:lnSpc>
                          <a:spcPct val="100000"/>
                        </a:lnSpc>
                        <a:spcBef>
                          <a:spcPts val="35"/>
                        </a:spcBef>
                      </a:pPr>
                      <a:endParaRPr sz="900" dirty="0">
                        <a:latin typeface="微软雅黑" panose="020B0503020204020204" pitchFamily="34" charset="-122"/>
                        <a:ea typeface="微软雅黑" panose="020B0503020204020204" pitchFamily="34" charset="-122"/>
                        <a:cs typeface="Times New Roman"/>
                      </a:endParaRPr>
                    </a:p>
                    <a:p>
                      <a:pPr marL="73660">
                        <a:lnSpc>
                          <a:spcPct val="100000"/>
                        </a:lnSpc>
                      </a:pPr>
                      <a:r>
                        <a:rPr lang="en-US" sz="900" dirty="0">
                          <a:latin typeface="微软雅黑" panose="020B0503020204020204" pitchFamily="34" charset="-122"/>
                          <a:ea typeface="微软雅黑" panose="020B0503020204020204" pitchFamily="34" charset="-122"/>
                          <a:cs typeface="微软雅黑"/>
                        </a:rPr>
                        <a:t>Compliance</a:t>
                      </a:r>
                      <a:endParaRPr sz="900" dirty="0">
                        <a:latin typeface="微软雅黑" panose="020B0503020204020204" pitchFamily="34" charset="-122"/>
                        <a:ea typeface="微软雅黑" panose="020B0503020204020204" pitchFamily="34" charset="-122"/>
                        <a:cs typeface="微软雅黑"/>
                      </a:endParaRPr>
                    </a:p>
                  </a:txBody>
                  <a:tcPr marL="0" marR="0" marT="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73660" indent="0">
                        <a:lnSpc>
                          <a:spcPct val="100000"/>
                        </a:lnSpc>
                        <a:spcBef>
                          <a:spcPts val="720"/>
                        </a:spcBef>
                        <a:buFont typeface="Wingdings"/>
                        <a:buNone/>
                      </a:pPr>
                      <a:r>
                        <a:rPr lang="en-US" altLang="zh-CN" sz="900" b="1" dirty="0">
                          <a:solidFill>
                            <a:schemeClr val="tx1"/>
                          </a:solidFill>
                          <a:latin typeface="微软雅黑" panose="020B0503020204020204" pitchFamily="34" charset="-122"/>
                          <a:ea typeface="微软雅黑" panose="020B0503020204020204" pitchFamily="34" charset="-122"/>
                          <a:cs typeface="Times New Roman"/>
                        </a:rPr>
                        <a:t>EMC</a:t>
                      </a: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ANSI C63.4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AS/NZSPR 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CISPR 24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CISPR 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EN 55024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EN 55032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300 386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FCC CFR47 Part 15 Subpart B</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ICES-003 Issue 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ICES-GEN Issue 1</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61000-3-2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61000-3-3</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61000-4-11</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61000-4-29</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61000-4-3</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61000-4-5</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61000-4-6</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61000-6-2</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IEC 61000-6-4</a:t>
                      </a:r>
                    </a:p>
                    <a:p>
                      <a:pPr marL="342900" indent="-269875">
                        <a:lnSpc>
                          <a:spcPct val="100000"/>
                        </a:lnSpc>
                        <a:spcBef>
                          <a:spcPts val="5"/>
                        </a:spcBef>
                        <a:buSzPct val="61111"/>
                        <a:buFont typeface="Wingdings"/>
                        <a:buChar char=""/>
                        <a:tabLst>
                          <a:tab pos="342900" algn="l"/>
                          <a:tab pos="343535" algn="l"/>
                        </a:tabLst>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VCCI-CISPR 32</a:t>
                      </a:r>
                    </a:p>
                    <a:p>
                      <a:pPr marL="73660" indent="0">
                        <a:lnSpc>
                          <a:spcPct val="100000"/>
                        </a:lnSpc>
                        <a:spcBef>
                          <a:spcPts val="880"/>
                        </a:spcBef>
                        <a:buFont typeface="Wingdings"/>
                        <a:buNone/>
                      </a:pPr>
                      <a:r>
                        <a:rPr lang="en-US" altLang="en-US" sz="900" b="1" dirty="0">
                          <a:solidFill>
                            <a:schemeClr val="tx1"/>
                          </a:solidFill>
                          <a:latin typeface="微软雅黑" panose="020B0503020204020204" pitchFamily="34" charset="-122"/>
                          <a:ea typeface="微软雅黑" panose="020B0503020204020204" pitchFamily="34" charset="-122"/>
                          <a:cs typeface="Times New Roman"/>
                        </a:rPr>
                        <a:t>Environment</a:t>
                      </a:r>
                    </a:p>
                    <a:p>
                      <a:pPr marL="171450" indent="-171450">
                        <a:lnSpc>
                          <a:spcPct val="100000"/>
                        </a:lnSpc>
                        <a:spcBef>
                          <a:spcPts val="30"/>
                        </a:spcBef>
                        <a:buFont typeface="Wingdings"/>
                        <a:buChar char=""/>
                      </a:pPr>
                      <a:endParaRPr lang="zh-CN" altLang="en-US"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spcBef>
                          <a:spcPts val="5"/>
                        </a:spcBef>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300 019-1-1</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300 019-1-2</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300 019-1-3</a:t>
                      </a:r>
                    </a:p>
                    <a:p>
                      <a:pPr marL="171450" indent="-171450">
                        <a:lnSpc>
                          <a:spcPct val="100000"/>
                        </a:lnSpc>
                        <a:spcBef>
                          <a:spcPts val="3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300 753</a:t>
                      </a:r>
                    </a:p>
                    <a:p>
                      <a:pPr marL="171450" indent="-171450">
                        <a:lnSpc>
                          <a:spcPct val="100000"/>
                        </a:lnSpc>
                        <a:spcBef>
                          <a:spcPts val="1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300 019-2-1</a:t>
                      </a:r>
                    </a:p>
                    <a:p>
                      <a:pPr marL="171450" indent="-171450">
                        <a:lnSpc>
                          <a:spcPct val="100000"/>
                        </a:lnSpc>
                        <a:spcBef>
                          <a:spcPts val="35"/>
                        </a:spcBef>
                        <a:buFont typeface="Wingdings"/>
                        <a:buChar char=""/>
                      </a:pPr>
                      <a:endParaRPr lang="en-US" altLang="zh-CN" sz="900" dirty="0">
                        <a:solidFill>
                          <a:schemeClr val="tx1"/>
                        </a:solidFill>
                        <a:latin typeface="微软雅黑" panose="020B0503020204020204" pitchFamily="34" charset="-122"/>
                        <a:ea typeface="微软雅黑" panose="020B0503020204020204" pitchFamily="34" charset="-122"/>
                        <a:cs typeface="Times New Roman"/>
                      </a:endParaRPr>
                    </a:p>
                    <a:p>
                      <a:pPr marL="342900" indent="-269875">
                        <a:lnSpc>
                          <a:spcPct val="100000"/>
                        </a:lnSpc>
                        <a:buSzPct val="61111"/>
                        <a:buFont typeface="Wingdings"/>
                        <a:buChar char=""/>
                        <a:tabLst>
                          <a:tab pos="342900" algn="l"/>
                          <a:tab pos="343535" algn="l"/>
                        </a:tabLst>
                      </a:pPr>
                      <a:r>
                        <a:rPr lang="en-US" altLang="zh-CN" sz="900" dirty="0">
                          <a:solidFill>
                            <a:schemeClr val="tx1"/>
                          </a:solidFill>
                          <a:latin typeface="微软雅黑" panose="020B0503020204020204" pitchFamily="34" charset="-122"/>
                          <a:ea typeface="微软雅黑" panose="020B0503020204020204" pitchFamily="34" charset="-122"/>
                          <a:cs typeface="Times New Roman"/>
                        </a:rPr>
                        <a:t>ETSI EN 300 019-2-2</a:t>
                      </a:r>
                      <a:endParaRPr sz="900" dirty="0">
                        <a:latin typeface="微软雅黑" panose="020B0503020204020204" pitchFamily="34" charset="-122"/>
                        <a:ea typeface="微软雅黑" panose="020B0503020204020204" pitchFamily="34" charset="-122"/>
                        <a:cs typeface="微软雅黑"/>
                      </a:endParaRPr>
                    </a:p>
                  </a:txBody>
                  <a:tcPr marL="0" marR="0" marT="9144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0065" y="10279380"/>
            <a:ext cx="100330" cy="166712"/>
          </a:xfrm>
          <a:prstGeom prst="rect">
            <a:avLst/>
          </a:prstGeom>
        </p:spPr>
        <p:txBody>
          <a:bodyPr vert="horz" wrap="square" lIns="0" tIns="12700" rIns="0" bIns="0" rtlCol="0">
            <a:spAutoFit/>
          </a:bodyPr>
          <a:lstStyle/>
          <a:p>
            <a:pPr marL="12700">
              <a:lnSpc>
                <a:spcPct val="100000"/>
              </a:lnSpc>
              <a:spcBef>
                <a:spcPts val="100"/>
              </a:spcBef>
            </a:pPr>
            <a:r>
              <a:rPr lang="en-US" altLang="zh-CN" sz="700" dirty="0">
                <a:solidFill>
                  <a:schemeClr val="tx1"/>
                </a:solidFill>
                <a:latin typeface="微软雅黑"/>
                <a:cs typeface="微软雅黑"/>
              </a:rPr>
              <a:t>5</a:t>
            </a:r>
            <a:endParaRPr sz="1000" dirty="0">
              <a:solidFill>
                <a:schemeClr val="tx1"/>
              </a:solidFill>
              <a:latin typeface="微软雅黑"/>
              <a:cs typeface="微软雅黑"/>
            </a:endParaRPr>
          </a:p>
        </p:txBody>
      </p:sp>
      <p:graphicFrame>
        <p:nvGraphicFramePr>
          <p:cNvPr id="3" name="object 3"/>
          <p:cNvGraphicFramePr>
            <a:graphicFrameLocks noGrp="1"/>
          </p:cNvGraphicFramePr>
          <p:nvPr>
            <p:extLst>
              <p:ext uri="{D42A27DB-BD31-4B8C-83A1-F6EECF244321}">
                <p14:modId xmlns:p14="http://schemas.microsoft.com/office/powerpoint/2010/main" val="2250728145"/>
              </p:ext>
            </p:extLst>
          </p:nvPr>
        </p:nvGraphicFramePr>
        <p:xfrm>
          <a:off x="577850" y="665704"/>
          <a:ext cx="6487160" cy="6250940"/>
        </p:xfrm>
        <a:graphic>
          <a:graphicData uri="http://schemas.openxmlformats.org/drawingml/2006/table">
            <a:tbl>
              <a:tblPr firstRow="1" bandRow="1">
                <a:tableStyleId>{2D5ABB26-0587-4C30-8999-92F81FD0307C}</a:tableStyleId>
              </a:tblPr>
              <a:tblGrid>
                <a:gridCol w="2501265">
                  <a:extLst>
                    <a:ext uri="{9D8B030D-6E8A-4147-A177-3AD203B41FA5}">
                      <a16:colId xmlns:a16="http://schemas.microsoft.com/office/drawing/2014/main" val="20000"/>
                    </a:ext>
                  </a:extLst>
                </a:gridCol>
                <a:gridCol w="3985895">
                  <a:extLst>
                    <a:ext uri="{9D8B030D-6E8A-4147-A177-3AD203B41FA5}">
                      <a16:colId xmlns:a16="http://schemas.microsoft.com/office/drawing/2014/main" val="20001"/>
                    </a:ext>
                  </a:extLst>
                </a:gridCol>
              </a:tblGrid>
              <a:tr h="330200">
                <a:tc>
                  <a:txBody>
                    <a:bodyPr/>
                    <a:lstStyle/>
                    <a:p>
                      <a:pPr marL="73660">
                        <a:lnSpc>
                          <a:spcPct val="100000"/>
                        </a:lnSpc>
                        <a:spcBef>
                          <a:spcPts val="740"/>
                        </a:spcBef>
                      </a:pPr>
                      <a:r>
                        <a:rPr lang="en-US" sz="700" b="1" spc="-25" dirty="0">
                          <a:solidFill>
                            <a:schemeClr val="tx1"/>
                          </a:solidFill>
                          <a:latin typeface="微软雅黑"/>
                          <a:cs typeface="微软雅黑"/>
                        </a:rPr>
                        <a:t>Project</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73660">
                        <a:lnSpc>
                          <a:spcPct val="100000"/>
                        </a:lnSpc>
                        <a:spcBef>
                          <a:spcPts val="740"/>
                        </a:spcBef>
                      </a:pPr>
                      <a:r>
                        <a:rPr lang="en-US" sz="700" b="1" spc="-25" dirty="0">
                          <a:solidFill>
                            <a:schemeClr val="tx1"/>
                          </a:solidFill>
                          <a:latin typeface="微软雅黑"/>
                          <a:cs typeface="微软雅黑"/>
                        </a:rPr>
                        <a:t>Description</a:t>
                      </a:r>
                      <a:endParaRPr sz="1000" dirty="0">
                        <a:solidFill>
                          <a:schemeClr val="tx1"/>
                        </a:solidFill>
                        <a:latin typeface="微软雅黑"/>
                        <a:cs typeface="微软雅黑"/>
                      </a:endParaRPr>
                    </a:p>
                  </a:txBody>
                  <a:tcPr marL="0" marR="0" marT="9398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920740">
                <a:tc>
                  <a:txBody>
                    <a:bodyPr/>
                    <a:lstStyle/>
                    <a:p>
                      <a:pPr>
                        <a:lnSpc>
                          <a:spcPct val="100000"/>
                        </a:lnSpc>
                      </a:pPr>
                      <a:endParaRPr sz="900" dirty="0">
                        <a:latin typeface="Times New Roman"/>
                        <a:cs typeface="Times New Roman"/>
                      </a:endParaRPr>
                    </a:p>
                  </a:txBody>
                  <a:tcPr marL="0" marR="0" marT="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342900" indent="-269875">
                        <a:lnSpc>
                          <a:spcPct val="100000"/>
                        </a:lnSpc>
                        <a:spcBef>
                          <a:spcPts val="320"/>
                        </a:spcBef>
                        <a:buSzPct val="61111"/>
                        <a:buFont typeface="Wingdings"/>
                        <a:buChar char=""/>
                        <a:tabLst>
                          <a:tab pos="342900" algn="l"/>
                          <a:tab pos="343535" algn="l"/>
                        </a:tabLst>
                      </a:pPr>
                      <a:r>
                        <a:rPr lang="en-US" sz="809" dirty="0">
                          <a:latin typeface="微软雅黑"/>
                          <a:cs typeface="微软雅黑"/>
                        </a:rPr>
                        <a:t>ETSI EN 300 019-2-3</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60068-2-1</a:t>
                      </a:r>
                      <a:endParaRPr sz="900" dirty="0">
                        <a:latin typeface="微软雅黑"/>
                        <a:cs typeface="微软雅黑"/>
                      </a:endParaRPr>
                    </a:p>
                    <a:p>
                      <a:pPr>
                        <a:lnSpc>
                          <a:spcPct val="100000"/>
                        </a:lnSpc>
                        <a:spcBef>
                          <a:spcPts val="30"/>
                        </a:spcBef>
                        <a:buFont typeface="Wingdings"/>
                        <a:buChar char=""/>
                      </a:pPr>
                      <a:endParaRPr sz="1050" dirty="0">
                        <a:latin typeface="Times New Roman"/>
                        <a:cs typeface="Times New Roman"/>
                      </a:endParaRPr>
                    </a:p>
                    <a:p>
                      <a:pPr marL="342900" indent="-269875">
                        <a:lnSpc>
                          <a:spcPct val="100000"/>
                        </a:lnSpc>
                        <a:spcBef>
                          <a:spcPts val="5"/>
                        </a:spcBef>
                        <a:buSzPct val="61111"/>
                        <a:buFont typeface="Wingdings"/>
                        <a:buChar char=""/>
                        <a:tabLst>
                          <a:tab pos="342900" algn="l"/>
                          <a:tab pos="343535" algn="l"/>
                        </a:tabLst>
                      </a:pPr>
                      <a:r>
                        <a:rPr lang="en-US" sz="809" dirty="0">
                          <a:latin typeface="微软雅黑"/>
                          <a:cs typeface="微软雅黑"/>
                        </a:rPr>
                        <a:t>IEC 60068-2-2</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60068-2-14</a:t>
                      </a:r>
                      <a:endParaRPr sz="900" dirty="0">
                        <a:latin typeface="微软雅黑"/>
                        <a:cs typeface="微软雅黑"/>
                      </a:endParaRPr>
                    </a:p>
                    <a:p>
                      <a:pPr>
                        <a:lnSpc>
                          <a:spcPct val="100000"/>
                        </a:lnSpc>
                        <a:spcBef>
                          <a:spcPts val="30"/>
                        </a:spcBef>
                        <a:buFont typeface="Wingdings"/>
                        <a:buChar char=""/>
                      </a:pPr>
                      <a:endParaRPr sz="1050" dirty="0">
                        <a:latin typeface="Times New Roman"/>
                        <a:cs typeface="Times New Roman"/>
                      </a:endParaRPr>
                    </a:p>
                    <a:p>
                      <a:pPr marL="342900" indent="-269875">
                        <a:lnSpc>
                          <a:spcPct val="100000"/>
                        </a:lnSpc>
                        <a:spcBef>
                          <a:spcPts val="5"/>
                        </a:spcBef>
                        <a:buSzPct val="61111"/>
                        <a:buFont typeface="Wingdings"/>
                        <a:buChar char=""/>
                        <a:tabLst>
                          <a:tab pos="342900" algn="l"/>
                          <a:tab pos="343535" algn="l"/>
                        </a:tabLst>
                      </a:pPr>
                      <a:r>
                        <a:rPr lang="en-US" sz="809" dirty="0">
                          <a:latin typeface="微软雅黑"/>
                          <a:cs typeface="微软雅黑"/>
                        </a:rPr>
                        <a:t>IEC 60068-2-27</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60068-2-30</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60068-2-31</a:t>
                      </a:r>
                      <a:endParaRPr sz="900" dirty="0">
                        <a:latin typeface="微软雅黑"/>
                        <a:cs typeface="微软雅黑"/>
                      </a:endParaRPr>
                    </a:p>
                    <a:p>
                      <a:pPr>
                        <a:lnSpc>
                          <a:spcPct val="100000"/>
                        </a:lnSpc>
                        <a:spcBef>
                          <a:spcPts val="35"/>
                        </a:spcBef>
                        <a:buFont typeface="Wingdings"/>
                        <a:buChar char=""/>
                      </a:pPr>
                      <a:endParaRPr sz="105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GB/T 2423.26-2008</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60068-2-39</a:t>
                      </a:r>
                      <a:endParaRPr sz="900" dirty="0">
                        <a:latin typeface="微软雅黑"/>
                        <a:cs typeface="微软雅黑"/>
                      </a:endParaRPr>
                    </a:p>
                    <a:p>
                      <a:pPr>
                        <a:lnSpc>
                          <a:spcPct val="100000"/>
                        </a:lnSpc>
                        <a:spcBef>
                          <a:spcPts val="35"/>
                        </a:spcBef>
                        <a:buFont typeface="Wingdings"/>
                        <a:buChar char=""/>
                      </a:pPr>
                      <a:endParaRPr sz="105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 60068-2-64</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ISTA 2A</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ISO 7779</a:t>
                      </a:r>
                      <a:endParaRPr sz="900" dirty="0">
                        <a:latin typeface="微软雅黑"/>
                        <a:cs typeface="微软雅黑"/>
                      </a:endParaRPr>
                    </a:p>
                    <a:p>
                      <a:pPr>
                        <a:lnSpc>
                          <a:spcPct val="100000"/>
                        </a:lnSpc>
                        <a:spcBef>
                          <a:spcPts val="35"/>
                        </a:spcBef>
                        <a:buFont typeface="Wingdings"/>
                        <a:buChar char=""/>
                      </a:pPr>
                      <a:endParaRPr sz="1050" dirty="0">
                        <a:latin typeface="Times New Roman"/>
                        <a:cs typeface="Times New Roman"/>
                      </a:endParaRPr>
                    </a:p>
                    <a:p>
                      <a:pPr marL="73660">
                        <a:lnSpc>
                          <a:spcPct val="100000"/>
                        </a:lnSpc>
                      </a:pPr>
                      <a:r>
                        <a:rPr lang="en-US" sz="809" b="1" dirty="0">
                          <a:latin typeface="微软雅黑"/>
                          <a:cs typeface="微软雅黑"/>
                        </a:rPr>
                        <a:t>Security.</a:t>
                      </a:r>
                      <a:endParaRPr sz="900" dirty="0">
                        <a:latin typeface="微软雅黑"/>
                        <a:cs typeface="微软雅黑"/>
                      </a:endParaRPr>
                    </a:p>
                    <a:p>
                      <a:pPr>
                        <a:lnSpc>
                          <a:spcPct val="100000"/>
                        </a:lnSpc>
                        <a:spcBef>
                          <a:spcPts val="15"/>
                        </a:spcBef>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IEC/EN/UL/CSA 60950-1</a:t>
                      </a:r>
                      <a:endParaRPr sz="900" dirty="0">
                        <a:latin typeface="微软雅黑"/>
                        <a:cs typeface="微软雅黑"/>
                      </a:endParaRPr>
                    </a:p>
                    <a:p>
                      <a:pPr>
                        <a:lnSpc>
                          <a:spcPct val="100000"/>
                        </a:lnSpc>
                        <a:spcBef>
                          <a:spcPts val="35"/>
                        </a:spcBef>
                        <a:buFont typeface="Wingdings"/>
                        <a:buChar char=""/>
                      </a:pPr>
                      <a:endParaRPr sz="105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IEC/EN 62368-1</a:t>
                      </a:r>
                      <a:endParaRPr sz="900" dirty="0">
                        <a:latin typeface="微软雅黑"/>
                        <a:cs typeface="微软雅黑"/>
                      </a:endParaRPr>
                    </a:p>
                    <a:p>
                      <a:pPr>
                        <a:lnSpc>
                          <a:spcPct val="100000"/>
                        </a:lnSpc>
                        <a:spcBef>
                          <a:spcPts val="15"/>
                        </a:spcBef>
                        <a:buFont typeface="Wingdings"/>
                        <a:buChar char=""/>
                      </a:pPr>
                      <a:endParaRPr sz="1100" dirty="0">
                        <a:latin typeface="Times New Roman"/>
                        <a:cs typeface="Times New Roman"/>
                      </a:endParaRPr>
                    </a:p>
                    <a:p>
                      <a:pPr marL="73660">
                        <a:lnSpc>
                          <a:spcPct val="100000"/>
                        </a:lnSpc>
                      </a:pPr>
                      <a:r>
                        <a:rPr lang="en-US" sz="809" b="1" dirty="0">
                          <a:latin typeface="微软雅黑"/>
                          <a:cs typeface="微软雅黑"/>
                        </a:rPr>
                        <a:t>Environmental protection</a:t>
                      </a:r>
                      <a:endParaRPr sz="900" dirty="0">
                        <a:latin typeface="微软雅黑"/>
                        <a:cs typeface="微软雅黑"/>
                      </a:endParaRPr>
                    </a:p>
                    <a:p>
                      <a:pPr>
                        <a:lnSpc>
                          <a:spcPct val="100000"/>
                        </a:lnSpc>
                        <a:spcBef>
                          <a:spcPts val="20"/>
                        </a:spcBef>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2011/65/EU &amp; (EU)2015/863 (EU RoHS)</a:t>
                      </a:r>
                      <a:endParaRPr sz="900" dirty="0">
                        <a:latin typeface="微软雅黑"/>
                        <a:cs typeface="微软雅黑"/>
                      </a:endParaRPr>
                    </a:p>
                    <a:p>
                      <a:pPr>
                        <a:lnSpc>
                          <a:spcPct val="100000"/>
                        </a:lnSpc>
                        <a:spcBef>
                          <a:spcPts val="30"/>
                        </a:spcBef>
                        <a:buFont typeface="Wingdings"/>
                        <a:buChar char=""/>
                      </a:pPr>
                      <a:endParaRPr sz="105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Regulation (EC) No.1907/2006 (REACH)</a:t>
                      </a:r>
                      <a:endParaRPr sz="900" dirty="0">
                        <a:latin typeface="微软雅黑"/>
                        <a:cs typeface="微软雅黑"/>
                      </a:endParaRPr>
                    </a:p>
                    <a:p>
                      <a:pPr>
                        <a:lnSpc>
                          <a:spcPct val="100000"/>
                        </a:lnSpc>
                        <a:spcBef>
                          <a:spcPts val="20"/>
                        </a:spcBef>
                        <a:buFont typeface="Wingdings"/>
                        <a:buChar char=""/>
                      </a:pPr>
                      <a:endParaRPr sz="1100" dirty="0">
                        <a:latin typeface="Times New Roman"/>
                        <a:cs typeface="Times New Roman"/>
                      </a:endParaRPr>
                    </a:p>
                    <a:p>
                      <a:pPr marL="342900" indent="-269875">
                        <a:lnSpc>
                          <a:spcPct val="100000"/>
                        </a:lnSpc>
                        <a:buSzPct val="61111"/>
                        <a:buFont typeface="Wingdings"/>
                        <a:buChar char=""/>
                        <a:tabLst>
                          <a:tab pos="342900" algn="l"/>
                          <a:tab pos="343535" algn="l"/>
                        </a:tabLst>
                      </a:pPr>
                      <a:r>
                        <a:rPr lang="en-US" sz="809" dirty="0">
                          <a:latin typeface="微软雅黑"/>
                          <a:cs typeface="微软雅黑"/>
                        </a:rPr>
                        <a:t>2012/19/EU (WEEE)</a:t>
                      </a:r>
                      <a:endParaRPr sz="900" dirty="0">
                        <a:latin typeface="微软雅黑"/>
                        <a:cs typeface="微软雅黑"/>
                      </a:endParaRPr>
                    </a:p>
                    <a:p>
                      <a:pPr>
                        <a:lnSpc>
                          <a:spcPct val="100000"/>
                        </a:lnSpc>
                        <a:spcBef>
                          <a:spcPts val="30"/>
                        </a:spcBef>
                        <a:buFont typeface="Wingdings"/>
                        <a:buChar char=""/>
                      </a:pPr>
                      <a:endParaRPr sz="1050" dirty="0">
                        <a:latin typeface="Times New Roman"/>
                        <a:cs typeface="Times New Roman"/>
                      </a:endParaRPr>
                    </a:p>
                    <a:p>
                      <a:pPr marL="342900" indent="-269875">
                        <a:lnSpc>
                          <a:spcPct val="100000"/>
                        </a:lnSpc>
                        <a:spcBef>
                          <a:spcPts val="5"/>
                        </a:spcBef>
                        <a:buSzPct val="61111"/>
                        <a:buFont typeface="Wingdings"/>
                        <a:buChar char=""/>
                        <a:tabLst>
                          <a:tab pos="342900" algn="l"/>
                          <a:tab pos="343535" algn="l"/>
                        </a:tabLst>
                      </a:pPr>
                      <a:r>
                        <a:rPr lang="en-US" sz="809" dirty="0">
                          <a:latin typeface="微软雅黑"/>
                          <a:cs typeface="微软雅黑"/>
                        </a:rPr>
                        <a:t>2006/66/EC and 2013/56/EU on batteries and accumulators</a:t>
                      </a:r>
                      <a:endParaRPr sz="900" dirty="0">
                        <a:latin typeface="微软雅黑"/>
                        <a:cs typeface="微软雅黑"/>
                      </a:endParaRPr>
                    </a:p>
                  </a:txBody>
                  <a:tcPr marL="0" marR="0" marT="4064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object 4"/>
          <p:cNvSpPr txBox="1"/>
          <p:nvPr/>
        </p:nvSpPr>
        <p:spPr>
          <a:xfrm>
            <a:off x="755015" y="7438008"/>
            <a:ext cx="6271895" cy="1311962"/>
          </a:xfrm>
          <a:prstGeom prst="rect">
            <a:avLst/>
          </a:prstGeom>
        </p:spPr>
        <p:txBody>
          <a:bodyPr vert="horz" wrap="square" lIns="0" tIns="15240" rIns="0" bIns="0" rtlCol="0">
            <a:spAutoFit/>
          </a:bodyPr>
          <a:lstStyle/>
          <a:p>
            <a:pPr marL="266700" indent="-254000">
              <a:lnSpc>
                <a:spcPct val="100000"/>
              </a:lnSpc>
              <a:spcBef>
                <a:spcPts val="120"/>
              </a:spcBef>
              <a:buFont typeface="Wingdings"/>
              <a:buChar char=""/>
              <a:tabLst>
                <a:tab pos="266065" algn="l"/>
                <a:tab pos="266700" algn="l"/>
              </a:tabLst>
            </a:pPr>
            <a:r>
              <a:rPr lang="en-US" sz="900" dirty="0">
                <a:solidFill>
                  <a:srgbClr val="666666"/>
                </a:solidFill>
                <a:latin typeface="微软雅黑"/>
                <a:cs typeface="微软雅黑"/>
              </a:rPr>
              <a:t>With regard to the physical dimensions provided in the table, the width (W) does not consider the mounting ears.</a:t>
            </a:r>
            <a:endParaRPr sz="900" dirty="0">
              <a:latin typeface="微软雅黑"/>
              <a:cs typeface="微软雅黑"/>
            </a:endParaRPr>
          </a:p>
          <a:p>
            <a:pPr marL="266700" indent="-254000">
              <a:lnSpc>
                <a:spcPct val="100000"/>
              </a:lnSpc>
              <a:spcBef>
                <a:spcPts val="880"/>
              </a:spcBef>
              <a:buFont typeface="Wingdings"/>
              <a:buChar char=""/>
              <a:tabLst>
                <a:tab pos="266065" algn="l"/>
                <a:tab pos="266700" algn="l"/>
              </a:tabLst>
            </a:pPr>
            <a:r>
              <a:rPr lang="en-US" sz="900" dirty="0">
                <a:solidFill>
                  <a:srgbClr val="666666"/>
                </a:solidFill>
                <a:latin typeface="微软雅黑"/>
                <a:cs typeface="微软雅黑"/>
              </a:rPr>
              <a:t>Temperature and humidity are measured 1.5 meters above the ground and 0.4 meters in front of the cabinet. There is no protection plate on the front or rear side of the cabinet.</a:t>
            </a:r>
            <a:endParaRPr sz="900" dirty="0">
              <a:latin typeface="微软雅黑"/>
              <a:cs typeface="微软雅黑"/>
            </a:endParaRPr>
          </a:p>
          <a:p>
            <a:pPr marL="266700" marR="5080" indent="-254000">
              <a:lnSpc>
                <a:spcPct val="144400"/>
              </a:lnSpc>
              <a:spcBef>
                <a:spcPts val="360"/>
              </a:spcBef>
              <a:buFont typeface="Wingdings"/>
              <a:buChar char=""/>
              <a:tabLst>
                <a:tab pos="266065" algn="l"/>
                <a:tab pos="266700" algn="l"/>
              </a:tabLst>
            </a:pPr>
            <a:r>
              <a:rPr lang="en-US" sz="900" dirty="0">
                <a:solidFill>
                  <a:srgbClr val="666666"/>
                </a:solidFill>
                <a:latin typeface="微软雅黑"/>
                <a:cs typeface="微软雅黑"/>
              </a:rPr>
              <a:t>"Short-term" means that the continuous working time does not exceed 96 hours and the accumulated working time does not exceed 15 days per year. If the working time exceeds any of these values, it is considered "long-term".</a:t>
            </a:r>
            <a:endParaRPr sz="900" dirty="0">
              <a:latin typeface="微软雅黑"/>
              <a:cs typeface="微软雅黑"/>
            </a:endParaRPr>
          </a:p>
        </p:txBody>
      </p:sp>
      <p:sp>
        <p:nvSpPr>
          <p:cNvPr id="5" name="object 5"/>
          <p:cNvSpPr txBox="1"/>
          <p:nvPr/>
        </p:nvSpPr>
        <p:spPr>
          <a:xfrm>
            <a:off x="526096" y="8957944"/>
            <a:ext cx="4242754" cy="636072"/>
          </a:xfrm>
          <a:prstGeom prst="rect">
            <a:avLst/>
          </a:prstGeom>
        </p:spPr>
        <p:txBody>
          <a:bodyPr vert="horz" wrap="square" lIns="0" tIns="12700" rIns="0" bIns="0" rtlCol="0">
            <a:spAutoFit/>
          </a:bodyPr>
          <a:lstStyle/>
          <a:p>
            <a:pPr marL="12700">
              <a:lnSpc>
                <a:spcPct val="100000"/>
              </a:lnSpc>
              <a:spcBef>
                <a:spcPts val="100"/>
              </a:spcBef>
            </a:pPr>
            <a:r>
              <a:rPr lang="en-US" sz="1400" b="1" spc="-10" dirty="0">
                <a:solidFill>
                  <a:srgbClr val="C00000"/>
                </a:solidFill>
                <a:latin typeface="微软雅黑"/>
                <a:cs typeface="微软雅黑"/>
              </a:rPr>
              <a:t>Software upgrade path</a:t>
            </a:r>
            <a:endParaRPr sz="1400" dirty="0">
              <a:solidFill>
                <a:srgbClr val="C00000"/>
              </a:solidFill>
              <a:latin typeface="微软雅黑"/>
              <a:cs typeface="微软雅黑"/>
            </a:endParaRPr>
          </a:p>
          <a:p>
            <a:pPr marL="12700">
              <a:lnSpc>
                <a:spcPct val="100000"/>
              </a:lnSpc>
              <a:spcBef>
                <a:spcPts val="2140"/>
              </a:spcBef>
            </a:pPr>
            <a:r>
              <a:rPr lang="en-US" sz="900" dirty="0">
                <a:latin typeface="微软雅黑"/>
                <a:cs typeface="微软雅黑"/>
              </a:rPr>
              <a:t>Access </a:t>
            </a:r>
            <a:r>
              <a:rPr lang="en-US" sz="900" u="sng" dirty="0">
                <a:latin typeface="微软雅黑"/>
                <a:cs typeface="微软雅黑"/>
              </a:rPr>
              <a:t>to </a:t>
            </a:r>
            <a:r>
              <a:rPr lang="en-US" sz="900" u="sng" spc="-20" dirty="0">
                <a:solidFill>
                  <a:schemeClr val="tx1"/>
                </a:solidFill>
                <a:latin typeface="微软雅黑"/>
                <a:cs typeface="微软雅黑"/>
                <a:hlinkClick r:id="rId2">
                  <a:extLst>
                    <a:ext uri="{A12FA001-AC4F-418D-AE19-62706E023703}">
                      <ahyp:hlinkClr xmlns:ahyp="http://schemas.microsoft.com/office/drawing/2018/hyperlinkcolor" val="tx"/>
                    </a:ext>
                  </a:extLst>
                </a:hlinkClick>
              </a:rPr>
              <a:t>Software upgrade path</a:t>
            </a:r>
            <a:r>
              <a:rPr lang="en-US" sz="900" u="sng" spc="-20" dirty="0">
                <a:solidFill>
                  <a:schemeClr val="tx1"/>
                </a:solidFill>
                <a:latin typeface="微软雅黑"/>
                <a:cs typeface="微软雅黑"/>
              </a:rPr>
              <a:t> </a:t>
            </a:r>
            <a:r>
              <a:rPr lang="en-US" sz="900" spc="5" dirty="0">
                <a:latin typeface="微软雅黑"/>
                <a:cs typeface="微软雅黑"/>
              </a:rPr>
              <a:t>Obtain the VRP software version or patch.</a:t>
            </a:r>
            <a:endParaRPr sz="900" dirty="0">
              <a:latin typeface="微软雅黑"/>
              <a:cs typeface="微软雅黑"/>
            </a:endParaRPr>
          </a:p>
        </p:txBody>
      </p:sp>
      <p:pic>
        <p:nvPicPr>
          <p:cNvPr id="6" name="object 6"/>
          <p:cNvPicPr/>
          <p:nvPr/>
        </p:nvPicPr>
        <p:blipFill>
          <a:blip r:embed="rId3" cstate="print"/>
          <a:stretch>
            <a:fillRect/>
          </a:stretch>
        </p:blipFill>
        <p:spPr>
          <a:xfrm>
            <a:off x="546323" y="7247987"/>
            <a:ext cx="534446" cy="1453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6097" y="586993"/>
            <a:ext cx="1423353" cy="422039"/>
          </a:xfrm>
          <a:prstGeom prst="rect">
            <a:avLst/>
          </a:prstGeom>
        </p:spPr>
        <p:txBody>
          <a:bodyPr vert="horz" wrap="square" lIns="0" tIns="12700" rIns="0" bIns="0" rtlCol="0">
            <a:spAutoFit/>
          </a:bodyPr>
          <a:lstStyle/>
          <a:p>
            <a:pPr marL="12700">
              <a:lnSpc>
                <a:spcPct val="100000"/>
              </a:lnSpc>
              <a:spcBef>
                <a:spcPts val="100"/>
              </a:spcBef>
            </a:pPr>
            <a:r>
              <a:rPr lang="en-US" sz="1259" b="1" spc="-15" dirty="0">
                <a:solidFill>
                  <a:srgbClr val="C00000"/>
                </a:solidFill>
                <a:latin typeface="微软雅黑"/>
                <a:cs typeface="微软雅黑"/>
              </a:rPr>
              <a:t>More </a:t>
            </a:r>
            <a:r>
              <a:rPr lang="en-US" sz="1400" b="1" spc="-15" dirty="0">
                <a:solidFill>
                  <a:srgbClr val="C00000"/>
                </a:solidFill>
                <a:latin typeface="微软雅黑"/>
                <a:cs typeface="微软雅黑"/>
              </a:rPr>
              <a:t>information</a:t>
            </a:r>
            <a:endParaRPr sz="1400" dirty="0">
              <a:solidFill>
                <a:srgbClr val="C00000"/>
              </a:solidFill>
              <a:latin typeface="微软雅黑"/>
              <a:cs typeface="微软雅黑"/>
            </a:endParaRPr>
          </a:p>
        </p:txBody>
      </p:sp>
      <p:sp>
        <p:nvSpPr>
          <p:cNvPr id="3" name="object 3"/>
          <p:cNvSpPr txBox="1"/>
          <p:nvPr/>
        </p:nvSpPr>
        <p:spPr>
          <a:xfrm>
            <a:off x="526096" y="997166"/>
            <a:ext cx="6528753" cy="1077218"/>
          </a:xfrm>
          <a:prstGeom prst="rect">
            <a:avLst/>
          </a:prstGeom>
        </p:spPr>
        <p:txBody>
          <a:bodyPr vert="horz" wrap="square" lIns="0" tIns="15240" rIns="0" bIns="0" rtlCol="0">
            <a:spAutoFit/>
          </a:bodyPr>
          <a:lstStyle/>
          <a:p>
            <a:pPr marL="12700">
              <a:lnSpc>
                <a:spcPct val="100000"/>
              </a:lnSpc>
              <a:spcBef>
                <a:spcPts val="120"/>
              </a:spcBef>
            </a:pPr>
            <a:r>
              <a:rPr lang="en-US" sz="900" spc="105" dirty="0">
                <a:latin typeface="微软雅黑"/>
                <a:cs typeface="微软雅黑"/>
              </a:rPr>
              <a:t>For more information about NetEngine A800 E-Series Routers, visit  </a:t>
            </a:r>
            <a:r>
              <a:rPr lang="en-US" sz="900" spc="-10" dirty="0">
                <a:solidFill>
                  <a:srgbClr val="0000FF"/>
                </a:solidFill>
                <a:latin typeface="微软雅黑"/>
                <a:cs typeface="微软雅黑"/>
                <a:hlinkClick r:id="rId2"/>
              </a:rPr>
              <a:t>https://e.huawei.com</a:t>
            </a:r>
            <a:r>
              <a:rPr lang="en-US" sz="900" spc="-10" dirty="0">
                <a:solidFill>
                  <a:srgbClr val="0000FF"/>
                </a:solidFill>
                <a:latin typeface="微软雅黑"/>
                <a:cs typeface="微软雅黑"/>
              </a:rPr>
              <a:t>  </a:t>
            </a:r>
            <a:r>
              <a:rPr lang="en-US" sz="900" spc="65" dirty="0">
                <a:solidFill>
                  <a:schemeClr val="tx1"/>
                </a:solidFill>
                <a:latin typeface="微软雅黑"/>
                <a:cs typeface="微软雅黑"/>
              </a:rPr>
              <a:t>or contact us by:</a:t>
            </a:r>
            <a:endParaRPr sz="900" dirty="0">
              <a:solidFill>
                <a:schemeClr val="tx1"/>
              </a:solidFill>
              <a:latin typeface="微软雅黑"/>
              <a:cs typeface="微软雅黑"/>
            </a:endParaRPr>
          </a:p>
          <a:p>
            <a:pPr>
              <a:lnSpc>
                <a:spcPct val="100000"/>
              </a:lnSpc>
              <a:spcBef>
                <a:spcPts val="80"/>
              </a:spcBef>
            </a:pPr>
            <a:endParaRPr sz="900" dirty="0">
              <a:latin typeface="微软雅黑"/>
              <a:cs typeface="微软雅黑"/>
            </a:endParaRPr>
          </a:p>
          <a:p>
            <a:pPr marL="281940" indent="-269875">
              <a:lnSpc>
                <a:spcPct val="100000"/>
              </a:lnSpc>
              <a:buFont typeface="Wingdings"/>
              <a:buChar char=""/>
              <a:tabLst>
                <a:tab pos="281940" algn="l"/>
                <a:tab pos="282575" algn="l"/>
              </a:tabLst>
            </a:pPr>
            <a:r>
              <a:rPr lang="en-US" sz="900" dirty="0">
                <a:latin typeface="微软雅黑"/>
                <a:cs typeface="微软雅黑"/>
              </a:rPr>
              <a:t>Global service hotline : </a:t>
            </a:r>
            <a:r>
              <a:rPr lang="en-US" sz="900" spc="-10" dirty="0">
                <a:solidFill>
                  <a:srgbClr val="0000FF"/>
                </a:solidFill>
                <a:latin typeface="微软雅黑"/>
                <a:cs typeface="微软雅黑"/>
                <a:hlinkClick r:id="rId3"/>
              </a:rPr>
              <a:t>https://e.huawei.com/cn/service-hotline</a:t>
            </a:r>
            <a:endParaRPr sz="900" dirty="0">
              <a:latin typeface="微软雅黑"/>
              <a:cs typeface="微软雅黑"/>
            </a:endParaRPr>
          </a:p>
          <a:p>
            <a:pPr marL="281940" indent="-269875">
              <a:lnSpc>
                <a:spcPct val="100000"/>
              </a:lnSpc>
              <a:spcBef>
                <a:spcPts val="845"/>
              </a:spcBef>
              <a:buFont typeface="Wingdings"/>
              <a:buChar char=""/>
              <a:tabLst>
                <a:tab pos="281940" algn="l"/>
                <a:tab pos="282575" algn="l"/>
              </a:tabLst>
            </a:pPr>
            <a:r>
              <a:rPr lang="en-US" sz="900" dirty="0">
                <a:latin typeface="微软雅黑"/>
                <a:cs typeface="微软雅黑"/>
              </a:rPr>
              <a:t>Log in to Huawei enterprise technical support website : </a:t>
            </a:r>
            <a:r>
              <a:rPr lang="en-US" sz="900" spc="-10" dirty="0">
                <a:solidFill>
                  <a:srgbClr val="0000FF"/>
                </a:solidFill>
                <a:latin typeface="微软雅黑"/>
                <a:cs typeface="微软雅黑"/>
                <a:hlinkClick r:id="rId4"/>
              </a:rPr>
              <a:t>https://support.huawei.com/enterprise/</a:t>
            </a:r>
            <a:endParaRPr sz="900" dirty="0">
              <a:latin typeface="微软雅黑"/>
              <a:cs typeface="微软雅黑"/>
            </a:endParaRPr>
          </a:p>
          <a:p>
            <a:pPr marL="281940" indent="-269875">
              <a:lnSpc>
                <a:spcPct val="100000"/>
              </a:lnSpc>
              <a:spcBef>
                <a:spcPts val="875"/>
              </a:spcBef>
              <a:buFont typeface="Wingdings"/>
              <a:buChar char=""/>
              <a:tabLst>
                <a:tab pos="281940" algn="l"/>
                <a:tab pos="282575" algn="l"/>
              </a:tabLst>
            </a:pPr>
            <a:r>
              <a:rPr lang="en-US" sz="900" dirty="0">
                <a:latin typeface="微软雅黑"/>
                <a:cs typeface="微软雅黑"/>
              </a:rPr>
              <a:t>Customer service email : </a:t>
            </a:r>
            <a:r>
              <a:rPr lang="en-US" sz="900" spc="-10" dirty="0">
                <a:solidFill>
                  <a:srgbClr val="0000FF"/>
                </a:solidFill>
                <a:latin typeface="微软雅黑"/>
                <a:cs typeface="微软雅黑"/>
                <a:hlinkClick r:id="rId5"/>
              </a:rPr>
              <a:t>support_e@huawei.com</a:t>
            </a:r>
            <a:endParaRPr sz="900" dirty="0">
              <a:latin typeface="微软雅黑"/>
              <a:cs typeface="微软雅黑"/>
            </a:endParaRPr>
          </a:p>
        </p:txBody>
      </p:sp>
      <p:graphicFrame>
        <p:nvGraphicFramePr>
          <p:cNvPr id="4" name="object 4"/>
          <p:cNvGraphicFramePr>
            <a:graphicFrameLocks noGrp="1"/>
          </p:cNvGraphicFramePr>
          <p:nvPr>
            <p:extLst>
              <p:ext uri="{D42A27DB-BD31-4B8C-83A1-F6EECF244321}">
                <p14:modId xmlns:p14="http://schemas.microsoft.com/office/powerpoint/2010/main" val="2435738555"/>
              </p:ext>
            </p:extLst>
          </p:nvPr>
        </p:nvGraphicFramePr>
        <p:xfrm>
          <a:off x="538797" y="2399029"/>
          <a:ext cx="6486524" cy="3164142"/>
        </p:xfrm>
        <a:graphic>
          <a:graphicData uri="http://schemas.openxmlformats.org/drawingml/2006/table">
            <a:tbl>
              <a:tblPr firstRow="1" bandRow="1">
                <a:tableStyleId>{2D5ABB26-0587-4C30-8999-92F81FD0307C}</a:tableStyleId>
              </a:tblPr>
              <a:tblGrid>
                <a:gridCol w="4620895">
                  <a:extLst>
                    <a:ext uri="{9D8B030D-6E8A-4147-A177-3AD203B41FA5}">
                      <a16:colId xmlns:a16="http://schemas.microsoft.com/office/drawing/2014/main" val="20000"/>
                    </a:ext>
                  </a:extLst>
                </a:gridCol>
                <a:gridCol w="1865629">
                  <a:extLst>
                    <a:ext uri="{9D8B030D-6E8A-4147-A177-3AD203B41FA5}">
                      <a16:colId xmlns:a16="http://schemas.microsoft.com/office/drawing/2014/main" val="20001"/>
                    </a:ext>
                  </a:extLst>
                </a:gridCol>
              </a:tblGrid>
              <a:tr h="2326005">
                <a:tc>
                  <a:txBody>
                    <a:bodyPr/>
                    <a:lstStyle/>
                    <a:p>
                      <a:pPr>
                        <a:lnSpc>
                          <a:spcPct val="100000"/>
                        </a:lnSpc>
                        <a:spcBef>
                          <a:spcPts val="720"/>
                        </a:spcBef>
                      </a:pPr>
                      <a:r>
                        <a:rPr lang="en-US" sz="800" b="1" dirty="0">
                          <a:latin typeface="微软雅黑"/>
                          <a:cs typeface="微软雅黑"/>
                        </a:rPr>
                        <a:t>Copyright © Huawei Technologies Co., Ltd. 2025. All Rights Reserved.</a:t>
                      </a:r>
                      <a:endParaRPr sz="800" dirty="0">
                        <a:latin typeface="微软雅黑"/>
                        <a:cs typeface="微软雅黑"/>
                      </a:endParaRPr>
                    </a:p>
                    <a:p>
                      <a:pPr>
                        <a:lnSpc>
                          <a:spcPct val="100000"/>
                        </a:lnSpc>
                        <a:spcBef>
                          <a:spcPts val="800"/>
                        </a:spcBef>
                      </a:pPr>
                      <a:r>
                        <a:rPr lang="en-US" sz="700" dirty="0">
                          <a:latin typeface="微软雅黑"/>
                          <a:cs typeface="微软雅黑"/>
                        </a:rPr>
                        <a:t>Without the written permission of the Company, no unit or individual shall excerpt or copy part or all of the contents of this document without authorization, and shall not disseminate it in any form.</a:t>
                      </a:r>
                      <a:endParaRPr sz="800" dirty="0">
                        <a:latin typeface="微软雅黑"/>
                        <a:cs typeface="微软雅黑"/>
                      </a:endParaRPr>
                    </a:p>
                    <a:p>
                      <a:pPr>
                        <a:lnSpc>
                          <a:spcPct val="100000"/>
                        </a:lnSpc>
                      </a:pPr>
                      <a:endParaRPr sz="800" dirty="0">
                        <a:latin typeface="Times New Roman"/>
                        <a:cs typeface="Times New Roman"/>
                      </a:endParaRPr>
                    </a:p>
                    <a:p>
                      <a:pPr>
                        <a:lnSpc>
                          <a:spcPct val="100000"/>
                        </a:lnSpc>
                      </a:pPr>
                      <a:r>
                        <a:rPr lang="en-US" sz="800" b="1" dirty="0">
                          <a:latin typeface="微软雅黑"/>
                          <a:cs typeface="微软雅黑"/>
                        </a:rPr>
                        <a:t>Trademarks and Notices</a:t>
                      </a:r>
                      <a:endParaRPr sz="700" dirty="0">
                        <a:latin typeface="微软雅黑"/>
                        <a:cs typeface="微软雅黑"/>
                      </a:endParaRPr>
                    </a:p>
                    <a:p>
                      <a:pPr marL="452120">
                        <a:lnSpc>
                          <a:spcPct val="100000"/>
                        </a:lnSpc>
                        <a:spcBef>
                          <a:spcPts val="800"/>
                        </a:spcBef>
                      </a:pPr>
                      <a:r>
                        <a:rPr lang="en-US" sz="700" dirty="0">
                          <a:latin typeface="微软雅黑"/>
                          <a:cs typeface="微软雅黑"/>
                        </a:rPr>
                        <a:t>and other Huawei trademarks are trademarks of Huawei Technologies Co., Ltd.</a:t>
                      </a:r>
                      <a:endParaRPr sz="800" dirty="0">
                        <a:latin typeface="微软雅黑"/>
                        <a:cs typeface="微软雅黑"/>
                      </a:endParaRPr>
                    </a:p>
                    <a:p>
                      <a:pPr>
                        <a:lnSpc>
                          <a:spcPct val="100000"/>
                        </a:lnSpc>
                        <a:spcBef>
                          <a:spcPts val="800"/>
                        </a:spcBef>
                      </a:pPr>
                      <a:r>
                        <a:rPr lang="en-US" sz="700" dirty="0">
                          <a:latin typeface="微软雅黑"/>
                          <a:cs typeface="微软雅黑"/>
                        </a:rPr>
                        <a:t>All other trademarks or registered trademarks mentioned in this document are the property of their respective owners.</a:t>
                      </a:r>
                      <a:endParaRPr sz="800" dirty="0">
                        <a:latin typeface="微软雅黑"/>
                        <a:cs typeface="微软雅黑"/>
                      </a:endParaRPr>
                    </a:p>
                    <a:p>
                      <a:pPr>
                        <a:lnSpc>
                          <a:spcPct val="100000"/>
                        </a:lnSpc>
                        <a:spcBef>
                          <a:spcPts val="25"/>
                        </a:spcBef>
                      </a:pPr>
                      <a:endParaRPr sz="800" dirty="0">
                        <a:latin typeface="Times New Roman"/>
                        <a:cs typeface="Times New Roman"/>
                      </a:endParaRPr>
                    </a:p>
                    <a:p>
                      <a:pPr>
                        <a:lnSpc>
                          <a:spcPct val="100000"/>
                        </a:lnSpc>
                      </a:pPr>
                      <a:r>
                        <a:rPr lang="en-US" sz="700" b="1" dirty="0">
                          <a:latin typeface="微软雅黑"/>
                          <a:cs typeface="微软雅黑"/>
                        </a:rPr>
                        <a:t>Attention.</a:t>
                      </a:r>
                      <a:endParaRPr sz="700" dirty="0">
                        <a:latin typeface="微软雅黑"/>
                        <a:cs typeface="微软雅黑"/>
                      </a:endParaRPr>
                    </a:p>
                    <a:p>
                      <a:pPr marR="243840" algn="just">
                        <a:lnSpc>
                          <a:spcPct val="143800"/>
                        </a:lnSpc>
                        <a:spcBef>
                          <a:spcPts val="320"/>
                        </a:spcBef>
                      </a:pPr>
                      <a:r>
                        <a:rPr lang="en-US" sz="800" spc="-5" dirty="0">
                          <a:latin typeface="微软雅黑"/>
                          <a:cs typeface="微软雅黑"/>
                        </a:rPr>
                        <a:t>The products, services, or features you purchase are subject to Huawei's commercial contracts and clauses. All or part of the products, services, or features described in this document may not be within your purchase scope or usage scope. Unless otherwise specified in the contract, Huawei makes no express or implied representation or warranty in this document.</a:t>
                      </a:r>
                      <a:endParaRPr sz="800" dirty="0">
                        <a:latin typeface="微软雅黑"/>
                        <a:cs typeface="微软雅黑"/>
                      </a:endParaRPr>
                    </a:p>
                    <a:p>
                      <a:pPr marR="243840">
                        <a:lnSpc>
                          <a:spcPct val="141600"/>
                        </a:lnSpc>
                        <a:spcBef>
                          <a:spcPts val="400"/>
                        </a:spcBef>
                      </a:pPr>
                      <a:r>
                        <a:rPr lang="en-US" sz="800" spc="-5" dirty="0">
                          <a:latin typeface="微软雅黑"/>
                          <a:cs typeface="微软雅黑"/>
                        </a:rPr>
                        <a:t>This document may be updated irregularly due to product version upgrade or other reasons. Unless otherwise agreed, this document is intended as a guide, and all statements, information, and recommendations in this document do not constitute a warranty of any kind, express or implied.</a:t>
                      </a:r>
                      <a:endParaRPr sz="800" dirty="0">
                        <a:latin typeface="微软雅黑"/>
                        <a:cs typeface="微软雅黑"/>
                      </a:endParaRPr>
                    </a:p>
                  </a:txBody>
                  <a:tcPr marL="0" marR="0" marT="91440" marB="0">
                    <a:lnT w="19050" cap="flat" cmpd="sng" algn="ctr">
                      <a:solidFill>
                        <a:srgbClr val="C00000"/>
                      </a:solidFill>
                      <a:prstDash val="solid"/>
                      <a:round/>
                      <a:headEnd type="none" w="med" len="med"/>
                      <a:tailEnd type="none" w="med" len="med"/>
                    </a:lnT>
                  </a:tcPr>
                </a:tc>
                <a:tc>
                  <a:txBody>
                    <a:bodyPr/>
                    <a:lstStyle/>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pPr>
                      <a:endParaRPr sz="1000" dirty="0">
                        <a:latin typeface="Times New Roman"/>
                        <a:cs typeface="Times New Roman"/>
                      </a:endParaRPr>
                    </a:p>
                    <a:p>
                      <a:pPr>
                        <a:lnSpc>
                          <a:spcPct val="100000"/>
                        </a:lnSpc>
                        <a:spcBef>
                          <a:spcPts val="35"/>
                        </a:spcBef>
                      </a:pPr>
                      <a:endParaRPr sz="1000" dirty="0">
                        <a:latin typeface="Times New Roman"/>
                        <a:cs typeface="Times New Roman"/>
                      </a:endParaRPr>
                    </a:p>
                    <a:p>
                      <a:pPr marL="243840">
                        <a:lnSpc>
                          <a:spcPct val="100000"/>
                        </a:lnSpc>
                      </a:pPr>
                      <a:r>
                        <a:rPr lang="en-US" sz="800" b="1" spc="-10" dirty="0">
                          <a:latin typeface="微软雅黑"/>
                          <a:cs typeface="微软雅黑"/>
                        </a:rPr>
                        <a:t>Huawei Technologies Co., Ltd.</a:t>
                      </a:r>
                      <a:endParaRPr sz="800" dirty="0">
                        <a:latin typeface="微软雅黑"/>
                        <a:cs typeface="微软雅黑"/>
                      </a:endParaRPr>
                    </a:p>
                    <a:p>
                      <a:pPr marL="243840" marR="59055">
                        <a:lnSpc>
                          <a:spcPct val="143700"/>
                        </a:lnSpc>
                        <a:spcBef>
                          <a:spcPts val="380"/>
                        </a:spcBef>
                      </a:pPr>
                      <a:r>
                        <a:rPr lang="en-US" sz="800" dirty="0">
                          <a:latin typeface="微软雅黑"/>
                          <a:cs typeface="微软雅黑"/>
                        </a:rPr>
                        <a:t>Address: Huawei Headquarters Office Building, Bantian, Longgang District, Shenzhen, 518129</a:t>
                      </a:r>
                      <a:endParaRPr sz="700" dirty="0">
                        <a:latin typeface="微软雅黑"/>
                        <a:cs typeface="微软雅黑"/>
                      </a:endParaRPr>
                    </a:p>
                    <a:p>
                      <a:pPr marL="243840">
                        <a:lnSpc>
                          <a:spcPts val="790"/>
                        </a:lnSpc>
                        <a:spcBef>
                          <a:spcPts val="765"/>
                        </a:spcBef>
                      </a:pPr>
                      <a:r>
                        <a:rPr lang="en-US" sz="700" dirty="0">
                          <a:latin typeface="微软雅黑"/>
                          <a:cs typeface="微软雅黑"/>
                        </a:rPr>
                        <a:t>Website:</a:t>
                      </a:r>
                      <a:r>
                        <a:rPr lang="en-US" sz="700" spc="-10" dirty="0">
                          <a:latin typeface="微软雅黑"/>
                          <a:cs typeface="微软雅黑"/>
                          <a:hlinkClick r:id="rId6"/>
                        </a:rPr>
                        <a:t>www.huawei.com</a:t>
                      </a:r>
                      <a:endParaRPr sz="700" dirty="0">
                        <a:latin typeface="微软雅黑"/>
                        <a:cs typeface="微软雅黑"/>
                      </a:endParaRPr>
                    </a:p>
                  </a:txBody>
                  <a:tcPr marL="0" marR="0" marT="0" marB="0">
                    <a:lnT w="19050"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10000"/>
                  </a:ext>
                </a:extLst>
              </a:tr>
            </a:tbl>
          </a:graphicData>
        </a:graphic>
      </p:graphicFrame>
      <p:pic>
        <p:nvPicPr>
          <p:cNvPr id="5" name="object 5"/>
          <p:cNvPicPr/>
          <p:nvPr/>
        </p:nvPicPr>
        <p:blipFill>
          <a:blip r:embed="rId7" cstate="print"/>
          <a:stretch>
            <a:fillRect/>
          </a:stretch>
        </p:blipFill>
        <p:spPr>
          <a:xfrm>
            <a:off x="505459" y="3267075"/>
            <a:ext cx="453390" cy="103504"/>
          </a:xfrm>
          <a:prstGeom prst="rect">
            <a:avLst/>
          </a:prstGeom>
        </p:spPr>
      </p:pic>
      <p:sp>
        <p:nvSpPr>
          <p:cNvPr id="6" name="object 6"/>
          <p:cNvSpPr txBox="1"/>
          <p:nvPr/>
        </p:nvSpPr>
        <p:spPr>
          <a:xfrm>
            <a:off x="6880606" y="10312479"/>
            <a:ext cx="88900" cy="152400"/>
          </a:xfrm>
          <a:prstGeom prst="rect">
            <a:avLst/>
          </a:prstGeom>
        </p:spPr>
        <p:txBody>
          <a:bodyPr vert="horz" wrap="square" lIns="0" tIns="0" rIns="0" bIns="0" rtlCol="0">
            <a:spAutoFit/>
          </a:bodyPr>
          <a:lstStyle/>
          <a:p>
            <a:pPr marL="12700">
              <a:lnSpc>
                <a:spcPts val="1160"/>
              </a:lnSpc>
            </a:pPr>
            <a:r>
              <a:rPr lang="en-US" altLang="zh-CN" sz="700" dirty="0">
                <a:solidFill>
                  <a:schemeClr val="tx1"/>
                </a:solidFill>
                <a:latin typeface="宋体"/>
                <a:cs typeface="宋体"/>
              </a:rPr>
              <a:t>6</a:t>
            </a:r>
            <a:endParaRPr sz="1000" dirty="0">
              <a:solidFill>
                <a:schemeClr val="tx1"/>
              </a:solidFill>
              <a:latin typeface="宋体"/>
              <a:cs typeface="宋体"/>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8227</TotalTime>
  <Words>1432</Words>
  <Application>Microsoft Office PowerPoint</Application>
  <PresentationFormat>自定义</PresentationFormat>
  <Paragraphs>269</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vt:i4>
      </vt:variant>
    </vt:vector>
  </HeadingPairs>
  <TitlesOfParts>
    <vt:vector size="16" baseType="lpstr">
      <vt:lpstr>Huawei Sans</vt:lpstr>
      <vt:lpstr>宋体</vt:lpstr>
      <vt:lpstr>Microsoft YaHei</vt:lpstr>
      <vt:lpstr>Microsoft YaHei</vt:lpstr>
      <vt:lpstr>Arial</vt:lpstr>
      <vt:lpstr>Calibri</vt:lpstr>
      <vt:lpstr>Times New Roman</vt:lpstr>
      <vt:lpstr>Wingdings</vt:lpstr>
      <vt:lpstr>Office Theme</vt:lpstr>
      <vt:lpstr>1_Office Theme</vt:lpstr>
      <vt:lpstr>NetEngine A821 E 1U IPv6+ 10 Gigabit Hard Slice Access Router</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NetEngine A816 E Datasheet V800R025C00</dc:title>
  <dc:subject>Technical Document</dc:subject>
  <dc:creator>Huawei Technologies Co.,Ltd.</dc:creator>
  <cp:lastModifiedBy>yangbingxi</cp:lastModifiedBy>
  <cp:revision>198</cp:revision>
  <dcterms:created xsi:type="dcterms:W3CDTF">2024-05-20T15:00:34Z</dcterms:created>
  <dcterms:modified xsi:type="dcterms:W3CDTF">2025-07-09T02:23:43Z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2023-12-12T00:00:00Z</vt:filetime>
  </property>
  <property fmtid="{D5CDD505-2E9C-101B-9397-08002B2CF9AE}" pid="3" name="Creator">
    <vt:lpwstr>Microsoft® Word 2019</vt:lpwstr>
  </property>
  <property fmtid="{D5CDD505-2E9C-101B-9397-08002B2CF9AE}" pid="4" name="LastSaved">
    <vt:filetime>2024-05-20T00:00:00Z</vt:filetime>
  </property>
  <property fmtid="{D5CDD505-2E9C-101B-9397-08002B2CF9AE}" pid="5" name="Producer">
    <vt:lpwstr>Microsoft® Word 2019</vt:lpwstr>
  </property>
  <property fmtid="{D5CDD505-2E9C-101B-9397-08002B2CF9AE}" pid="6" name="_2015_ms_pID_725343">
    <vt:lpwstr>(3)InWY4biot3f1fGxJ/xDmYVXAEm1GG4YZUkM1jkbACcBfblRXfBTEnUOoFFjbKGwMGrC0gFZH
va8dVgRY1Bt5sejyf3/FW+YBPWfEfeCJCgGs7tXjtBhVrJltmwjgiVqWwGWrkj955o/MU3xb
LvPME/MqXWD8idT3P+VZPVJX09tFcS+mRAZS0jgLQ6fALmY7+/eiwBX2JVwpPT/FoVGgdita
oCIlRV8erfbkwOGdgz</vt:lpwstr>
  </property>
  <property fmtid="{D5CDD505-2E9C-101B-9397-08002B2CF9AE}" pid="7" name="_2015_ms_pID_7253431">
    <vt:lpwstr>lH4MxgFcOoOXJfXN8aQY2s7lBMGE6hFYWx0Ja1qFzgBXm80ya6NpwE
8AYXxYTOwig0yxlraj9T15ELWhQKjMoICEp9d003J0G6pzmV687BBsFQB2aDWCnEEnk9VQhA
57/DrilQVshDt/B4K/C/lZCf6aV7gSjQE0ebNRTSSenOjFI/FnPtDLm5DrydmcUQ3Suc4wsb
4NHq1oJCd3YLe4bqenBag3DBRhAzwXRowxHf</vt:lpwstr>
  </property>
  <property fmtid="{D5CDD505-2E9C-101B-9397-08002B2CF9AE}" pid="8" name="_2015_ms_pID_7253432">
    <vt:lpwstr>7w==</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1730281541</vt:lpwstr>
  </property>
</Properties>
</file>