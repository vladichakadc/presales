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handoutMasterIdLst>
    <p:handoutMasterId r:id="rId10"/>
  </p:handoutMasterIdLst>
  <p:sldIdLst>
    <p:sldId id="277" r:id="rId3"/>
    <p:sldId id="283" r:id="rId4"/>
    <p:sldId id="285" r:id="rId5"/>
    <p:sldId id="284" r:id="rId6"/>
    <p:sldId id="287" r:id="rId7"/>
    <p:sldId id="286" r:id="rId8"/>
    <p:sldId id="282" r:id="rId9"/>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488" userDrawn="1">
          <p15:clr>
            <a:srgbClr val="A4A3A4"/>
          </p15:clr>
        </p15:guide>
        <p15:guide id="2" pos="3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91" autoAdjust="0"/>
    <p:restoredTop sz="92815" autoAdjust="0"/>
  </p:normalViewPr>
  <p:slideViewPr>
    <p:cSldViewPr>
      <p:cViewPr varScale="1">
        <p:scale>
          <a:sx n="68" d="100"/>
          <a:sy n="68" d="100"/>
        </p:scale>
        <p:origin x="3558" y="66"/>
      </p:cViewPr>
      <p:guideLst>
        <p:guide orient="horz" pos="488"/>
        <p:guide pos="316"/>
      </p:guideLst>
    </p:cSldViewPr>
  </p:slideViewPr>
  <p:notesTextViewPr>
    <p:cViewPr>
      <p:scale>
        <a:sx n="100" d="100"/>
        <a:sy n="100" d="100"/>
      </p:scale>
      <p:origin x="0" y="0"/>
    </p:cViewPr>
  </p:notesTextViewPr>
  <p:notesViewPr>
    <p:cSldViewPr>
      <p:cViewPr varScale="1">
        <p:scale>
          <a:sx n="74" d="100"/>
          <a:sy n="74" d="100"/>
        </p:scale>
        <p:origin x="309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6E6DAE-60DC-4DDF-AF62-59B625E88943}"/>
              </a:ext>
            </a:extLst>
          </p:cNvPr>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B7142C5-1043-487D-AEA9-46CF6D027A9F}"/>
              </a:ext>
            </a:extLst>
          </p:cNvPr>
          <p:cNvSpPr>
            <a:spLocks noGrp="1"/>
          </p:cNvSpPr>
          <p:nvPr>
            <p:ph type="dt" sz="quarter" idx="1"/>
          </p:nvPr>
        </p:nvSpPr>
        <p:spPr>
          <a:xfrm>
            <a:off x="4279900" y="0"/>
            <a:ext cx="3275013" cy="536575"/>
          </a:xfrm>
          <a:prstGeom prst="rect">
            <a:avLst/>
          </a:prstGeom>
        </p:spPr>
        <p:txBody>
          <a:bodyPr vert="horz" lIns="91440" tIns="45720" rIns="91440" bIns="45720" rtlCol="0"/>
          <a:lstStyle>
            <a:lvl1pPr algn="r">
              <a:defRPr sz="1200"/>
            </a:lvl1pPr>
          </a:lstStyle>
          <a:p>
            <a:fld id="{BD275801-415F-44D2-BF38-E4A19A32CE63}" type="datetimeFigureOut">
              <a:rPr lang="zh-CN" altLang="en-US" smtClean="0"/>
              <a:t>2025/3/24</a:t>
            </a:fld>
            <a:endParaRPr lang="zh-CN" altLang="en-US"/>
          </a:p>
        </p:txBody>
      </p:sp>
      <p:sp>
        <p:nvSpPr>
          <p:cNvPr id="4" name="页脚占位符 3">
            <a:extLst>
              <a:ext uri="{FF2B5EF4-FFF2-40B4-BE49-F238E27FC236}">
                <a16:creationId xmlns:a16="http://schemas.microsoft.com/office/drawing/2014/main" id="{56BE2A84-136B-4E0D-9937-1794271C4568}"/>
              </a:ext>
            </a:extLst>
          </p:cNvPr>
          <p:cNvSpPr>
            <a:spLocks noGrp="1"/>
          </p:cNvSpPr>
          <p:nvPr>
            <p:ph type="ftr" sz="quarter" idx="2"/>
          </p:nvPr>
        </p:nvSpPr>
        <p:spPr>
          <a:xfrm>
            <a:off x="0" y="10156825"/>
            <a:ext cx="3275013" cy="5365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64A8BF2-D2FE-4645-9EBE-23CC7E682F3A}"/>
              </a:ext>
            </a:extLst>
          </p:cNvPr>
          <p:cNvSpPr>
            <a:spLocks noGrp="1"/>
          </p:cNvSpPr>
          <p:nvPr>
            <p:ph type="sldNum" sz="quarter" idx="3"/>
          </p:nvPr>
        </p:nvSpPr>
        <p:spPr>
          <a:xfrm>
            <a:off x="4279900" y="10156825"/>
            <a:ext cx="3275013" cy="536575"/>
          </a:xfrm>
          <a:prstGeom prst="rect">
            <a:avLst/>
          </a:prstGeom>
        </p:spPr>
        <p:txBody>
          <a:bodyPr vert="horz" lIns="91440" tIns="45720" rIns="91440" bIns="45720" rtlCol="0" anchor="b"/>
          <a:lstStyle>
            <a:lvl1pPr algn="r">
              <a:defRPr sz="1200"/>
            </a:lvl1pPr>
          </a:lstStyle>
          <a:p>
            <a:fld id="{ED88567C-02EE-4E1E-AE35-C6A862B5B0EF}" type="slidenum">
              <a:rPr lang="zh-CN" altLang="en-US" smtClean="0"/>
              <a:t>‹#›</a:t>
            </a:fld>
            <a:endParaRPr lang="zh-CN" altLang="en-US"/>
          </a:p>
        </p:txBody>
      </p:sp>
    </p:spTree>
    <p:extLst>
      <p:ext uri="{BB962C8B-B14F-4D97-AF65-F5344CB8AC3E}">
        <p14:creationId xmlns:p14="http://schemas.microsoft.com/office/powerpoint/2010/main" val="262036023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3/24/2025</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10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800" b="1" i="0">
                <a:solidFill>
                  <a:srgbClr val="0079C3"/>
                </a:solidFill>
                <a:latin typeface="微软雅黑"/>
                <a:cs typeface="微软雅黑"/>
              </a:defRPr>
            </a:lvl1pPr>
          </a:lstStyle>
          <a:p>
            <a:endParaRPr/>
          </a:p>
        </p:txBody>
      </p:sp>
      <p:sp>
        <p:nvSpPr>
          <p:cNvPr id="6" name="Holder 6"/>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3/24/2025</a:t>
            </a:fld>
            <a:endParaRPr lang="en-US"/>
          </a:p>
        </p:txBody>
      </p:sp>
      <p:sp>
        <p:nvSpPr>
          <p:cNvPr id="7" name="Holder 7"/>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3/24/2025</a:t>
            </a:fld>
            <a:endParaRPr lang="en-US"/>
          </a:p>
        </p:txBody>
      </p:sp>
      <p:sp>
        <p:nvSpPr>
          <p:cNvPr id="5" name="Holder 5"/>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3/24/2025</a:t>
            </a:fld>
            <a:endParaRPr lang="en-US"/>
          </a:p>
        </p:txBody>
      </p:sp>
      <p:sp>
        <p:nvSpPr>
          <p:cNvPr id="4" name="Holder 4"/>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58F1B02A-EEB7-46F0-BCEC-A7A924F99B8E}"/>
              </a:ext>
            </a:extLst>
          </p:cNvPr>
          <p:cNvCxnSpPr>
            <a:cxnSpLocks/>
          </p:cNvCxnSpPr>
          <p:nvPr userDrawn="1"/>
        </p:nvCxnSpPr>
        <p:spPr>
          <a:xfrm>
            <a:off x="526097" y="469900"/>
            <a:ext cx="81375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17CD144-1468-4182-99C2-4E83273F048A}"/>
              </a:ext>
            </a:extLst>
          </p:cNvPr>
          <p:cNvCxnSpPr>
            <a:cxnSpLocks/>
          </p:cNvCxnSpPr>
          <p:nvPr userDrawn="1"/>
        </p:nvCxnSpPr>
        <p:spPr>
          <a:xfrm>
            <a:off x="527261" y="469900"/>
            <a:ext cx="0" cy="7620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484C911-4A8C-4522-B20E-BEBBA09BAA7E}"/>
              </a:ext>
            </a:extLst>
          </p:cNvPr>
          <p:cNvCxnSpPr>
            <a:cxnSpLocks/>
          </p:cNvCxnSpPr>
          <p:nvPr userDrawn="1"/>
        </p:nvCxnSpPr>
        <p:spPr>
          <a:xfrm>
            <a:off x="6201091" y="10071100"/>
            <a:ext cx="81375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78F7ED6-594D-484E-B7CD-C8E841883CFF}"/>
              </a:ext>
            </a:extLst>
          </p:cNvPr>
          <p:cNvCxnSpPr>
            <a:cxnSpLocks/>
          </p:cNvCxnSpPr>
          <p:nvPr userDrawn="1"/>
        </p:nvCxnSpPr>
        <p:spPr>
          <a:xfrm>
            <a:off x="7014844" y="9309100"/>
            <a:ext cx="0" cy="7620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89860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7217" y="1801748"/>
            <a:ext cx="6368414" cy="452119"/>
          </a:xfrm>
          <a:prstGeom prst="rect">
            <a:avLst/>
          </a:prstGeom>
        </p:spPr>
        <p:txBody>
          <a:bodyPr wrap="square" lIns="0" tIns="0" rIns="0" bIns="0">
            <a:spAutoFit/>
          </a:bodyPr>
          <a:lstStyle>
            <a:lvl1pPr>
              <a:defRPr sz="2400" b="1" i="0">
                <a:solidFill>
                  <a:schemeClr val="bg1"/>
                </a:solidFill>
                <a:latin typeface="微软雅黑"/>
                <a:cs typeface="微软雅黑"/>
              </a:defRPr>
            </a:lvl1pPr>
          </a:lstStyle>
          <a:p>
            <a:endParaRPr/>
          </a:p>
        </p:txBody>
      </p:sp>
      <p:sp>
        <p:nvSpPr>
          <p:cNvPr id="3" name="Holder 3"/>
          <p:cNvSpPr>
            <a:spLocks noGrp="1"/>
          </p:cNvSpPr>
          <p:nvPr>
            <p:ph type="body" idx="1"/>
          </p:nvPr>
        </p:nvSpPr>
        <p:spPr>
          <a:xfrm>
            <a:off x="526097" y="3575684"/>
            <a:ext cx="6435725" cy="2778125"/>
          </a:xfrm>
          <a:prstGeom prst="rect">
            <a:avLst/>
          </a:prstGeom>
        </p:spPr>
        <p:txBody>
          <a:bodyPr wrap="square" lIns="0" tIns="0" rIns="0" bIns="0">
            <a:spAutoFit/>
          </a:bodyPr>
          <a:lstStyle>
            <a:lvl1pPr>
              <a:defRPr sz="1800" b="1" i="0">
                <a:solidFill>
                  <a:srgbClr val="0079C3"/>
                </a:solidFill>
                <a:latin typeface="微软雅黑"/>
                <a:cs typeface="微软雅黑"/>
              </a:defRPr>
            </a:lvl1pPr>
          </a:lstStyle>
          <a:p>
            <a:endParaRPr/>
          </a:p>
        </p:txBody>
      </p:sp>
      <p:sp>
        <p:nvSpPr>
          <p:cNvPr id="6" name="Holder 6"/>
          <p:cNvSpPr>
            <a:spLocks noGrp="1"/>
          </p:cNvSpPr>
          <p:nvPr>
            <p:ph type="sldNum" sz="quarter" idx="7"/>
          </p:nvPr>
        </p:nvSpPr>
        <p:spPr>
          <a:xfrm>
            <a:off x="6889750" y="10272000"/>
            <a:ext cx="241300" cy="153888"/>
          </a:xfrm>
          <a:prstGeom prst="rect">
            <a:avLst/>
          </a:prstGeom>
        </p:spPr>
        <p:txBody>
          <a:bodyPr wrap="square" lIns="0" tIns="0" rIns="0" bIns="0">
            <a:spAutoFit/>
          </a:bodyPr>
          <a:lstStyle>
            <a:lvl1pPr>
              <a:defRPr sz="1000" b="0" i="0">
                <a:solidFill>
                  <a:schemeClr val="tx1"/>
                </a:solidFill>
                <a:latin typeface="微软雅黑"/>
                <a:cs typeface="微软雅黑"/>
              </a:defRPr>
            </a:lvl1pPr>
          </a:lstStyle>
          <a:p>
            <a:pPr marL="38100">
              <a:spcBef>
                <a:spcPts val="155"/>
              </a:spcBef>
            </a:pPr>
            <a:fld id="{81D60167-4931-47E6-BA6A-407CBD079E47}" type="slidenum">
              <a:rPr lang="en-US" altLang="zh-CN" spc="-25" smtClean="0"/>
              <a:pPr marL="38100">
                <a:spcBef>
                  <a:spcPts val="155"/>
                </a:spcBef>
              </a:pPr>
              <a:t>‹#›</a:t>
            </a:fld>
            <a:endParaRPr lang="en-US" altLang="zh-CN" spc="-25" dirty="0"/>
          </a:p>
        </p:txBody>
      </p:sp>
      <p:sp>
        <p:nvSpPr>
          <p:cNvPr id="8" name="object 2">
            <a:extLst>
              <a:ext uri="{FF2B5EF4-FFF2-40B4-BE49-F238E27FC236}">
                <a16:creationId xmlns:a16="http://schemas.microsoft.com/office/drawing/2014/main" id="{0E9099A5-0BC1-4841-A674-FC86976DBD5F}"/>
              </a:ext>
            </a:extLst>
          </p:cNvPr>
          <p:cNvSpPr txBox="1"/>
          <p:nvPr userDrawn="1"/>
        </p:nvSpPr>
        <p:spPr>
          <a:xfrm>
            <a:off x="526097" y="10261219"/>
            <a:ext cx="608965" cy="153888"/>
          </a:xfrm>
          <a:prstGeom prst="rect">
            <a:avLst/>
          </a:prstGeom>
        </p:spPr>
        <p:txBody>
          <a:bodyPr vert="horz" wrap="square" lIns="0" tIns="0" rIns="0" bIns="0" rtlCol="0">
            <a:spAutoFit/>
          </a:bodyPr>
          <a:lstStyle/>
          <a:p>
            <a:pPr marL="12700">
              <a:lnSpc>
                <a:spcPct val="100000"/>
              </a:lnSpc>
              <a:spcBef>
                <a:spcPts val="100"/>
              </a:spcBef>
            </a:pPr>
            <a:r>
              <a:rPr sz="1000" spc="-10" dirty="0">
                <a:latin typeface="Arial"/>
                <a:cs typeface="Arial"/>
              </a:rPr>
              <a:t>Datasheet</a:t>
            </a:r>
            <a:endParaRPr sz="1000" dirty="0">
              <a:latin typeface="Arial"/>
              <a:cs typeface="Arial"/>
            </a:endParaRPr>
          </a:p>
        </p:txBody>
      </p:sp>
      <p:cxnSp>
        <p:nvCxnSpPr>
          <p:cNvPr id="9" name="直接连接符 8">
            <a:extLst>
              <a:ext uri="{FF2B5EF4-FFF2-40B4-BE49-F238E27FC236}">
                <a16:creationId xmlns:a16="http://schemas.microsoft.com/office/drawing/2014/main" id="{971B8ECB-DB06-454E-8475-E055C0F5123B}"/>
              </a:ext>
            </a:extLst>
          </p:cNvPr>
          <p:cNvCxnSpPr>
            <a:cxnSpLocks/>
          </p:cNvCxnSpPr>
          <p:nvPr userDrawn="1"/>
        </p:nvCxnSpPr>
        <p:spPr>
          <a:xfrm>
            <a:off x="526097" y="10071100"/>
            <a:ext cx="6488747"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6" r:id="rId2"/>
    <p:sldLayoutId id="2147483662" r:id="rId3"/>
    <p:sldLayoutId id="2147483663" r:id="rId4"/>
    <p:sldLayoutId id="2147483664" r:id="rId5"/>
    <p:sldLayoutId id="2147483665"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0E9099A5-0BC1-4841-A674-FC86976DBD5F}"/>
              </a:ext>
            </a:extLst>
          </p:cNvPr>
          <p:cNvSpPr txBox="1"/>
          <p:nvPr userDrawn="1"/>
        </p:nvSpPr>
        <p:spPr>
          <a:xfrm>
            <a:off x="526097" y="10261219"/>
            <a:ext cx="608965" cy="153888"/>
          </a:xfrm>
          <a:prstGeom prst="rect">
            <a:avLst/>
          </a:prstGeom>
        </p:spPr>
        <p:txBody>
          <a:bodyPr vert="horz" wrap="square" lIns="0" tIns="0" rIns="0" bIns="0" rtlCol="0">
            <a:spAutoFit/>
          </a:bodyPr>
          <a:lstStyle/>
          <a:p>
            <a:pPr marL="12700">
              <a:lnSpc>
                <a:spcPct val="100000"/>
              </a:lnSpc>
              <a:spcBef>
                <a:spcPts val="100"/>
              </a:spcBef>
            </a:pPr>
            <a:r>
              <a:rPr sz="1000" spc="-10" dirty="0">
                <a:latin typeface="Arial"/>
                <a:cs typeface="Arial"/>
              </a:rPr>
              <a:t>Datasheet</a:t>
            </a:r>
            <a:endParaRPr sz="1000" dirty="0">
              <a:latin typeface="Arial"/>
              <a:cs typeface="Arial"/>
            </a:endParaRPr>
          </a:p>
        </p:txBody>
      </p:sp>
    </p:spTree>
    <p:extLst>
      <p:ext uri="{BB962C8B-B14F-4D97-AF65-F5344CB8AC3E}">
        <p14:creationId xmlns:p14="http://schemas.microsoft.com/office/powerpoint/2010/main" val="755297996"/>
      </p:ext>
    </p:extLst>
  </p:cSld>
  <p:clrMap bg1="lt1" tx1="dk1" bg2="lt2" tx2="dk2" accent1="accent1" accent2="accent2" accent3="accent3" accent4="accent4" accent5="accent5" accent6="accent6" hlink="hlink" folHlink="folHlink"/>
  <p:sldLayoutIdLst>
    <p:sldLayoutId id="2147483668"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e.huawei.com/en/service-hotline" TargetMode="External"/><Relationship Id="rId2" Type="http://schemas.openxmlformats.org/officeDocument/2006/relationships/hyperlink" Target="https://e.huawei.com/" TargetMode="Externa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hyperlink" Target="mailto:support_e@huawei.com" TargetMode="External"/><Relationship Id="rId4" Type="http://schemas.openxmlformats.org/officeDocument/2006/relationships/hyperlink" Target="https://support.huawei.com/enterpri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D0C80065-7919-4E37-9999-6D29505F1C19}"/>
              </a:ext>
            </a:extLst>
          </p:cNvPr>
          <p:cNvPicPr>
            <a:picLocks noChangeAspect="1"/>
          </p:cNvPicPr>
          <p:nvPr/>
        </p:nvPicPr>
        <p:blipFill>
          <a:blip r:embed="rId2"/>
          <a:stretch>
            <a:fillRect/>
          </a:stretch>
        </p:blipFill>
        <p:spPr>
          <a:xfrm>
            <a:off x="0" y="-4286"/>
            <a:ext cx="7556498" cy="1843980"/>
          </a:xfrm>
          <a:prstGeom prst="rect">
            <a:avLst/>
          </a:prstGeom>
        </p:spPr>
      </p:pic>
      <p:sp>
        <p:nvSpPr>
          <p:cNvPr id="6" name="object 6"/>
          <p:cNvSpPr txBox="1">
            <a:spLocks noGrp="1"/>
          </p:cNvSpPr>
          <p:nvPr>
            <p:ph type="title"/>
          </p:nvPr>
        </p:nvSpPr>
        <p:spPr>
          <a:xfrm>
            <a:off x="533718" y="698500"/>
            <a:ext cx="6572732" cy="800219"/>
          </a:xfrm>
          <a:prstGeom prst="rect">
            <a:avLst/>
          </a:prstGeom>
          <a:noFill/>
        </p:spPr>
        <p:txBody>
          <a:bodyPr vert="horz" wrap="square" lIns="0" tIns="0" rIns="0" bIns="0" rtlCol="0">
            <a:spAutoFit/>
          </a:bodyPr>
          <a:lstStyle/>
          <a:p>
            <a:pPr marL="12700" algn="l">
              <a:spcBef>
                <a:spcPts val="100"/>
              </a:spcBef>
            </a:pPr>
            <a:r>
              <a:rPr lang="en-US" altLang="zh-CN" sz="2800" dirty="0" err="1">
                <a:solidFill>
                  <a:schemeClr val="tx1"/>
                </a:solidFill>
                <a:latin typeface="Arial" panose="020B0604020202020204" pitchFamily="34" charset="0"/>
                <a:ea typeface="微软雅黑" panose="020B0503020204020204" pitchFamily="34" charset="-122"/>
                <a:cs typeface="Arial" panose="020B0604020202020204" pitchFamily="34" charset="0"/>
              </a:rPr>
              <a:t>NetEngine</a:t>
            </a:r>
            <a:r>
              <a:rPr lang="en-US" altLang="zh-CN" sz="2800" dirty="0">
                <a:solidFill>
                  <a:schemeClr val="tx1"/>
                </a:solidFill>
                <a:latin typeface="Arial" panose="020B0604020202020204" pitchFamily="34" charset="0"/>
                <a:ea typeface="微软雅黑" panose="020B0503020204020204" pitchFamily="34" charset="-122"/>
                <a:cs typeface="Arial" panose="020B0604020202020204" pitchFamily="34" charset="0"/>
              </a:rPr>
              <a:t> 8000 X Series</a:t>
            </a:r>
            <a:br>
              <a:rPr lang="en-US" altLang="zh-CN" sz="2800" dirty="0">
                <a:solidFill>
                  <a:schemeClr val="tx1"/>
                </a:solidFill>
                <a:latin typeface="Arial" panose="020B0604020202020204" pitchFamily="34" charset="0"/>
                <a:ea typeface="微软雅黑" panose="020B0503020204020204" pitchFamily="34" charset="-122"/>
                <a:cs typeface="Arial" panose="020B0604020202020204" pitchFamily="34" charset="0"/>
              </a:rPr>
            </a:br>
            <a:r>
              <a:rPr lang="en-US" altLang="zh-CN" b="1" dirty="0">
                <a:solidFill>
                  <a:schemeClr val="tx1"/>
                </a:solidFill>
                <a:latin typeface="Arial" panose="020B0604020202020204" pitchFamily="34" charset="0"/>
                <a:cs typeface="Arial" panose="020B0604020202020204" pitchFamily="34" charset="0"/>
              </a:rPr>
              <a:t>All Scenarios Intelligent Routers</a:t>
            </a:r>
            <a:endParaRPr sz="28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object 7"/>
          <p:cNvSpPr txBox="1"/>
          <p:nvPr/>
        </p:nvSpPr>
        <p:spPr>
          <a:xfrm>
            <a:off x="469598" y="2280109"/>
            <a:ext cx="6485890" cy="1305486"/>
          </a:xfrm>
          <a:prstGeom prst="rect">
            <a:avLst/>
          </a:prstGeom>
        </p:spPr>
        <p:txBody>
          <a:bodyPr vert="horz" wrap="square" lIns="0" tIns="12700" rIns="0" bIns="0" rtlCol="0">
            <a:spAutoFit/>
          </a:bodyPr>
          <a:lstStyle/>
          <a:p>
            <a:pPr indent="288000" algn="just"/>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The </a:t>
            </a:r>
            <a:r>
              <a:rPr lang="en-US" altLang="zh-CN" sz="1200" dirty="0" err="1">
                <a:solidFill>
                  <a:srgbClr val="231F20"/>
                </a:solidFill>
                <a:latin typeface="Arial" panose="020B0604020202020204" pitchFamily="34" charset="0"/>
                <a:ea typeface="方正兰亭黑简体" panose="02000000000000000000" pitchFamily="2" charset="-122"/>
                <a:cs typeface="Arial" panose="020B0604020202020204" pitchFamily="34" charset="0"/>
              </a:rPr>
              <a:t>NetEngine</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8000 X series are full-service intelligent metro routers launched by Huawei to meet the requirements of new services and massive connections in the cloud era. The X series adopts a hardware architecture with provides a capacity of 1T per slot and it could be upgrade from 1T per slot to 19.2T per slot, and also supports SRv6 for end-to-end intelligent connections, and integrates AI-boosted intelligent O&amp;M capabilities, helping carriers build simplified intelligent metro networks. The X series applies to metro core, aggregation, DC gateway, and international gateway scenarios.</a:t>
            </a:r>
          </a:p>
        </p:txBody>
      </p:sp>
      <p:sp>
        <p:nvSpPr>
          <p:cNvPr id="14" name="object 14"/>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sz="1000" dirty="0">
                <a:solidFill>
                  <a:schemeClr val="tx1"/>
                </a:solidFill>
                <a:latin typeface="Arial" panose="020B0604020202020204" pitchFamily="34" charset="0"/>
                <a:ea typeface="微软雅黑" panose="020B0503020204020204" pitchFamily="34" charset="-122"/>
                <a:cs typeface="Arial" panose="020B0604020202020204" pitchFamily="34" charset="0"/>
              </a:rPr>
              <a:t>1</a:t>
            </a:r>
          </a:p>
        </p:txBody>
      </p:sp>
      <p:cxnSp>
        <p:nvCxnSpPr>
          <p:cNvPr id="45" name="直接连接符 44">
            <a:extLst>
              <a:ext uri="{FF2B5EF4-FFF2-40B4-BE49-F238E27FC236}">
                <a16:creationId xmlns:a16="http://schemas.microsoft.com/office/drawing/2014/main" id="{29DFE4FD-D048-4D9E-B89A-D37A38A291C6}"/>
              </a:ext>
            </a:extLst>
          </p:cNvPr>
          <p:cNvCxnSpPr>
            <a:cxnSpLocks/>
          </p:cNvCxnSpPr>
          <p:nvPr/>
        </p:nvCxnSpPr>
        <p:spPr>
          <a:xfrm>
            <a:off x="2" y="1839694"/>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15" name="Picture 45">
            <a:extLst>
              <a:ext uri="{FF2B5EF4-FFF2-40B4-BE49-F238E27FC236}">
                <a16:creationId xmlns:a16="http://schemas.microsoft.com/office/drawing/2014/main" id="{ABC81B88-EFB4-4931-897D-AC862C6B72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5650" y="236545"/>
            <a:ext cx="1270800" cy="275024"/>
          </a:xfrm>
          <a:prstGeom prst="rect">
            <a:avLst/>
          </a:prstGeom>
        </p:spPr>
      </p:pic>
      <p:sp>
        <p:nvSpPr>
          <p:cNvPr id="20" name="object 10">
            <a:extLst>
              <a:ext uri="{FF2B5EF4-FFF2-40B4-BE49-F238E27FC236}">
                <a16:creationId xmlns:a16="http://schemas.microsoft.com/office/drawing/2014/main" id="{F188AA78-CF4C-4561-868B-A4EB2E2E9BCC}"/>
              </a:ext>
            </a:extLst>
          </p:cNvPr>
          <p:cNvSpPr txBox="1"/>
          <p:nvPr/>
        </p:nvSpPr>
        <p:spPr>
          <a:xfrm>
            <a:off x="479039" y="1936322"/>
            <a:ext cx="1203772" cy="289823"/>
          </a:xfrm>
          <a:prstGeom prst="rect">
            <a:avLst/>
          </a:prstGeom>
        </p:spPr>
        <p:txBody>
          <a:bodyPr vert="horz" wrap="square" lIns="0" tIns="12700" rIns="0" bIns="0" rtlCol="0">
            <a:spAutoFit/>
          </a:bodyPr>
          <a:lstStyle/>
          <a:p>
            <a:pPr>
              <a:spcBef>
                <a:spcPts val="2400"/>
              </a:spcBef>
              <a:spcAft>
                <a:spcPts val="1415"/>
              </a:spcAft>
            </a:pPr>
            <a:r>
              <a:rPr lang="en-US" altLang="zh-CN" sz="1800" b="1" kern="100" dirty="0">
                <a:solidFill>
                  <a:srgbClr val="C00000"/>
                </a:solidFill>
                <a:effectLst/>
                <a:latin typeface="Arial" panose="020B0604020202020204" pitchFamily="34" charset="0"/>
                <a:ea typeface="Arial" panose="020B0604020202020204" pitchFamily="34" charset="0"/>
                <a:cs typeface="Arial" panose="020B0604020202020204" pitchFamily="34" charset="0"/>
              </a:rPr>
              <a:t>Overview</a:t>
            </a:r>
            <a:endParaRPr lang="zh-CN" altLang="zh-CN" sz="1800" b="1" kern="100" dirty="0">
              <a:solidFill>
                <a:srgbClr val="C00000"/>
              </a:solidFill>
              <a:effectLst/>
              <a:latin typeface="Arial" panose="020B0604020202020204" pitchFamily="34" charset="0"/>
              <a:ea typeface="Arial" panose="020B0604020202020204" pitchFamily="34" charset="0"/>
              <a:cs typeface="Arial" panose="020B0604020202020204" pitchFamily="34" charset="0"/>
            </a:endParaRPr>
          </a:p>
        </p:txBody>
      </p:sp>
      <p:grpSp>
        <p:nvGrpSpPr>
          <p:cNvPr id="2" name="组合 1">
            <a:extLst>
              <a:ext uri="{FF2B5EF4-FFF2-40B4-BE49-F238E27FC236}">
                <a16:creationId xmlns:a16="http://schemas.microsoft.com/office/drawing/2014/main" id="{07CD8E8B-F2F8-4FD2-A0FB-E620FBAB4D9D}"/>
              </a:ext>
            </a:extLst>
          </p:cNvPr>
          <p:cNvGrpSpPr/>
          <p:nvPr/>
        </p:nvGrpSpPr>
        <p:grpSpPr>
          <a:xfrm>
            <a:off x="1111250" y="4341412"/>
            <a:ext cx="5513073" cy="2716361"/>
            <a:chOff x="547362" y="3321506"/>
            <a:chExt cx="6812288" cy="3871973"/>
          </a:xfrm>
        </p:grpSpPr>
        <p:pic>
          <p:nvPicPr>
            <p:cNvPr id="1032" name="Picture 8">
              <a:extLst>
                <a:ext uri="{FF2B5EF4-FFF2-40B4-BE49-F238E27FC236}">
                  <a16:creationId xmlns:a16="http://schemas.microsoft.com/office/drawing/2014/main" id="{944855D0-7B99-47E1-B8A6-B7492A0BE51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3442" y="5283656"/>
              <a:ext cx="143510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9">
              <a:extLst>
                <a:ext uri="{FF2B5EF4-FFF2-40B4-BE49-F238E27FC236}">
                  <a16:creationId xmlns:a16="http://schemas.microsoft.com/office/drawing/2014/main" id="{20BD32B2-CB4C-4A29-BF3A-B70AB9009C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16250" y="4641627"/>
              <a:ext cx="13652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a:extLst>
                <a:ext uri="{FF2B5EF4-FFF2-40B4-BE49-F238E27FC236}">
                  <a16:creationId xmlns:a16="http://schemas.microsoft.com/office/drawing/2014/main" id="{C6A35C63-BD59-4374-84FB-6219C442F88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78948" y="3321506"/>
              <a:ext cx="1104900"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文本框 28">
              <a:extLst>
                <a:ext uri="{FF2B5EF4-FFF2-40B4-BE49-F238E27FC236}">
                  <a16:creationId xmlns:a16="http://schemas.microsoft.com/office/drawing/2014/main" id="{732755A8-A6A8-44BD-8810-F1B1294B42C1}"/>
                </a:ext>
              </a:extLst>
            </p:cNvPr>
            <p:cNvSpPr txBox="1"/>
            <p:nvPr/>
          </p:nvSpPr>
          <p:spPr>
            <a:xfrm>
              <a:off x="547362" y="6878672"/>
              <a:ext cx="2172808" cy="314807"/>
            </a:xfrm>
            <a:prstGeom prst="rect">
              <a:avLst/>
            </a:prstGeom>
            <a:noFill/>
          </p:spPr>
          <p:txBody>
            <a:bodyPr wrap="square">
              <a:spAutoFit/>
            </a:bodyPr>
            <a:lstStyle/>
            <a:p>
              <a:r>
                <a:rPr lang="en-US" altLang="zh-CN" sz="1000" kern="100" dirty="0" err="1">
                  <a:solidFill>
                    <a:srgbClr val="000000"/>
                  </a:solidFill>
                  <a:effectLst/>
                  <a:latin typeface="Arial" panose="020B0604020202020204" pitchFamily="34" charset="0"/>
                  <a:cs typeface="Arial" panose="020B0604020202020204" pitchFamily="34" charset="0"/>
                </a:rPr>
                <a:t>NetEngine</a:t>
              </a:r>
              <a:r>
                <a:rPr lang="en-US" altLang="zh-CN" sz="1000" kern="100" dirty="0">
                  <a:solidFill>
                    <a:srgbClr val="000000"/>
                  </a:solidFill>
                  <a:effectLst/>
                  <a:latin typeface="Arial" panose="020B0604020202020204" pitchFamily="34" charset="0"/>
                  <a:cs typeface="Arial" panose="020B0604020202020204" pitchFamily="34" charset="0"/>
                </a:rPr>
                <a:t> 8000 X4 Router </a:t>
              </a:r>
              <a:endParaRPr lang="zh-CN" altLang="en-US" sz="1000" dirty="0">
                <a:latin typeface="Arial" panose="020B0604020202020204" pitchFamily="34" charset="0"/>
                <a:cs typeface="Arial" panose="020B0604020202020204" pitchFamily="34" charset="0"/>
              </a:endParaRPr>
            </a:p>
          </p:txBody>
        </p:sp>
        <p:sp>
          <p:nvSpPr>
            <p:cNvPr id="32" name="文本框 31">
              <a:extLst>
                <a:ext uri="{FF2B5EF4-FFF2-40B4-BE49-F238E27FC236}">
                  <a16:creationId xmlns:a16="http://schemas.microsoft.com/office/drawing/2014/main" id="{1B581F65-E1C8-4F99-9DB5-2F23268B47DF}"/>
                </a:ext>
              </a:extLst>
            </p:cNvPr>
            <p:cNvSpPr txBox="1"/>
            <p:nvPr/>
          </p:nvSpPr>
          <p:spPr>
            <a:xfrm>
              <a:off x="2780912" y="6858413"/>
              <a:ext cx="2172808" cy="314807"/>
            </a:xfrm>
            <a:prstGeom prst="rect">
              <a:avLst/>
            </a:prstGeom>
            <a:noFill/>
          </p:spPr>
          <p:txBody>
            <a:bodyPr wrap="square">
              <a:spAutoFit/>
            </a:bodyPr>
            <a:lstStyle/>
            <a:p>
              <a:r>
                <a:rPr lang="en-US" altLang="zh-CN" sz="1000" kern="100" dirty="0" err="1">
                  <a:solidFill>
                    <a:srgbClr val="000000"/>
                  </a:solidFill>
                  <a:effectLst/>
                  <a:latin typeface="Arial" panose="020B0604020202020204" pitchFamily="34" charset="0"/>
                  <a:cs typeface="Arial" panose="020B0604020202020204" pitchFamily="34" charset="0"/>
                </a:rPr>
                <a:t>NetEngine</a:t>
              </a:r>
              <a:r>
                <a:rPr lang="en-US" altLang="zh-CN" sz="1000" kern="100" dirty="0">
                  <a:solidFill>
                    <a:srgbClr val="000000"/>
                  </a:solidFill>
                  <a:effectLst/>
                  <a:latin typeface="Arial" panose="020B0604020202020204" pitchFamily="34" charset="0"/>
                  <a:cs typeface="Arial" panose="020B0604020202020204" pitchFamily="34" charset="0"/>
                </a:rPr>
                <a:t> 8000 X8 Router </a:t>
              </a:r>
              <a:endParaRPr lang="zh-CN" altLang="en-US" sz="1000" dirty="0">
                <a:latin typeface="Arial" panose="020B0604020202020204" pitchFamily="34" charset="0"/>
                <a:cs typeface="Arial" panose="020B0604020202020204" pitchFamily="34" charset="0"/>
              </a:endParaRPr>
            </a:p>
          </p:txBody>
        </p:sp>
        <p:sp>
          <p:nvSpPr>
            <p:cNvPr id="33" name="文本框 32">
              <a:extLst>
                <a:ext uri="{FF2B5EF4-FFF2-40B4-BE49-F238E27FC236}">
                  <a16:creationId xmlns:a16="http://schemas.microsoft.com/office/drawing/2014/main" id="{CA6E6589-3EE3-4D8B-83ED-1633B9DB51C6}"/>
                </a:ext>
              </a:extLst>
            </p:cNvPr>
            <p:cNvSpPr txBox="1"/>
            <p:nvPr/>
          </p:nvSpPr>
          <p:spPr>
            <a:xfrm>
              <a:off x="5014462" y="6858362"/>
              <a:ext cx="2345188" cy="314807"/>
            </a:xfrm>
            <a:prstGeom prst="rect">
              <a:avLst/>
            </a:prstGeom>
            <a:noFill/>
          </p:spPr>
          <p:txBody>
            <a:bodyPr wrap="square">
              <a:spAutoFit/>
            </a:bodyPr>
            <a:lstStyle/>
            <a:p>
              <a:r>
                <a:rPr lang="en-US" altLang="zh-CN" sz="1000" kern="100" dirty="0" err="1">
                  <a:solidFill>
                    <a:srgbClr val="000000"/>
                  </a:solidFill>
                  <a:effectLst/>
                  <a:latin typeface="Arial" panose="020B0604020202020204" pitchFamily="34" charset="0"/>
                  <a:cs typeface="Arial" panose="020B0604020202020204" pitchFamily="34" charset="0"/>
                </a:rPr>
                <a:t>NetEngine</a:t>
              </a:r>
              <a:r>
                <a:rPr lang="en-US" altLang="zh-CN" sz="1000" kern="100" dirty="0">
                  <a:solidFill>
                    <a:srgbClr val="000000"/>
                  </a:solidFill>
                  <a:effectLst/>
                  <a:latin typeface="Arial" panose="020B0604020202020204" pitchFamily="34" charset="0"/>
                  <a:cs typeface="Arial" panose="020B0604020202020204" pitchFamily="34" charset="0"/>
                </a:rPr>
                <a:t> 8000 X16 Router </a:t>
              </a:r>
              <a:endParaRPr lang="zh-CN" altLang="en-US" sz="1000" dirty="0">
                <a:latin typeface="Arial" panose="020B0604020202020204" pitchFamily="34" charset="0"/>
                <a:cs typeface="Arial" panose="020B0604020202020204" pitchFamily="34" charset="0"/>
              </a:endParaRPr>
            </a:p>
          </p:txBody>
        </p:sp>
      </p:grpSp>
      <p:sp>
        <p:nvSpPr>
          <p:cNvPr id="103" name="object 10">
            <a:extLst>
              <a:ext uri="{FF2B5EF4-FFF2-40B4-BE49-F238E27FC236}">
                <a16:creationId xmlns:a16="http://schemas.microsoft.com/office/drawing/2014/main" id="{EE18DAD8-7E48-4DC8-8BC4-C74217AA41A8}"/>
              </a:ext>
            </a:extLst>
          </p:cNvPr>
          <p:cNvSpPr txBox="1"/>
          <p:nvPr/>
        </p:nvSpPr>
        <p:spPr>
          <a:xfrm>
            <a:off x="499867" y="7180409"/>
            <a:ext cx="2208582" cy="289823"/>
          </a:xfrm>
          <a:prstGeom prst="rect">
            <a:avLst/>
          </a:prstGeom>
        </p:spPr>
        <p:txBody>
          <a:bodyPr vert="horz" wrap="square" lIns="0" tIns="12700" rIns="0" bIns="0" rtlCol="0">
            <a:spAutoFit/>
          </a:bodyPr>
          <a:lstStyle/>
          <a:p>
            <a:r>
              <a:rPr lang="en-US" altLang="zh-CN" b="1" dirty="0">
                <a:solidFill>
                  <a:srgbClr val="C00000"/>
                </a:solidFill>
                <a:latin typeface="Arial" panose="020B0604020202020204" pitchFamily="34" charset="0"/>
                <a:cs typeface="Arial" panose="020B0604020202020204" pitchFamily="34" charset="0"/>
              </a:rPr>
              <a:t>Product Highlights</a:t>
            </a:r>
            <a:endParaRPr lang="zh-CN" altLang="zh-CN" b="1" dirty="0">
              <a:solidFill>
                <a:srgbClr val="C00000"/>
              </a:solidFill>
              <a:latin typeface="Arial" panose="020B0604020202020204" pitchFamily="34" charset="0"/>
              <a:cs typeface="Arial" panose="020B0604020202020204" pitchFamily="34" charset="0"/>
            </a:endParaRPr>
          </a:p>
        </p:txBody>
      </p:sp>
      <p:graphicFrame>
        <p:nvGraphicFramePr>
          <p:cNvPr id="19" name="表格 18">
            <a:extLst>
              <a:ext uri="{FF2B5EF4-FFF2-40B4-BE49-F238E27FC236}">
                <a16:creationId xmlns:a16="http://schemas.microsoft.com/office/drawing/2014/main" id="{58B98CEB-45DC-46AD-9C2D-73A7737211DC}"/>
              </a:ext>
            </a:extLst>
          </p:cNvPr>
          <p:cNvGraphicFramePr>
            <a:graphicFrameLocks noGrp="1"/>
          </p:cNvGraphicFramePr>
          <p:nvPr>
            <p:extLst>
              <p:ext uri="{D42A27DB-BD31-4B8C-83A1-F6EECF244321}">
                <p14:modId xmlns:p14="http://schemas.microsoft.com/office/powerpoint/2010/main" val="2885628471"/>
              </p:ext>
            </p:extLst>
          </p:nvPr>
        </p:nvGraphicFramePr>
        <p:xfrm>
          <a:off x="522478" y="7606635"/>
          <a:ext cx="6511544" cy="2388265"/>
        </p:xfrm>
        <a:graphic>
          <a:graphicData uri="http://schemas.openxmlformats.org/drawingml/2006/table">
            <a:tbl>
              <a:tblPr firstRow="1" firstCol="1" lastRow="1" lastCol="1" bandRow="1" bandCol="1">
                <a:tableStyleId>{5C22544A-7EE6-4342-B048-85BDC9FD1C3A}</a:tableStyleId>
              </a:tblPr>
              <a:tblGrid>
                <a:gridCol w="1297857">
                  <a:extLst>
                    <a:ext uri="{9D8B030D-6E8A-4147-A177-3AD203B41FA5}">
                      <a16:colId xmlns:a16="http://schemas.microsoft.com/office/drawing/2014/main" val="2406034069"/>
                    </a:ext>
                  </a:extLst>
                </a:gridCol>
                <a:gridCol w="5213687">
                  <a:extLst>
                    <a:ext uri="{9D8B030D-6E8A-4147-A177-3AD203B41FA5}">
                      <a16:colId xmlns:a16="http://schemas.microsoft.com/office/drawing/2014/main" val="2448261746"/>
                    </a:ext>
                  </a:extLst>
                </a:gridCol>
              </a:tblGrid>
              <a:tr h="244505">
                <a:tc>
                  <a:txBody>
                    <a:bodyPr/>
                    <a:lstStyle/>
                    <a:p>
                      <a:pPr algn="ctr">
                        <a:lnSpc>
                          <a:spcPct val="100000"/>
                        </a:lnSpc>
                        <a:spcBef>
                          <a:spcPts val="400"/>
                        </a:spcBef>
                        <a:spcAft>
                          <a:spcPts val="400"/>
                        </a:spcAft>
                      </a:pPr>
                      <a:r>
                        <a:rPr lang="en-US" altLang="zh-CN" sz="1400" b="1" dirty="0">
                          <a:solidFill>
                            <a:schemeClr val="tx1"/>
                          </a:solidFill>
                          <a:latin typeface="Arial" panose="020B0604020202020204" pitchFamily="34" charset="0"/>
                          <a:cs typeface="Arial" panose="020B0604020202020204" pitchFamily="34" charset="0"/>
                        </a:rPr>
                        <a:t>Highlights</a:t>
                      </a:r>
                      <a:endParaRPr lang="zh-CN" sz="1000" b="1" kern="100" dirty="0">
                        <a:solidFill>
                          <a:schemeClr val="tx1"/>
                        </a:solidFill>
                        <a:effectLst/>
                        <a:latin typeface="Arial" panose="020B0604020202020204" pitchFamily="34" charset="0"/>
                        <a:ea typeface="+mn-ea"/>
                        <a:cs typeface="Arial" panose="020B0604020202020204" pitchFamily="34" charset="0"/>
                      </a:endParaRPr>
                    </a:p>
                  </a:txBody>
                  <a:tcPr marL="58559" marR="58559"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en-US" altLang="zh-CN" sz="1400" b="1" kern="1200" dirty="0">
                          <a:solidFill>
                            <a:schemeClr val="tx1"/>
                          </a:solidFill>
                          <a:latin typeface="Arial" panose="020B0604020202020204" pitchFamily="34" charset="0"/>
                          <a:ea typeface="+mn-ea"/>
                          <a:cs typeface="Arial" panose="020B0604020202020204" pitchFamily="34" charset="0"/>
                        </a:rPr>
                        <a:t>Description</a:t>
                      </a:r>
                      <a:endParaRPr lang="zh-CN" altLang="en-US" sz="1400" b="1" kern="1200" dirty="0">
                        <a:solidFill>
                          <a:schemeClr val="tx1"/>
                        </a:solidFill>
                        <a:latin typeface="Arial" panose="020B0604020202020204" pitchFamily="34" charset="0"/>
                        <a:ea typeface="+mn-ea"/>
                        <a:cs typeface="Arial" panose="020B0604020202020204" pitchFamily="34" charset="0"/>
                      </a:endParaRPr>
                    </a:p>
                  </a:txBody>
                  <a:tcPr marL="58559" marR="58559"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13231179"/>
                  </a:ext>
                </a:extLst>
              </a:tr>
              <a:tr h="754964">
                <a:tc>
                  <a:txBody>
                    <a:bodyPr/>
                    <a:lstStyle/>
                    <a:p>
                      <a:pPr algn="ctr" defTabSz="1216639">
                        <a:defRPr/>
                      </a:pPr>
                      <a:r>
                        <a:rPr lang="en-US" altLang="zh-CN" sz="1200" b="0" kern="1200" dirty="0">
                          <a:solidFill>
                            <a:schemeClr val="tx1"/>
                          </a:solidFill>
                          <a:latin typeface="Arial" panose="020B0604020202020204" pitchFamily="34" charset="0"/>
                          <a:ea typeface="+mn-ea"/>
                          <a:cs typeface="Arial" panose="020B0604020202020204" pitchFamily="34" charset="0"/>
                          <a:sym typeface="+mn-lt"/>
                        </a:rPr>
                        <a:t>Super</a:t>
                      </a:r>
                    </a:p>
                    <a:p>
                      <a:pPr algn="ctr" defTabSz="1216639">
                        <a:defRPr/>
                      </a:pPr>
                      <a:r>
                        <a:rPr lang="en-US" altLang="zh-CN" sz="1200" b="0" kern="1200" dirty="0">
                          <a:solidFill>
                            <a:schemeClr val="tx1"/>
                          </a:solidFill>
                          <a:latin typeface="Arial" panose="020B0604020202020204" pitchFamily="34" charset="0"/>
                          <a:ea typeface="+mn-ea"/>
                          <a:cs typeface="Arial" panose="020B0604020202020204" pitchFamily="34" charset="0"/>
                          <a:sym typeface="+mn-lt"/>
                        </a:rPr>
                        <a:t>Capacity</a:t>
                      </a:r>
                    </a:p>
                  </a:txBody>
                  <a:tcPr marL="58559" marR="58559"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171450" indent="-171450" algn="l" defTabSz="755934" rtl="0" eaLnBrk="1" latinLnBrk="0" hangingPunct="1">
                        <a:lnSpc>
                          <a:spcPct val="100000"/>
                        </a:lnSpc>
                        <a:spcBef>
                          <a:spcPts val="800"/>
                        </a:spcBef>
                        <a:spcAft>
                          <a:spcPts val="0"/>
                        </a:spcAft>
                        <a:buFont typeface="Arial" panose="020B0604020202020204" pitchFamily="34" charset="0"/>
                        <a:buChar char="•"/>
                        <a:tabLst>
                          <a:tab pos="114300" algn="l"/>
                          <a:tab pos="533400" algn="l"/>
                        </a:tabLst>
                      </a:pPr>
                      <a:r>
                        <a:rPr lang="en-US" altLang="zh-CN" sz="1200" b="0" kern="1200" dirty="0">
                          <a:solidFill>
                            <a:schemeClr val="tx1"/>
                          </a:solidFill>
                          <a:latin typeface="Arial" panose="020B0604020202020204" pitchFamily="34" charset="0"/>
                          <a:ea typeface="+mn-ea"/>
                          <a:cs typeface="Arial" panose="020B0604020202020204" pitchFamily="34" charset="0"/>
                        </a:rPr>
                        <a:t>Large Capacity : 19.2T/slot, twice the industry average</a:t>
                      </a:r>
                    </a:p>
                    <a:p>
                      <a:pPr marL="171450" indent="-171450" algn="l" defTabSz="755934" rtl="0" eaLnBrk="1" latinLnBrk="0" hangingPunct="1">
                        <a:lnSpc>
                          <a:spcPct val="100000"/>
                        </a:lnSpc>
                        <a:spcBef>
                          <a:spcPts val="800"/>
                        </a:spcBef>
                        <a:spcAft>
                          <a:spcPts val="0"/>
                        </a:spcAft>
                        <a:buFont typeface="Arial" panose="020B0604020202020204" pitchFamily="34" charset="0"/>
                        <a:buChar char="•"/>
                        <a:tabLst>
                          <a:tab pos="114300" algn="l"/>
                          <a:tab pos="533400" algn="l"/>
                        </a:tabLst>
                      </a:pPr>
                      <a:r>
                        <a:rPr lang="en-US" altLang="zh-CN" sz="1200" b="0" kern="1200" dirty="0">
                          <a:solidFill>
                            <a:schemeClr val="tx1"/>
                          </a:solidFill>
                          <a:latin typeface="Arial" panose="020B0604020202020204" pitchFamily="34" charset="0"/>
                          <a:ea typeface="+mn-ea"/>
                          <a:cs typeface="Arial" panose="020B0604020202020204" pitchFamily="34" charset="0"/>
                        </a:rPr>
                        <a:t> </a:t>
                      </a:r>
                      <a:r>
                        <a:rPr lang="sv-SE" altLang="zh-CN" sz="1200" b="0" kern="1200" dirty="0">
                          <a:solidFill>
                            <a:schemeClr val="tx1"/>
                          </a:solidFill>
                          <a:latin typeface="Arial" panose="020B0604020202020204" pitchFamily="34" charset="0"/>
                          <a:ea typeface="+mn-ea"/>
                          <a:cs typeface="Arial" panose="020B0604020202020204" pitchFamily="34" charset="0"/>
                        </a:rPr>
                        <a:t>High density board :  6*800GE, 36*400GE, 40*100GE, 72*25GE/10GE</a:t>
                      </a:r>
                    </a:p>
                    <a:p>
                      <a:pPr marL="171450" indent="-171450" algn="l" defTabSz="755934" rtl="0" eaLnBrk="1" latinLnBrk="0" hangingPunct="1">
                        <a:lnSpc>
                          <a:spcPct val="100000"/>
                        </a:lnSpc>
                        <a:spcBef>
                          <a:spcPts val="800"/>
                        </a:spcBef>
                        <a:spcAft>
                          <a:spcPts val="0"/>
                        </a:spcAft>
                        <a:buFont typeface="Arial" panose="020B0604020202020204" pitchFamily="34" charset="0"/>
                        <a:buChar char="•"/>
                        <a:tabLst>
                          <a:tab pos="114300" algn="l"/>
                          <a:tab pos="533400" algn="l"/>
                        </a:tabLst>
                      </a:pPr>
                      <a:r>
                        <a:rPr lang="en-US" altLang="zh-CN" sz="1200" b="0" kern="1200" dirty="0">
                          <a:solidFill>
                            <a:schemeClr val="tx1"/>
                          </a:solidFill>
                          <a:latin typeface="Arial" panose="020B0604020202020204" pitchFamily="34" charset="0"/>
                          <a:ea typeface="+mn-ea"/>
                          <a:cs typeface="Arial" panose="020B0604020202020204" pitchFamily="34" charset="0"/>
                        </a:rPr>
                        <a:t>Orthogonal architecture, saving 24% space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125169"/>
                  </a:ext>
                </a:extLst>
              </a:tr>
              <a:tr h="673684">
                <a:tc>
                  <a:txBody>
                    <a:bodyPr/>
                    <a:lstStyle/>
                    <a:p>
                      <a:pPr marL="0" marR="0" lvl="0" indent="0" algn="ctr" defTabSz="755934" rtl="0" eaLnBrk="1" fontAlgn="auto" latinLnBrk="0" hangingPunct="1">
                        <a:lnSpc>
                          <a:spcPts val="1200"/>
                        </a:lnSpc>
                        <a:spcBef>
                          <a:spcPts val="400"/>
                        </a:spcBef>
                        <a:spcAft>
                          <a:spcPts val="400"/>
                        </a:spcAft>
                        <a:buClrTx/>
                        <a:buSzTx/>
                        <a:buFontTx/>
                        <a:buNone/>
                        <a:tabLst/>
                        <a:defRPr/>
                      </a:pPr>
                      <a:r>
                        <a:rPr lang="en-US" altLang="zh-CN" sz="1200" b="0" kern="1200" dirty="0">
                          <a:solidFill>
                            <a:schemeClr val="tx1"/>
                          </a:solidFill>
                          <a:latin typeface="Arial" panose="020B0604020202020204" pitchFamily="34" charset="0"/>
                          <a:ea typeface="+mn-ea"/>
                          <a:cs typeface="Arial" panose="020B0604020202020204" pitchFamily="34" charset="0"/>
                        </a:rPr>
                        <a:t>Various Ports</a:t>
                      </a:r>
                    </a:p>
                  </a:txBody>
                  <a:tcPr marL="58559" marR="58559"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755934" rtl="0" eaLnBrk="1" fontAlgn="auto" latinLnBrk="0" hangingPunct="1">
                        <a:lnSpc>
                          <a:spcPct val="100000"/>
                        </a:lnSpc>
                        <a:spcBef>
                          <a:spcPts val="800"/>
                        </a:spcBef>
                        <a:spcAft>
                          <a:spcPts val="0"/>
                        </a:spcAft>
                        <a:buClrTx/>
                        <a:buSzTx/>
                        <a:buFontTx/>
                        <a:buNone/>
                        <a:tabLst>
                          <a:tab pos="114300" algn="l"/>
                          <a:tab pos="533400" algn="l"/>
                        </a:tabLst>
                        <a:defRPr/>
                      </a:pPr>
                      <a:r>
                        <a:rPr lang="en-US" altLang="zh-CN" sz="1200" b="0" kern="1200" dirty="0">
                          <a:solidFill>
                            <a:schemeClr val="tx1"/>
                          </a:solidFill>
                          <a:latin typeface="Arial" panose="020B0604020202020204" pitchFamily="34" charset="0"/>
                          <a:ea typeface="+mn-ea"/>
                          <a:cs typeface="Arial" panose="020B0604020202020204" pitchFamily="34" charset="0"/>
                        </a:rPr>
                        <a:t>Support P/PE, SR, IGW, DC-GW and BNG</a:t>
                      </a:r>
                    </a:p>
                    <a:p>
                      <a:pPr marL="171450" marR="0" lvl="0" indent="-171450" algn="l" defTabSz="755934" rtl="0" eaLnBrk="1" fontAlgn="auto" latinLnBrk="0" hangingPunct="1">
                        <a:lnSpc>
                          <a:spcPct val="100000"/>
                        </a:lnSpc>
                        <a:spcBef>
                          <a:spcPts val="800"/>
                        </a:spcBef>
                        <a:spcAft>
                          <a:spcPts val="0"/>
                        </a:spcAft>
                        <a:buClrTx/>
                        <a:buSzTx/>
                        <a:buFont typeface="Arial" panose="020B0604020202020204" pitchFamily="34" charset="0"/>
                        <a:buChar char="•"/>
                        <a:tabLst>
                          <a:tab pos="114300" algn="l"/>
                          <a:tab pos="533400" algn="l"/>
                        </a:tabLst>
                        <a:defRPr/>
                      </a:pPr>
                      <a:r>
                        <a:rPr lang="en-US" altLang="zh-CN" sz="1200" b="0" kern="1200" dirty="0">
                          <a:solidFill>
                            <a:schemeClr val="tx1"/>
                          </a:solidFill>
                          <a:latin typeface="Arial" panose="020B0604020202020204" pitchFamily="34" charset="0"/>
                          <a:ea typeface="+mn-ea"/>
                          <a:cs typeface="Arial" panose="020B0604020202020204" pitchFamily="34" charset="0"/>
                        </a:rPr>
                        <a:t> 800GE/400GE/100GE/50GE/40GE/25GE/10GE/GE/FE</a:t>
                      </a:r>
                    </a:p>
                    <a:p>
                      <a:pPr marL="171450" marR="0" lvl="0" indent="-171450" algn="l" defTabSz="755934" rtl="0" eaLnBrk="1" fontAlgn="auto" latinLnBrk="0" hangingPunct="1">
                        <a:lnSpc>
                          <a:spcPct val="100000"/>
                        </a:lnSpc>
                        <a:spcBef>
                          <a:spcPts val="800"/>
                        </a:spcBef>
                        <a:spcAft>
                          <a:spcPts val="0"/>
                        </a:spcAft>
                        <a:buClrTx/>
                        <a:buSzTx/>
                        <a:buFont typeface="Arial" panose="020B0604020202020204" pitchFamily="34" charset="0"/>
                        <a:buChar char="•"/>
                        <a:tabLst>
                          <a:tab pos="114300" algn="l"/>
                          <a:tab pos="533400" algn="l"/>
                        </a:tabLst>
                        <a:defRPr/>
                      </a:pPr>
                      <a:r>
                        <a:rPr lang="en-US" altLang="zh-CN" sz="1200" b="0" kern="1200" dirty="0">
                          <a:solidFill>
                            <a:schemeClr val="tx1"/>
                          </a:solidFill>
                          <a:latin typeface="Arial" panose="020B0604020202020204" pitchFamily="34" charset="0"/>
                          <a:ea typeface="+mn-ea"/>
                          <a:cs typeface="Arial" panose="020B0604020202020204" pitchFamily="34" charset="0"/>
                        </a:rPr>
                        <a:t>Support Integrated Line Processing Unit and Flexible card</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304335"/>
                  </a:ext>
                </a:extLst>
              </a:tr>
              <a:tr h="440004">
                <a:tc>
                  <a:txBody>
                    <a:bodyPr/>
                    <a:lstStyle/>
                    <a:p>
                      <a:pPr marL="0" algn="ctr" defTabSz="755934" rtl="0" eaLnBrk="1" latinLnBrk="0" hangingPunct="1">
                        <a:lnSpc>
                          <a:spcPts val="1600"/>
                        </a:lnSpc>
                        <a:spcBef>
                          <a:spcPts val="800"/>
                        </a:spcBef>
                        <a:spcAft>
                          <a:spcPts val="0"/>
                        </a:spcAft>
                        <a:tabLst>
                          <a:tab pos="114300" algn="l"/>
                          <a:tab pos="533400" algn="l"/>
                        </a:tabLst>
                      </a:pPr>
                      <a:r>
                        <a:rPr lang="en-US" altLang="zh-CN" sz="1200" b="0" kern="1200" dirty="0">
                          <a:solidFill>
                            <a:schemeClr val="tx1"/>
                          </a:solidFill>
                          <a:latin typeface="Arial" panose="020B0604020202020204" pitchFamily="34" charset="0"/>
                          <a:ea typeface="+mn-ea"/>
                          <a:cs typeface="Arial" panose="020B0604020202020204" pitchFamily="34" charset="0"/>
                        </a:rPr>
                        <a:t>All Scenarios</a:t>
                      </a:r>
                    </a:p>
                  </a:txBody>
                  <a:tcPr marL="58559" marR="58559"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755934" rtl="0" eaLnBrk="1" fontAlgn="auto" latinLnBrk="0" hangingPunct="1">
                        <a:lnSpc>
                          <a:spcPct val="100000"/>
                        </a:lnSpc>
                        <a:spcBef>
                          <a:spcPts val="800"/>
                        </a:spcBef>
                        <a:spcAft>
                          <a:spcPts val="0"/>
                        </a:spcAft>
                        <a:buClrTx/>
                        <a:buSzTx/>
                        <a:buFontTx/>
                        <a:buNone/>
                        <a:tabLst>
                          <a:tab pos="114300" algn="l"/>
                          <a:tab pos="533400" algn="l"/>
                        </a:tabLst>
                        <a:defRPr/>
                      </a:pPr>
                      <a:r>
                        <a:rPr lang="en-US" altLang="zh-CN" sz="1200" b="0" kern="1200" dirty="0">
                          <a:solidFill>
                            <a:schemeClr val="tx1"/>
                          </a:solidFill>
                          <a:latin typeface="Arial" panose="020B0604020202020204" pitchFamily="34" charset="0"/>
                          <a:ea typeface="+mn-ea"/>
                          <a:cs typeface="Arial" panose="020B0604020202020204" pitchFamily="34" charset="0"/>
                          <a:sym typeface="+mn-lt"/>
                        </a:rPr>
                        <a:t>Metro core, Metro aggregation, DC-GW, SR scenarios,</a:t>
                      </a:r>
                      <a:r>
                        <a:rPr lang="zh-CN" altLang="en-US" sz="1200" b="0" kern="1200" dirty="0">
                          <a:solidFill>
                            <a:schemeClr val="tx1"/>
                          </a:solidFill>
                          <a:latin typeface="Arial" panose="020B0604020202020204" pitchFamily="34" charset="0"/>
                          <a:ea typeface="+mn-ea"/>
                          <a:cs typeface="Arial" panose="020B0604020202020204" pitchFamily="34" charset="0"/>
                          <a:sym typeface="+mn-lt"/>
                        </a:rPr>
                        <a:t> </a:t>
                      </a:r>
                      <a:r>
                        <a:rPr lang="en-US" altLang="zh-CN" sz="1200" b="0" kern="1200" dirty="0">
                          <a:solidFill>
                            <a:schemeClr val="tx1"/>
                          </a:solidFill>
                          <a:latin typeface="Arial" panose="020B0604020202020204" pitchFamily="34" charset="0"/>
                          <a:ea typeface="+mn-ea"/>
                          <a:cs typeface="Arial" panose="020B0604020202020204" pitchFamily="34" charset="0"/>
                          <a:sym typeface="+mn-lt"/>
                        </a:rPr>
                        <a:t>BNG,</a:t>
                      </a:r>
                      <a:r>
                        <a:rPr lang="zh-CN" altLang="en-US" sz="1200" b="0" kern="1200" dirty="0">
                          <a:solidFill>
                            <a:schemeClr val="tx1"/>
                          </a:solidFill>
                          <a:latin typeface="Arial" panose="020B0604020202020204" pitchFamily="34" charset="0"/>
                          <a:ea typeface="+mn-ea"/>
                          <a:cs typeface="Arial" panose="020B0604020202020204" pitchFamily="34" charset="0"/>
                          <a:sym typeface="+mn-lt"/>
                        </a:rPr>
                        <a:t> </a:t>
                      </a:r>
                      <a:r>
                        <a:rPr lang="en-US" altLang="zh-CN" sz="1200" b="0" kern="1200" dirty="0">
                          <a:solidFill>
                            <a:schemeClr val="tx1"/>
                          </a:solidFill>
                          <a:latin typeface="Arial" panose="020B0604020202020204" pitchFamily="34" charset="0"/>
                          <a:ea typeface="+mn-ea"/>
                          <a:cs typeface="Arial" panose="020B0604020202020204" pitchFamily="34" charset="0"/>
                          <a:sym typeface="+mn-lt"/>
                        </a:rPr>
                        <a:t>CGN, IPSEC, SA etc.</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8531160"/>
                  </a:ext>
                </a:extLst>
              </a:tr>
            </a:tbl>
          </a:graphicData>
        </a:graphic>
      </p:graphicFrame>
      <p:sp>
        <p:nvSpPr>
          <p:cNvPr id="22" name="object 10">
            <a:extLst>
              <a:ext uri="{FF2B5EF4-FFF2-40B4-BE49-F238E27FC236}">
                <a16:creationId xmlns:a16="http://schemas.microsoft.com/office/drawing/2014/main" id="{73FC0F41-B02E-4121-ABE4-A74FE758BD15}"/>
              </a:ext>
            </a:extLst>
          </p:cNvPr>
          <p:cNvSpPr txBox="1"/>
          <p:nvPr/>
        </p:nvSpPr>
        <p:spPr>
          <a:xfrm>
            <a:off x="479039" y="3725779"/>
            <a:ext cx="2418958" cy="289823"/>
          </a:xfrm>
          <a:prstGeom prst="rect">
            <a:avLst/>
          </a:prstGeom>
        </p:spPr>
        <p:txBody>
          <a:bodyPr vert="horz" wrap="square" lIns="0" tIns="12700" rIns="0" bIns="0" rtlCol="0">
            <a:spAutoFit/>
          </a:bodyPr>
          <a:lstStyle/>
          <a:p>
            <a:pPr>
              <a:spcBef>
                <a:spcPts val="2400"/>
              </a:spcBef>
              <a:spcAft>
                <a:spcPts val="1415"/>
              </a:spcAft>
            </a:pPr>
            <a:r>
              <a:rPr lang="en-US" altLang="zh-CN" sz="1800" b="1" kern="100" dirty="0">
                <a:solidFill>
                  <a:srgbClr val="C00000"/>
                </a:solidFill>
                <a:effectLst/>
                <a:latin typeface="Arial" panose="020B0604020202020204" pitchFamily="34" charset="0"/>
                <a:ea typeface="Arial" panose="020B0604020202020204" pitchFamily="34" charset="0"/>
                <a:cs typeface="Arial" panose="020B0604020202020204" pitchFamily="34" charset="0"/>
              </a:rPr>
              <a:t>Product Appearance</a:t>
            </a:r>
            <a:endParaRPr lang="zh-CN" altLang="zh-CN" sz="1800" b="1" kern="100" dirty="0">
              <a:solidFill>
                <a:srgbClr val="C00000"/>
              </a:solidFill>
              <a:effectLst/>
              <a:latin typeface="Arial" panose="020B0604020202020204" pitchFamily="34" charset="0"/>
              <a:ea typeface="Arial" panose="020B0604020202020204" pitchFamily="34" charset="0"/>
              <a:cs typeface="Arial" panose="020B0604020202020204" pitchFamily="34" charset="0"/>
            </a:endParaRPr>
          </a:p>
        </p:txBody>
      </p:sp>
      <p:sp>
        <p:nvSpPr>
          <p:cNvPr id="23" name="object 7">
            <a:extLst>
              <a:ext uri="{FF2B5EF4-FFF2-40B4-BE49-F238E27FC236}">
                <a16:creationId xmlns:a16="http://schemas.microsoft.com/office/drawing/2014/main" id="{1429FA96-314A-4774-A6CB-D5B9B4117659}"/>
              </a:ext>
            </a:extLst>
          </p:cNvPr>
          <p:cNvSpPr txBox="1"/>
          <p:nvPr/>
        </p:nvSpPr>
        <p:spPr>
          <a:xfrm>
            <a:off x="469598" y="4025809"/>
            <a:ext cx="6485890" cy="382156"/>
          </a:xfrm>
          <a:prstGeom prst="rect">
            <a:avLst/>
          </a:prstGeom>
        </p:spPr>
        <p:txBody>
          <a:bodyPr vert="horz" wrap="square" lIns="0" tIns="12700" rIns="0" bIns="0" rtlCol="0">
            <a:spAutoFit/>
          </a:bodyPr>
          <a:lstStyle/>
          <a:p>
            <a:pPr indent="288000" algn="just"/>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Huawei </a:t>
            </a:r>
            <a:r>
              <a:rPr lang="en-US" altLang="zh-CN" sz="1200" dirty="0" err="1">
                <a:solidFill>
                  <a:srgbClr val="231F20"/>
                </a:solidFill>
                <a:latin typeface="Arial" panose="020B0604020202020204" pitchFamily="34" charset="0"/>
                <a:ea typeface="方正兰亭黑简体" panose="02000000000000000000" pitchFamily="2" charset="-122"/>
                <a:cs typeface="Arial" panose="020B0604020202020204" pitchFamily="34" charset="0"/>
              </a:rPr>
              <a:t>NetEngine</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8000 X series products include </a:t>
            </a:r>
            <a:r>
              <a:rPr lang="en-US" altLang="zh-CN" sz="1200" dirty="0" err="1">
                <a:solidFill>
                  <a:srgbClr val="231F20"/>
                </a:solidFill>
                <a:latin typeface="Arial" panose="020B0604020202020204" pitchFamily="34" charset="0"/>
                <a:ea typeface="方正兰亭黑简体" panose="02000000000000000000" pitchFamily="2" charset="-122"/>
                <a:cs typeface="Arial" panose="020B0604020202020204" pitchFamily="34" charset="0"/>
              </a:rPr>
              <a:t>NetEngine</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8000 X4, </a:t>
            </a:r>
            <a:r>
              <a:rPr lang="en-US" altLang="zh-CN" sz="1200" dirty="0" err="1">
                <a:solidFill>
                  <a:srgbClr val="231F20"/>
                </a:solidFill>
                <a:latin typeface="Arial" panose="020B0604020202020204" pitchFamily="34" charset="0"/>
                <a:ea typeface="方正兰亭黑简体" panose="02000000000000000000" pitchFamily="2" charset="-122"/>
                <a:cs typeface="Arial" panose="020B0604020202020204" pitchFamily="34" charset="0"/>
              </a:rPr>
              <a:t>NetEngine</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8000 X8, and </a:t>
            </a:r>
            <a:r>
              <a:rPr lang="en-US" altLang="zh-CN" sz="1200" dirty="0" err="1">
                <a:solidFill>
                  <a:srgbClr val="231F20"/>
                </a:solidFill>
                <a:latin typeface="Arial" panose="020B0604020202020204" pitchFamily="34" charset="0"/>
                <a:ea typeface="方正兰亭黑简体" panose="02000000000000000000" pitchFamily="2" charset="-122"/>
                <a:cs typeface="Arial" panose="020B0604020202020204" pitchFamily="34" charset="0"/>
              </a:rPr>
              <a:t>NetEngine</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8000 X16.</a:t>
            </a:r>
          </a:p>
        </p:txBody>
      </p:sp>
    </p:spTree>
    <p:extLst>
      <p:ext uri="{BB962C8B-B14F-4D97-AF65-F5344CB8AC3E}">
        <p14:creationId xmlns:p14="http://schemas.microsoft.com/office/powerpoint/2010/main" val="4169937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1000" dirty="0">
                <a:solidFill>
                  <a:schemeClr val="tx1"/>
                </a:solidFill>
                <a:latin typeface="微软雅黑" panose="020B0503020204020204" pitchFamily="34" charset="-122"/>
                <a:ea typeface="微软雅黑" panose="020B0503020204020204" pitchFamily="34" charset="-122"/>
                <a:cs typeface="宋体"/>
              </a:rPr>
              <a:t>2</a:t>
            </a:r>
            <a:endParaRPr sz="1000" dirty="0">
              <a:solidFill>
                <a:schemeClr val="tx1"/>
              </a:solidFill>
              <a:latin typeface="微软雅黑" panose="020B0503020204020204" pitchFamily="34" charset="-122"/>
              <a:ea typeface="微软雅黑" panose="020B0503020204020204" pitchFamily="34" charset="-122"/>
              <a:cs typeface="宋体"/>
            </a:endParaRPr>
          </a:p>
        </p:txBody>
      </p:sp>
      <p:sp>
        <p:nvSpPr>
          <p:cNvPr id="17" name="object 10">
            <a:extLst>
              <a:ext uri="{FF2B5EF4-FFF2-40B4-BE49-F238E27FC236}">
                <a16:creationId xmlns:a16="http://schemas.microsoft.com/office/drawing/2014/main" id="{82B4AD7E-712F-46E8-BAA8-1397A1E2541B}"/>
              </a:ext>
            </a:extLst>
          </p:cNvPr>
          <p:cNvSpPr txBox="1"/>
          <p:nvPr/>
        </p:nvSpPr>
        <p:spPr>
          <a:xfrm>
            <a:off x="509858" y="527715"/>
            <a:ext cx="2411897" cy="289823"/>
          </a:xfrm>
          <a:prstGeom prst="rect">
            <a:avLst/>
          </a:prstGeom>
        </p:spPr>
        <p:txBody>
          <a:bodyPr vert="horz" wrap="square" lIns="0" tIns="12700" rIns="0" bIns="0" rtlCol="0">
            <a:spAutoFit/>
          </a:bodyPr>
          <a:lstStyle/>
          <a:p>
            <a:r>
              <a:rPr lang="en-US" altLang="zh-CN" b="1" dirty="0">
                <a:solidFill>
                  <a:srgbClr val="C00000"/>
                </a:solidFill>
              </a:rPr>
              <a:t>Application Scenarios</a:t>
            </a:r>
          </a:p>
        </p:txBody>
      </p:sp>
      <p:sp>
        <p:nvSpPr>
          <p:cNvPr id="21" name="文本框 20">
            <a:extLst>
              <a:ext uri="{FF2B5EF4-FFF2-40B4-BE49-F238E27FC236}">
                <a16:creationId xmlns:a16="http://schemas.microsoft.com/office/drawing/2014/main" id="{F047266E-408B-4715-B0BB-1265B2B392C2}"/>
              </a:ext>
            </a:extLst>
          </p:cNvPr>
          <p:cNvSpPr txBox="1"/>
          <p:nvPr/>
        </p:nvSpPr>
        <p:spPr>
          <a:xfrm>
            <a:off x="501651" y="4592886"/>
            <a:ext cx="6467856" cy="1668214"/>
          </a:xfrm>
          <a:prstGeom prst="rect">
            <a:avLst/>
          </a:prstGeom>
          <a:noFill/>
        </p:spPr>
        <p:txBody>
          <a:bodyPr wrap="square">
            <a:spAutoFit/>
          </a:bodyPr>
          <a:lstStyle/>
          <a:p>
            <a:pPr>
              <a:lnSpc>
                <a:spcPct val="150000"/>
              </a:lnSpc>
            </a:pPr>
            <a:r>
              <a:rPr lang="en-US" altLang="zh-CN" sz="1400" dirty="0"/>
              <a:t>          The </a:t>
            </a:r>
            <a:r>
              <a:rPr lang="en-US" altLang="zh-CN" sz="1400" dirty="0" err="1"/>
              <a:t>NetEngine</a:t>
            </a:r>
            <a:r>
              <a:rPr lang="en-US" altLang="zh-CN" sz="1400" dirty="0"/>
              <a:t> 8000 X series are large-capacity, highly reliable, and energy-saving routers developed by Huawei to meet the interconnection requirements of the cloud and AI era. The </a:t>
            </a:r>
            <a:r>
              <a:rPr lang="en-US" altLang="zh-CN" sz="1400" dirty="0" err="1"/>
              <a:t>NetEngine</a:t>
            </a:r>
            <a:r>
              <a:rPr lang="en-US" altLang="zh-CN" sz="1400" dirty="0"/>
              <a:t> 8000 X series routers can be deployed in the following positions: PE/P, Metro aggregation, Metro core, DC-GW, and IGW.</a:t>
            </a:r>
            <a:endParaRPr lang="zh-CN" altLang="en-US" sz="1400" dirty="0"/>
          </a:p>
        </p:txBody>
      </p:sp>
      <p:grpSp>
        <p:nvGrpSpPr>
          <p:cNvPr id="22" name="组合 21">
            <a:extLst>
              <a:ext uri="{FF2B5EF4-FFF2-40B4-BE49-F238E27FC236}">
                <a16:creationId xmlns:a16="http://schemas.microsoft.com/office/drawing/2014/main" id="{180201AD-831D-4030-A393-C7609FD2AEE2}"/>
              </a:ext>
            </a:extLst>
          </p:cNvPr>
          <p:cNvGrpSpPr/>
          <p:nvPr/>
        </p:nvGrpSpPr>
        <p:grpSpPr>
          <a:xfrm>
            <a:off x="487485" y="1191289"/>
            <a:ext cx="6346888" cy="3060621"/>
            <a:chOff x="361950" y="6624724"/>
            <a:chExt cx="6328113" cy="2815039"/>
          </a:xfrm>
        </p:grpSpPr>
        <p:sp>
          <p:nvSpPr>
            <p:cNvPr id="23" name="object 20">
              <a:extLst>
                <a:ext uri="{FF2B5EF4-FFF2-40B4-BE49-F238E27FC236}">
                  <a16:creationId xmlns:a16="http://schemas.microsoft.com/office/drawing/2014/main" id="{EF7AF652-28AD-4A2A-A8FC-F62CAC238120}"/>
                </a:ext>
              </a:extLst>
            </p:cNvPr>
            <p:cNvSpPr/>
            <p:nvPr/>
          </p:nvSpPr>
          <p:spPr>
            <a:xfrm>
              <a:off x="361950" y="6624724"/>
              <a:ext cx="6328113" cy="2815039"/>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75AAAE">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24" name="object 20">
              <a:extLst>
                <a:ext uri="{FF2B5EF4-FFF2-40B4-BE49-F238E27FC236}">
                  <a16:creationId xmlns:a16="http://schemas.microsoft.com/office/drawing/2014/main" id="{047323A1-1027-4DF4-A7C9-66A98301F178}"/>
                </a:ext>
              </a:extLst>
            </p:cNvPr>
            <p:cNvSpPr/>
            <p:nvPr/>
          </p:nvSpPr>
          <p:spPr>
            <a:xfrm>
              <a:off x="2896562" y="6742858"/>
              <a:ext cx="632172" cy="375688"/>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25" name="object 20">
              <a:extLst>
                <a:ext uri="{FF2B5EF4-FFF2-40B4-BE49-F238E27FC236}">
                  <a16:creationId xmlns:a16="http://schemas.microsoft.com/office/drawing/2014/main" id="{405B84CC-2CE3-45D9-83CA-7542CF706776}"/>
                </a:ext>
              </a:extLst>
            </p:cNvPr>
            <p:cNvSpPr/>
            <p:nvPr/>
          </p:nvSpPr>
          <p:spPr>
            <a:xfrm>
              <a:off x="1053483" y="7286002"/>
              <a:ext cx="2475251" cy="1066361"/>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26" name="object 20">
              <a:extLst>
                <a:ext uri="{FF2B5EF4-FFF2-40B4-BE49-F238E27FC236}">
                  <a16:creationId xmlns:a16="http://schemas.microsoft.com/office/drawing/2014/main" id="{A8A7081E-F9F5-49E6-8359-EDCE95366021}"/>
                </a:ext>
              </a:extLst>
            </p:cNvPr>
            <p:cNvSpPr/>
            <p:nvPr/>
          </p:nvSpPr>
          <p:spPr>
            <a:xfrm flipH="1">
              <a:off x="3681706" y="7304706"/>
              <a:ext cx="1181940" cy="1043319"/>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27" name="object 20">
              <a:extLst>
                <a:ext uri="{FF2B5EF4-FFF2-40B4-BE49-F238E27FC236}">
                  <a16:creationId xmlns:a16="http://schemas.microsoft.com/office/drawing/2014/main" id="{BFCFCDFA-5F21-4172-84F7-802291F5B001}"/>
                </a:ext>
              </a:extLst>
            </p:cNvPr>
            <p:cNvSpPr/>
            <p:nvPr/>
          </p:nvSpPr>
          <p:spPr>
            <a:xfrm flipH="1">
              <a:off x="4986988" y="7002458"/>
              <a:ext cx="1585273" cy="566331"/>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28" name="object 20">
              <a:extLst>
                <a:ext uri="{FF2B5EF4-FFF2-40B4-BE49-F238E27FC236}">
                  <a16:creationId xmlns:a16="http://schemas.microsoft.com/office/drawing/2014/main" id="{86DFE9F9-5325-4EA4-8963-23C3B069AC56}"/>
                </a:ext>
              </a:extLst>
            </p:cNvPr>
            <p:cNvSpPr/>
            <p:nvPr/>
          </p:nvSpPr>
          <p:spPr>
            <a:xfrm flipH="1">
              <a:off x="4986987" y="7757226"/>
              <a:ext cx="1585273" cy="631452"/>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29" name="object 20">
              <a:extLst>
                <a:ext uri="{FF2B5EF4-FFF2-40B4-BE49-F238E27FC236}">
                  <a16:creationId xmlns:a16="http://schemas.microsoft.com/office/drawing/2014/main" id="{364D2C8E-050F-49F5-95C5-98F2BA81BC2B}"/>
                </a:ext>
              </a:extLst>
            </p:cNvPr>
            <p:cNvSpPr/>
            <p:nvPr/>
          </p:nvSpPr>
          <p:spPr>
            <a:xfrm>
              <a:off x="1053986" y="8540201"/>
              <a:ext cx="1912270" cy="679159"/>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31" name="object 20">
              <a:extLst>
                <a:ext uri="{FF2B5EF4-FFF2-40B4-BE49-F238E27FC236}">
                  <a16:creationId xmlns:a16="http://schemas.microsoft.com/office/drawing/2014/main" id="{45890C96-8E74-40FC-89DE-53D662DCEE03}"/>
                </a:ext>
              </a:extLst>
            </p:cNvPr>
            <p:cNvSpPr/>
            <p:nvPr/>
          </p:nvSpPr>
          <p:spPr>
            <a:xfrm>
              <a:off x="3026215" y="8540201"/>
              <a:ext cx="1850298" cy="679159"/>
            </a:xfrm>
            <a:custGeom>
              <a:avLst/>
              <a:gdLst/>
              <a:ahLst/>
              <a:cxnLst/>
              <a:rect l="l" t="t" r="r" b="b"/>
              <a:pathLst>
                <a:path w="3165475" h="1171575">
                  <a:moveTo>
                    <a:pt x="3165309" y="1171168"/>
                  </a:moveTo>
                  <a:lnTo>
                    <a:pt x="0" y="1171168"/>
                  </a:lnTo>
                  <a:lnTo>
                    <a:pt x="0" y="0"/>
                  </a:lnTo>
                  <a:lnTo>
                    <a:pt x="3165309" y="0"/>
                  </a:lnTo>
                  <a:lnTo>
                    <a:pt x="3165309" y="1171168"/>
                  </a:lnTo>
                  <a:close/>
                </a:path>
              </a:pathLst>
            </a:custGeom>
            <a:solidFill>
              <a:srgbClr val="006E9A">
                <a:alpha val="8000"/>
              </a:srgbClr>
            </a:solidFill>
          </p:spPr>
          <p:txBody>
            <a:bodyPr wrap="square" lIns="0" tIns="0" rIns="0" bIns="0" rtlCol="0"/>
            <a:lstStyle/>
            <a:p>
              <a:endParaRPr dirty="0">
                <a:latin typeface="Huawei Sans" panose="020C0503030203020204" pitchFamily="34" charset="0"/>
                <a:cs typeface="Huawei Sans" panose="020C0503030203020204" pitchFamily="34" charset="0"/>
              </a:endParaRPr>
            </a:p>
          </p:txBody>
        </p:sp>
        <p:sp>
          <p:nvSpPr>
            <p:cNvPr id="32" name="文本框 31">
              <a:extLst>
                <a:ext uri="{FF2B5EF4-FFF2-40B4-BE49-F238E27FC236}">
                  <a16:creationId xmlns:a16="http://schemas.microsoft.com/office/drawing/2014/main" id="{26874B0E-A4F1-480E-9389-B29167EB9A10}"/>
                </a:ext>
              </a:extLst>
            </p:cNvPr>
            <p:cNvSpPr txBox="1"/>
            <p:nvPr/>
          </p:nvSpPr>
          <p:spPr>
            <a:xfrm>
              <a:off x="3681706" y="6810376"/>
              <a:ext cx="703770" cy="215444"/>
            </a:xfrm>
            <a:prstGeom prst="rect">
              <a:avLst/>
            </a:prstGeom>
            <a:noFill/>
          </p:spPr>
          <p:txBody>
            <a:bodyPr wrap="square" rtlCol="0">
              <a:spAutoFit/>
            </a:bodyPr>
            <a:lstStyle/>
            <a:p>
              <a:r>
                <a:rPr lang="en-US" altLang="zh-CN" sz="800" dirty="0">
                  <a:solidFill>
                    <a:schemeClr val="bg1">
                      <a:lumMod val="50000"/>
                    </a:schemeClr>
                  </a:solidFill>
                </a:rPr>
                <a:t>BNG</a:t>
              </a:r>
              <a:endParaRPr lang="zh-CN" altLang="en-US" sz="800" dirty="0">
                <a:solidFill>
                  <a:schemeClr val="bg1">
                    <a:lumMod val="50000"/>
                  </a:schemeClr>
                </a:solidFill>
              </a:endParaRPr>
            </a:p>
          </p:txBody>
        </p:sp>
        <p:sp>
          <p:nvSpPr>
            <p:cNvPr id="33" name="圆柱形 64">
              <a:extLst>
                <a:ext uri="{FF2B5EF4-FFF2-40B4-BE49-F238E27FC236}">
                  <a16:creationId xmlns:a16="http://schemas.microsoft.com/office/drawing/2014/main" id="{4BE0FBDE-5296-4853-AFD4-AE4F1EE0B29A}"/>
                </a:ext>
              </a:extLst>
            </p:cNvPr>
            <p:cNvSpPr/>
            <p:nvPr/>
          </p:nvSpPr>
          <p:spPr>
            <a:xfrm>
              <a:off x="1264345" y="7366778"/>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34" name="圆柱形 65">
              <a:extLst>
                <a:ext uri="{FF2B5EF4-FFF2-40B4-BE49-F238E27FC236}">
                  <a16:creationId xmlns:a16="http://schemas.microsoft.com/office/drawing/2014/main" id="{BEF16F7D-AE50-4A86-8700-EF3D4CBF6A56}"/>
                </a:ext>
              </a:extLst>
            </p:cNvPr>
            <p:cNvSpPr/>
            <p:nvPr/>
          </p:nvSpPr>
          <p:spPr>
            <a:xfrm>
              <a:off x="1264344" y="7717789"/>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35" name="圆柱形 66">
              <a:extLst>
                <a:ext uri="{FF2B5EF4-FFF2-40B4-BE49-F238E27FC236}">
                  <a16:creationId xmlns:a16="http://schemas.microsoft.com/office/drawing/2014/main" id="{9D052E25-CD64-4B92-80D8-1544D1814C65}"/>
                </a:ext>
              </a:extLst>
            </p:cNvPr>
            <p:cNvSpPr/>
            <p:nvPr/>
          </p:nvSpPr>
          <p:spPr>
            <a:xfrm>
              <a:off x="1264343" y="8076360"/>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36" name="圆柱形 67">
              <a:extLst>
                <a:ext uri="{FF2B5EF4-FFF2-40B4-BE49-F238E27FC236}">
                  <a16:creationId xmlns:a16="http://schemas.microsoft.com/office/drawing/2014/main" id="{EDD8F54E-64CB-47E9-871E-8C60D4CB0215}"/>
                </a:ext>
              </a:extLst>
            </p:cNvPr>
            <p:cNvSpPr/>
            <p:nvPr/>
          </p:nvSpPr>
          <p:spPr>
            <a:xfrm>
              <a:off x="3080837" y="6816777"/>
              <a:ext cx="265381" cy="211758"/>
            </a:xfrm>
            <a:prstGeom prst="can">
              <a:avLst/>
            </a:prstGeom>
            <a:solidFill>
              <a:srgbClr val="008DC4"/>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37" name="圆柱形 68">
              <a:extLst>
                <a:ext uri="{FF2B5EF4-FFF2-40B4-BE49-F238E27FC236}">
                  <a16:creationId xmlns:a16="http://schemas.microsoft.com/office/drawing/2014/main" id="{E1322A62-1B4E-409C-9A24-35353020B77E}"/>
                </a:ext>
              </a:extLst>
            </p:cNvPr>
            <p:cNvSpPr/>
            <p:nvPr/>
          </p:nvSpPr>
          <p:spPr>
            <a:xfrm>
              <a:off x="3080837" y="7463922"/>
              <a:ext cx="265381" cy="211758"/>
            </a:xfrm>
            <a:prstGeom prst="can">
              <a:avLst/>
            </a:prstGeom>
            <a:solidFill>
              <a:srgbClr val="008DC4"/>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38" name="圆柱形 69">
              <a:extLst>
                <a:ext uri="{FF2B5EF4-FFF2-40B4-BE49-F238E27FC236}">
                  <a16:creationId xmlns:a16="http://schemas.microsoft.com/office/drawing/2014/main" id="{201D2E5F-4A2B-4D5A-B2D1-5582FFA91498}"/>
                </a:ext>
              </a:extLst>
            </p:cNvPr>
            <p:cNvSpPr/>
            <p:nvPr/>
          </p:nvSpPr>
          <p:spPr>
            <a:xfrm>
              <a:off x="3871983" y="7645011"/>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39" name="圆柱形 70">
              <a:extLst>
                <a:ext uri="{FF2B5EF4-FFF2-40B4-BE49-F238E27FC236}">
                  <a16:creationId xmlns:a16="http://schemas.microsoft.com/office/drawing/2014/main" id="{CE8237F5-CFEB-4A69-87DE-6B3427085F64}"/>
                </a:ext>
              </a:extLst>
            </p:cNvPr>
            <p:cNvSpPr/>
            <p:nvPr/>
          </p:nvSpPr>
          <p:spPr>
            <a:xfrm>
              <a:off x="4507522" y="7651643"/>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40" name="圆柱形 71">
              <a:extLst>
                <a:ext uri="{FF2B5EF4-FFF2-40B4-BE49-F238E27FC236}">
                  <a16:creationId xmlns:a16="http://schemas.microsoft.com/office/drawing/2014/main" id="{73B1903A-3F59-4934-982D-2F5C4FCF377F}"/>
                </a:ext>
              </a:extLst>
            </p:cNvPr>
            <p:cNvSpPr/>
            <p:nvPr/>
          </p:nvSpPr>
          <p:spPr>
            <a:xfrm>
              <a:off x="5089863" y="7260176"/>
              <a:ext cx="265381" cy="211758"/>
            </a:xfrm>
            <a:prstGeom prst="can">
              <a:avLst/>
            </a:prstGeom>
            <a:solidFill>
              <a:srgbClr val="008DC4"/>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41" name="圆柱形 72">
              <a:extLst>
                <a:ext uri="{FF2B5EF4-FFF2-40B4-BE49-F238E27FC236}">
                  <a16:creationId xmlns:a16="http://schemas.microsoft.com/office/drawing/2014/main" id="{E8C98731-6630-47DA-A804-CF5134B8216F}"/>
                </a:ext>
              </a:extLst>
            </p:cNvPr>
            <p:cNvSpPr/>
            <p:nvPr/>
          </p:nvSpPr>
          <p:spPr>
            <a:xfrm>
              <a:off x="5089863" y="7987912"/>
              <a:ext cx="265381" cy="211758"/>
            </a:xfrm>
            <a:prstGeom prst="can">
              <a:avLst/>
            </a:prstGeom>
            <a:solidFill>
              <a:srgbClr val="008DC4"/>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pic>
          <p:nvPicPr>
            <p:cNvPr id="42" name="图形 41">
              <a:extLst>
                <a:ext uri="{FF2B5EF4-FFF2-40B4-BE49-F238E27FC236}">
                  <a16:creationId xmlns:a16="http://schemas.microsoft.com/office/drawing/2014/main" id="{65EDA3E1-B81C-423D-900F-2F3E07DE5C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23567" y="7061956"/>
              <a:ext cx="632172" cy="410057"/>
            </a:xfrm>
            <a:prstGeom prst="rect">
              <a:avLst/>
            </a:prstGeom>
          </p:spPr>
        </p:pic>
        <p:pic>
          <p:nvPicPr>
            <p:cNvPr id="43" name="图形 42">
              <a:extLst>
                <a:ext uri="{FF2B5EF4-FFF2-40B4-BE49-F238E27FC236}">
                  <a16:creationId xmlns:a16="http://schemas.microsoft.com/office/drawing/2014/main" id="{DF412F5F-C81F-4D01-A060-06BEBBDB0C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4376" y="7798773"/>
              <a:ext cx="632172" cy="410057"/>
            </a:xfrm>
            <a:prstGeom prst="rect">
              <a:avLst/>
            </a:prstGeom>
          </p:spPr>
        </p:pic>
        <p:sp>
          <p:nvSpPr>
            <p:cNvPr id="44" name="圆柱形 75">
              <a:extLst>
                <a:ext uri="{FF2B5EF4-FFF2-40B4-BE49-F238E27FC236}">
                  <a16:creationId xmlns:a16="http://schemas.microsoft.com/office/drawing/2014/main" id="{287DE631-BFD0-4C23-896E-3C293A0E7426}"/>
                </a:ext>
              </a:extLst>
            </p:cNvPr>
            <p:cNvSpPr/>
            <p:nvPr/>
          </p:nvSpPr>
          <p:spPr>
            <a:xfrm>
              <a:off x="3080837" y="8902171"/>
              <a:ext cx="265381" cy="211758"/>
            </a:xfrm>
            <a:prstGeom prst="can">
              <a:avLst/>
            </a:prstGeom>
            <a:solidFill>
              <a:srgbClr val="008DC4"/>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pic>
          <p:nvPicPr>
            <p:cNvPr id="46" name="图形 45">
              <a:extLst>
                <a:ext uri="{FF2B5EF4-FFF2-40B4-BE49-F238E27FC236}">
                  <a16:creationId xmlns:a16="http://schemas.microsoft.com/office/drawing/2014/main" id="{2A8EE3D4-45BE-4BB9-964A-1065AA8A3F0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11105" y="8784815"/>
              <a:ext cx="461798" cy="299544"/>
            </a:xfrm>
            <a:prstGeom prst="rect">
              <a:avLst/>
            </a:prstGeom>
          </p:spPr>
        </p:pic>
        <p:sp>
          <p:nvSpPr>
            <p:cNvPr id="47" name="圆柱形 77">
              <a:extLst>
                <a:ext uri="{FF2B5EF4-FFF2-40B4-BE49-F238E27FC236}">
                  <a16:creationId xmlns:a16="http://schemas.microsoft.com/office/drawing/2014/main" id="{A25A308C-9ACD-4063-BD14-28FEF912D6FB}"/>
                </a:ext>
              </a:extLst>
            </p:cNvPr>
            <p:cNvSpPr/>
            <p:nvPr/>
          </p:nvSpPr>
          <p:spPr>
            <a:xfrm>
              <a:off x="5737040" y="7987912"/>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48" name="文本框 47">
              <a:extLst>
                <a:ext uri="{FF2B5EF4-FFF2-40B4-BE49-F238E27FC236}">
                  <a16:creationId xmlns:a16="http://schemas.microsoft.com/office/drawing/2014/main" id="{68C03FE3-6878-4BDA-87A1-E784FE4E125D}"/>
                </a:ext>
              </a:extLst>
            </p:cNvPr>
            <p:cNvSpPr txBox="1"/>
            <p:nvPr/>
          </p:nvSpPr>
          <p:spPr>
            <a:xfrm>
              <a:off x="2047133" y="7284819"/>
              <a:ext cx="448330" cy="215444"/>
            </a:xfrm>
            <a:prstGeom prst="rect">
              <a:avLst/>
            </a:prstGeom>
            <a:noFill/>
          </p:spPr>
          <p:txBody>
            <a:bodyPr wrap="square" rtlCol="0">
              <a:spAutoFit/>
            </a:bodyPr>
            <a:lstStyle/>
            <a:p>
              <a:r>
                <a:rPr lang="en-US" altLang="zh-CN" sz="800" dirty="0">
                  <a:solidFill>
                    <a:schemeClr val="bg1">
                      <a:lumMod val="50000"/>
                    </a:schemeClr>
                  </a:solidFill>
                </a:rPr>
                <a:t>Metro</a:t>
              </a:r>
              <a:endParaRPr lang="zh-CN" altLang="en-US" sz="800" dirty="0">
                <a:solidFill>
                  <a:schemeClr val="bg1">
                    <a:lumMod val="50000"/>
                  </a:schemeClr>
                </a:solidFill>
              </a:endParaRPr>
            </a:p>
          </p:txBody>
        </p:sp>
        <p:sp>
          <p:nvSpPr>
            <p:cNvPr id="49" name="文本框 48">
              <a:extLst>
                <a:ext uri="{FF2B5EF4-FFF2-40B4-BE49-F238E27FC236}">
                  <a16:creationId xmlns:a16="http://schemas.microsoft.com/office/drawing/2014/main" id="{1CE30261-9B67-4E5C-B02B-8182DC8537E8}"/>
                </a:ext>
              </a:extLst>
            </p:cNvPr>
            <p:cNvSpPr txBox="1"/>
            <p:nvPr/>
          </p:nvSpPr>
          <p:spPr>
            <a:xfrm>
              <a:off x="2851396" y="7651643"/>
              <a:ext cx="827438" cy="215444"/>
            </a:xfrm>
            <a:prstGeom prst="rect">
              <a:avLst/>
            </a:prstGeom>
            <a:noFill/>
          </p:spPr>
          <p:txBody>
            <a:bodyPr wrap="square" rtlCol="0">
              <a:spAutoFit/>
            </a:bodyPr>
            <a:lstStyle/>
            <a:p>
              <a:r>
                <a:rPr lang="en-US" altLang="zh-CN" sz="800" dirty="0">
                  <a:solidFill>
                    <a:schemeClr val="bg1">
                      <a:lumMod val="50000"/>
                    </a:schemeClr>
                  </a:solidFill>
                </a:rPr>
                <a:t>Metro Fabric</a:t>
              </a:r>
              <a:endParaRPr lang="zh-CN" altLang="en-US" sz="800" dirty="0">
                <a:solidFill>
                  <a:schemeClr val="bg1">
                    <a:lumMod val="50000"/>
                  </a:schemeClr>
                </a:solidFill>
              </a:endParaRPr>
            </a:p>
          </p:txBody>
        </p:sp>
        <p:sp>
          <p:nvSpPr>
            <p:cNvPr id="50" name="文本框 49">
              <a:extLst>
                <a:ext uri="{FF2B5EF4-FFF2-40B4-BE49-F238E27FC236}">
                  <a16:creationId xmlns:a16="http://schemas.microsoft.com/office/drawing/2014/main" id="{B886C1AC-7F77-48D7-8745-204215DE6AFF}"/>
                </a:ext>
              </a:extLst>
            </p:cNvPr>
            <p:cNvSpPr txBox="1"/>
            <p:nvPr/>
          </p:nvSpPr>
          <p:spPr>
            <a:xfrm>
              <a:off x="4033591" y="7284819"/>
              <a:ext cx="522872" cy="215444"/>
            </a:xfrm>
            <a:prstGeom prst="rect">
              <a:avLst/>
            </a:prstGeom>
            <a:noFill/>
          </p:spPr>
          <p:txBody>
            <a:bodyPr wrap="square" rtlCol="0">
              <a:spAutoFit/>
            </a:bodyPr>
            <a:lstStyle/>
            <a:p>
              <a:r>
                <a:rPr lang="en-US" altLang="zh-CN" sz="800" dirty="0">
                  <a:solidFill>
                    <a:schemeClr val="bg1">
                      <a:lumMod val="50000"/>
                    </a:schemeClr>
                  </a:solidFill>
                </a:rPr>
                <a:t>IP Core</a:t>
              </a:r>
              <a:endParaRPr lang="zh-CN" altLang="en-US" sz="800" dirty="0">
                <a:solidFill>
                  <a:schemeClr val="bg1">
                    <a:lumMod val="50000"/>
                  </a:schemeClr>
                </a:solidFill>
              </a:endParaRPr>
            </a:p>
          </p:txBody>
        </p:sp>
        <p:sp>
          <p:nvSpPr>
            <p:cNvPr id="51" name="文本框 50">
              <a:extLst>
                <a:ext uri="{FF2B5EF4-FFF2-40B4-BE49-F238E27FC236}">
                  <a16:creationId xmlns:a16="http://schemas.microsoft.com/office/drawing/2014/main" id="{3CDBFA12-C804-4A3D-AC45-A8C576DA204A}"/>
                </a:ext>
              </a:extLst>
            </p:cNvPr>
            <p:cNvSpPr txBox="1"/>
            <p:nvPr/>
          </p:nvSpPr>
          <p:spPr>
            <a:xfrm>
              <a:off x="3797388" y="7845916"/>
              <a:ext cx="488003" cy="215444"/>
            </a:xfrm>
            <a:prstGeom prst="rect">
              <a:avLst/>
            </a:prstGeom>
            <a:noFill/>
          </p:spPr>
          <p:txBody>
            <a:bodyPr wrap="square" rtlCol="0">
              <a:spAutoFit/>
            </a:bodyPr>
            <a:lstStyle/>
            <a:p>
              <a:r>
                <a:rPr lang="en-US" altLang="zh-CN" sz="800" dirty="0">
                  <a:solidFill>
                    <a:schemeClr val="bg1">
                      <a:lumMod val="50000"/>
                    </a:schemeClr>
                  </a:solidFill>
                </a:rPr>
                <a:t>P&amp;PE</a:t>
              </a:r>
              <a:endParaRPr lang="zh-CN" altLang="en-US" sz="800" dirty="0">
                <a:solidFill>
                  <a:schemeClr val="bg1">
                    <a:lumMod val="50000"/>
                  </a:schemeClr>
                </a:solidFill>
              </a:endParaRPr>
            </a:p>
          </p:txBody>
        </p:sp>
        <p:sp>
          <p:nvSpPr>
            <p:cNvPr id="52" name="文本框 51">
              <a:extLst>
                <a:ext uri="{FF2B5EF4-FFF2-40B4-BE49-F238E27FC236}">
                  <a16:creationId xmlns:a16="http://schemas.microsoft.com/office/drawing/2014/main" id="{C1B631BD-0B2F-494E-905A-37BE26A3D487}"/>
                </a:ext>
              </a:extLst>
            </p:cNvPr>
            <p:cNvSpPr txBox="1"/>
            <p:nvPr/>
          </p:nvSpPr>
          <p:spPr>
            <a:xfrm>
              <a:off x="4449745" y="7845916"/>
              <a:ext cx="488496" cy="215444"/>
            </a:xfrm>
            <a:prstGeom prst="rect">
              <a:avLst/>
            </a:prstGeom>
            <a:noFill/>
          </p:spPr>
          <p:txBody>
            <a:bodyPr wrap="square" rtlCol="0">
              <a:spAutoFit/>
            </a:bodyPr>
            <a:lstStyle/>
            <a:p>
              <a:r>
                <a:rPr lang="en-US" altLang="zh-CN" sz="800" dirty="0">
                  <a:solidFill>
                    <a:schemeClr val="bg1">
                      <a:lumMod val="50000"/>
                    </a:schemeClr>
                  </a:solidFill>
                </a:rPr>
                <a:t>P&amp;PE</a:t>
              </a:r>
              <a:endParaRPr lang="zh-CN" altLang="en-US" sz="800" dirty="0">
                <a:solidFill>
                  <a:schemeClr val="bg1">
                    <a:lumMod val="50000"/>
                  </a:schemeClr>
                </a:solidFill>
              </a:endParaRPr>
            </a:p>
          </p:txBody>
        </p:sp>
        <p:sp>
          <p:nvSpPr>
            <p:cNvPr id="53" name="文本框 52">
              <a:extLst>
                <a:ext uri="{FF2B5EF4-FFF2-40B4-BE49-F238E27FC236}">
                  <a16:creationId xmlns:a16="http://schemas.microsoft.com/office/drawing/2014/main" id="{9CBA04ED-9AE1-4088-A4A7-DAB10C04943E}"/>
                </a:ext>
              </a:extLst>
            </p:cNvPr>
            <p:cNvSpPr txBox="1"/>
            <p:nvPr/>
          </p:nvSpPr>
          <p:spPr>
            <a:xfrm>
              <a:off x="4972812" y="7087800"/>
              <a:ext cx="575526" cy="215444"/>
            </a:xfrm>
            <a:prstGeom prst="rect">
              <a:avLst/>
            </a:prstGeom>
            <a:noFill/>
          </p:spPr>
          <p:txBody>
            <a:bodyPr wrap="square" rtlCol="0">
              <a:spAutoFit/>
            </a:bodyPr>
            <a:lstStyle/>
            <a:p>
              <a:r>
                <a:rPr lang="en-US" altLang="zh-CN" sz="800" dirty="0">
                  <a:solidFill>
                    <a:schemeClr val="bg1">
                      <a:lumMod val="50000"/>
                    </a:schemeClr>
                  </a:solidFill>
                </a:rPr>
                <a:t>PE&amp;IGW</a:t>
              </a:r>
              <a:endParaRPr lang="zh-CN" altLang="en-US" sz="800" dirty="0">
                <a:solidFill>
                  <a:schemeClr val="bg1">
                    <a:lumMod val="50000"/>
                  </a:schemeClr>
                </a:solidFill>
              </a:endParaRPr>
            </a:p>
          </p:txBody>
        </p:sp>
        <p:sp>
          <p:nvSpPr>
            <p:cNvPr id="54" name="文本框 53">
              <a:extLst>
                <a:ext uri="{FF2B5EF4-FFF2-40B4-BE49-F238E27FC236}">
                  <a16:creationId xmlns:a16="http://schemas.microsoft.com/office/drawing/2014/main" id="{803A8F85-C069-400E-A903-67A81A96224D}"/>
                </a:ext>
              </a:extLst>
            </p:cNvPr>
            <p:cNvSpPr txBox="1"/>
            <p:nvPr/>
          </p:nvSpPr>
          <p:spPr>
            <a:xfrm>
              <a:off x="5254217" y="7595832"/>
              <a:ext cx="426766" cy="215444"/>
            </a:xfrm>
            <a:prstGeom prst="rect">
              <a:avLst/>
            </a:prstGeom>
            <a:noFill/>
          </p:spPr>
          <p:txBody>
            <a:bodyPr wrap="square" rtlCol="0">
              <a:spAutoFit/>
            </a:bodyPr>
            <a:lstStyle/>
            <a:p>
              <a:r>
                <a:rPr lang="en-US" altLang="zh-CN" sz="800" dirty="0">
                  <a:solidFill>
                    <a:schemeClr val="bg1">
                      <a:lumMod val="50000"/>
                    </a:schemeClr>
                  </a:solidFill>
                </a:rPr>
                <a:t>IGW</a:t>
              </a:r>
              <a:endParaRPr lang="zh-CN" altLang="en-US" sz="800" dirty="0">
                <a:solidFill>
                  <a:schemeClr val="bg1">
                    <a:lumMod val="50000"/>
                  </a:schemeClr>
                </a:solidFill>
              </a:endParaRPr>
            </a:p>
          </p:txBody>
        </p:sp>
        <p:sp>
          <p:nvSpPr>
            <p:cNvPr id="55" name="文本框 54">
              <a:extLst>
                <a:ext uri="{FF2B5EF4-FFF2-40B4-BE49-F238E27FC236}">
                  <a16:creationId xmlns:a16="http://schemas.microsoft.com/office/drawing/2014/main" id="{81D28D1B-E356-4410-BF20-ADD96F55C7BA}"/>
                </a:ext>
              </a:extLst>
            </p:cNvPr>
            <p:cNvSpPr txBox="1"/>
            <p:nvPr/>
          </p:nvSpPr>
          <p:spPr>
            <a:xfrm>
              <a:off x="4972812" y="8191602"/>
              <a:ext cx="575526" cy="215444"/>
            </a:xfrm>
            <a:prstGeom prst="rect">
              <a:avLst/>
            </a:prstGeom>
            <a:noFill/>
          </p:spPr>
          <p:txBody>
            <a:bodyPr wrap="square" rtlCol="0">
              <a:spAutoFit/>
            </a:bodyPr>
            <a:lstStyle/>
            <a:p>
              <a:r>
                <a:rPr lang="en-US" altLang="zh-CN" sz="800" dirty="0">
                  <a:solidFill>
                    <a:schemeClr val="bg1">
                      <a:lumMod val="50000"/>
                    </a:schemeClr>
                  </a:solidFill>
                </a:rPr>
                <a:t>PE&amp;IGW</a:t>
              </a:r>
              <a:endParaRPr lang="zh-CN" altLang="en-US" sz="800" dirty="0">
                <a:solidFill>
                  <a:schemeClr val="bg1">
                    <a:lumMod val="50000"/>
                  </a:schemeClr>
                </a:solidFill>
              </a:endParaRPr>
            </a:p>
          </p:txBody>
        </p:sp>
        <p:sp>
          <p:nvSpPr>
            <p:cNvPr id="56" name="文本框 55">
              <a:extLst>
                <a:ext uri="{FF2B5EF4-FFF2-40B4-BE49-F238E27FC236}">
                  <a16:creationId xmlns:a16="http://schemas.microsoft.com/office/drawing/2014/main" id="{85A2E015-BEB7-4189-9273-2531123A83C4}"/>
                </a:ext>
              </a:extLst>
            </p:cNvPr>
            <p:cNvSpPr txBox="1"/>
            <p:nvPr/>
          </p:nvSpPr>
          <p:spPr>
            <a:xfrm>
              <a:off x="5851890" y="7222927"/>
              <a:ext cx="575526" cy="215444"/>
            </a:xfrm>
            <a:prstGeom prst="rect">
              <a:avLst/>
            </a:prstGeom>
            <a:noFill/>
          </p:spPr>
          <p:txBody>
            <a:bodyPr wrap="square" rtlCol="0">
              <a:spAutoFit/>
            </a:bodyPr>
            <a:lstStyle/>
            <a:p>
              <a:r>
                <a:rPr lang="en-US" altLang="zh-CN" sz="800" dirty="0">
                  <a:solidFill>
                    <a:schemeClr val="bg1"/>
                  </a:solidFill>
                </a:rPr>
                <a:t>Internet</a:t>
              </a:r>
              <a:endParaRPr lang="zh-CN" altLang="en-US" sz="800" dirty="0">
                <a:solidFill>
                  <a:schemeClr val="bg1"/>
                </a:solidFill>
              </a:endParaRPr>
            </a:p>
          </p:txBody>
        </p:sp>
        <p:sp>
          <p:nvSpPr>
            <p:cNvPr id="57" name="文本框 56">
              <a:extLst>
                <a:ext uri="{FF2B5EF4-FFF2-40B4-BE49-F238E27FC236}">
                  <a16:creationId xmlns:a16="http://schemas.microsoft.com/office/drawing/2014/main" id="{C9F83956-1EFE-4CE2-A250-E185EB7B4190}"/>
                </a:ext>
              </a:extLst>
            </p:cNvPr>
            <p:cNvSpPr txBox="1"/>
            <p:nvPr/>
          </p:nvSpPr>
          <p:spPr>
            <a:xfrm>
              <a:off x="5919065" y="7861116"/>
              <a:ext cx="575526" cy="338554"/>
            </a:xfrm>
            <a:prstGeom prst="rect">
              <a:avLst/>
            </a:prstGeom>
            <a:noFill/>
          </p:spPr>
          <p:txBody>
            <a:bodyPr wrap="square" rtlCol="0">
              <a:spAutoFit/>
            </a:bodyPr>
            <a:lstStyle/>
            <a:p>
              <a:pPr algn="ctr"/>
              <a:r>
                <a:rPr lang="en-US" altLang="zh-CN" sz="800" dirty="0">
                  <a:solidFill>
                    <a:schemeClr val="bg1"/>
                  </a:solidFill>
                </a:rPr>
                <a:t>IXP</a:t>
              </a:r>
            </a:p>
            <a:p>
              <a:pPr algn="ctr"/>
              <a:r>
                <a:rPr lang="en-US" altLang="zh-CN" sz="800" dirty="0">
                  <a:solidFill>
                    <a:schemeClr val="bg1"/>
                  </a:solidFill>
                </a:rPr>
                <a:t>Public</a:t>
              </a:r>
              <a:endParaRPr lang="zh-CN" altLang="en-US" sz="800" dirty="0">
                <a:solidFill>
                  <a:schemeClr val="bg1"/>
                </a:solidFill>
              </a:endParaRPr>
            </a:p>
          </p:txBody>
        </p:sp>
        <p:sp>
          <p:nvSpPr>
            <p:cNvPr id="58" name="文本框 57">
              <a:extLst>
                <a:ext uri="{FF2B5EF4-FFF2-40B4-BE49-F238E27FC236}">
                  <a16:creationId xmlns:a16="http://schemas.microsoft.com/office/drawing/2014/main" id="{5DD6BD7E-82DE-47C4-9B55-A209359B5127}"/>
                </a:ext>
              </a:extLst>
            </p:cNvPr>
            <p:cNvSpPr txBox="1"/>
            <p:nvPr/>
          </p:nvSpPr>
          <p:spPr>
            <a:xfrm>
              <a:off x="3896480" y="8081352"/>
              <a:ext cx="469370" cy="213957"/>
            </a:xfrm>
            <a:prstGeom prst="rect">
              <a:avLst/>
            </a:prstGeom>
            <a:noFill/>
          </p:spPr>
          <p:txBody>
            <a:bodyPr wrap="square" rtlCol="0">
              <a:spAutoFit/>
            </a:bodyPr>
            <a:lstStyle/>
            <a:p>
              <a:r>
                <a:rPr lang="en-US" altLang="zh-CN" sz="800" dirty="0">
                  <a:solidFill>
                    <a:schemeClr val="bg1">
                      <a:lumMod val="50000"/>
                    </a:schemeClr>
                  </a:solidFill>
                </a:rPr>
                <a:t>P&amp;PE</a:t>
              </a:r>
              <a:endParaRPr lang="zh-CN" altLang="en-US" sz="800" dirty="0">
                <a:solidFill>
                  <a:schemeClr val="bg1">
                    <a:lumMod val="50000"/>
                  </a:schemeClr>
                </a:solidFill>
              </a:endParaRPr>
            </a:p>
          </p:txBody>
        </p:sp>
        <p:sp>
          <p:nvSpPr>
            <p:cNvPr id="59" name="文本框 58">
              <a:extLst>
                <a:ext uri="{FF2B5EF4-FFF2-40B4-BE49-F238E27FC236}">
                  <a16:creationId xmlns:a16="http://schemas.microsoft.com/office/drawing/2014/main" id="{26B1AE7F-B66F-44B2-BE81-E17B27FEBEF1}"/>
                </a:ext>
              </a:extLst>
            </p:cNvPr>
            <p:cNvSpPr txBox="1"/>
            <p:nvPr/>
          </p:nvSpPr>
          <p:spPr>
            <a:xfrm>
              <a:off x="3481314" y="8609760"/>
              <a:ext cx="703770" cy="215444"/>
            </a:xfrm>
            <a:prstGeom prst="rect">
              <a:avLst/>
            </a:prstGeom>
            <a:noFill/>
          </p:spPr>
          <p:txBody>
            <a:bodyPr wrap="square" rtlCol="0">
              <a:spAutoFit/>
            </a:bodyPr>
            <a:lstStyle/>
            <a:p>
              <a:r>
                <a:rPr lang="en-US" altLang="zh-CN" sz="800" dirty="0">
                  <a:solidFill>
                    <a:schemeClr val="bg1">
                      <a:lumMod val="50000"/>
                    </a:schemeClr>
                  </a:solidFill>
                </a:rPr>
                <a:t>Telco Cloud</a:t>
              </a:r>
              <a:endParaRPr lang="zh-CN" altLang="en-US" sz="800" dirty="0">
                <a:solidFill>
                  <a:schemeClr val="bg1">
                    <a:lumMod val="50000"/>
                  </a:schemeClr>
                </a:solidFill>
              </a:endParaRPr>
            </a:p>
          </p:txBody>
        </p:sp>
        <p:sp>
          <p:nvSpPr>
            <p:cNvPr id="60" name="椭圆 59">
              <a:extLst>
                <a:ext uri="{FF2B5EF4-FFF2-40B4-BE49-F238E27FC236}">
                  <a16:creationId xmlns:a16="http://schemas.microsoft.com/office/drawing/2014/main" id="{29ABD05F-959C-48C2-9BB1-4A7C35AE4C20}"/>
                </a:ext>
              </a:extLst>
            </p:cNvPr>
            <p:cNvSpPr/>
            <p:nvPr/>
          </p:nvSpPr>
          <p:spPr>
            <a:xfrm>
              <a:off x="1433951" y="8918018"/>
              <a:ext cx="874019" cy="122686"/>
            </a:xfrm>
            <a:prstGeom prst="ellipse">
              <a:avLst/>
            </a:prstGeom>
            <a:no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柱形 91">
              <a:extLst>
                <a:ext uri="{FF2B5EF4-FFF2-40B4-BE49-F238E27FC236}">
                  <a16:creationId xmlns:a16="http://schemas.microsoft.com/office/drawing/2014/main" id="{8F43EA5F-E62B-4EDB-8B4C-8A9AD603A0DE}"/>
                </a:ext>
              </a:extLst>
            </p:cNvPr>
            <p:cNvSpPr/>
            <p:nvPr/>
          </p:nvSpPr>
          <p:spPr>
            <a:xfrm>
              <a:off x="1246457" y="8872712"/>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62" name="椭圆 61">
              <a:extLst>
                <a:ext uri="{FF2B5EF4-FFF2-40B4-BE49-F238E27FC236}">
                  <a16:creationId xmlns:a16="http://schemas.microsoft.com/office/drawing/2014/main" id="{E8693247-6AF0-4738-8B8F-027231DCEEAD}"/>
                </a:ext>
              </a:extLst>
            </p:cNvPr>
            <p:cNvSpPr/>
            <p:nvPr/>
          </p:nvSpPr>
          <p:spPr>
            <a:xfrm rot="18457332">
              <a:off x="2237183" y="8387616"/>
              <a:ext cx="1155730" cy="175036"/>
            </a:xfrm>
            <a:prstGeom prst="ellipse">
              <a:avLst/>
            </a:prstGeom>
            <a:no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柱形 93">
              <a:extLst>
                <a:ext uri="{FF2B5EF4-FFF2-40B4-BE49-F238E27FC236}">
                  <a16:creationId xmlns:a16="http://schemas.microsoft.com/office/drawing/2014/main" id="{463FF934-587C-4053-917A-2D4AB3A21AB6}"/>
                </a:ext>
              </a:extLst>
            </p:cNvPr>
            <p:cNvSpPr/>
            <p:nvPr/>
          </p:nvSpPr>
          <p:spPr>
            <a:xfrm>
              <a:off x="3080837" y="7847760"/>
              <a:ext cx="265381" cy="211758"/>
            </a:xfrm>
            <a:prstGeom prst="can">
              <a:avLst/>
            </a:prstGeom>
            <a:solidFill>
              <a:srgbClr val="008DC4"/>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sp>
          <p:nvSpPr>
            <p:cNvPr id="64" name="圆柱形 94">
              <a:extLst>
                <a:ext uri="{FF2B5EF4-FFF2-40B4-BE49-F238E27FC236}">
                  <a16:creationId xmlns:a16="http://schemas.microsoft.com/office/drawing/2014/main" id="{B966140A-DBEC-4FBE-A5EC-0FBB92BD7F07}"/>
                </a:ext>
              </a:extLst>
            </p:cNvPr>
            <p:cNvSpPr/>
            <p:nvPr/>
          </p:nvSpPr>
          <p:spPr>
            <a:xfrm>
              <a:off x="2230082" y="8872712"/>
              <a:ext cx="265381" cy="211758"/>
            </a:xfrm>
            <a:prstGeom prst="can">
              <a:avLst/>
            </a:prstGeom>
            <a:solidFill>
              <a:schemeClr val="tx1">
                <a:lumMod val="65000"/>
                <a:lumOff val="3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   </a:t>
              </a:r>
              <a:endParaRPr lang="zh-CN" altLang="en-US" dirty="0"/>
            </a:p>
          </p:txBody>
        </p:sp>
        <p:cxnSp>
          <p:nvCxnSpPr>
            <p:cNvPr id="65" name="直接连接符 64">
              <a:extLst>
                <a:ext uri="{FF2B5EF4-FFF2-40B4-BE49-F238E27FC236}">
                  <a16:creationId xmlns:a16="http://schemas.microsoft.com/office/drawing/2014/main" id="{525F8BAD-FC92-452A-85F4-0E04996D4340}"/>
                </a:ext>
              </a:extLst>
            </p:cNvPr>
            <p:cNvCxnSpPr>
              <a:endCxn id="44" idx="1"/>
            </p:cNvCxnSpPr>
            <p:nvPr/>
          </p:nvCxnSpPr>
          <p:spPr>
            <a:xfrm flipH="1">
              <a:off x="3213528" y="8059518"/>
              <a:ext cx="3085" cy="8426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D2D46B6-10C9-484A-B7B5-DAB302E2CBE9}"/>
                </a:ext>
              </a:extLst>
            </p:cNvPr>
            <p:cNvCxnSpPr>
              <a:cxnSpLocks/>
              <a:endCxn id="44" idx="4"/>
            </p:cNvCxnSpPr>
            <p:nvPr/>
          </p:nvCxnSpPr>
          <p:spPr>
            <a:xfrm flipH="1">
              <a:off x="3346218" y="8986260"/>
              <a:ext cx="961998" cy="2179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F1BB0778-BA36-4CA6-904E-14B8829540B3}"/>
                </a:ext>
              </a:extLst>
            </p:cNvPr>
            <p:cNvCxnSpPr>
              <a:cxnSpLocks/>
              <a:stCxn id="63" idx="2"/>
            </p:cNvCxnSpPr>
            <p:nvPr/>
          </p:nvCxnSpPr>
          <p:spPr>
            <a:xfrm flipH="1">
              <a:off x="1529725" y="7953639"/>
              <a:ext cx="1551112" cy="2379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24C79B44-9FA6-4002-82ED-DB06C490A132}"/>
                </a:ext>
              </a:extLst>
            </p:cNvPr>
            <p:cNvCxnSpPr>
              <a:cxnSpLocks/>
              <a:stCxn id="63" idx="2"/>
              <a:endCxn id="34" idx="4"/>
            </p:cNvCxnSpPr>
            <p:nvPr/>
          </p:nvCxnSpPr>
          <p:spPr>
            <a:xfrm flipH="1" flipV="1">
              <a:off x="1529725" y="7823668"/>
              <a:ext cx="1551112" cy="12997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EF3DC813-B565-4977-97A6-CCE431E24F5F}"/>
                </a:ext>
              </a:extLst>
            </p:cNvPr>
            <p:cNvCxnSpPr>
              <a:cxnSpLocks/>
            </p:cNvCxnSpPr>
            <p:nvPr/>
          </p:nvCxnSpPr>
          <p:spPr>
            <a:xfrm flipH="1" flipV="1">
              <a:off x="1529725" y="7475036"/>
              <a:ext cx="1545908" cy="47345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F8A17EF5-71C1-4EBE-AD01-5D76C5337386}"/>
                </a:ext>
              </a:extLst>
            </p:cNvPr>
            <p:cNvCxnSpPr>
              <a:cxnSpLocks/>
              <a:stCxn id="37" idx="2"/>
              <a:endCxn id="34" idx="4"/>
            </p:cNvCxnSpPr>
            <p:nvPr/>
          </p:nvCxnSpPr>
          <p:spPr>
            <a:xfrm flipH="1">
              <a:off x="1529725" y="7569801"/>
              <a:ext cx="1551112" cy="2538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C5AD631C-0E55-4055-9057-B4867AF07479}"/>
                </a:ext>
              </a:extLst>
            </p:cNvPr>
            <p:cNvCxnSpPr>
              <a:cxnSpLocks/>
              <a:endCxn id="35" idx="4"/>
            </p:cNvCxnSpPr>
            <p:nvPr/>
          </p:nvCxnSpPr>
          <p:spPr>
            <a:xfrm flipH="1">
              <a:off x="1529724" y="7570976"/>
              <a:ext cx="1543493" cy="6112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CB39D2AE-CC0B-4299-9E05-F7E18EA9BEBA}"/>
                </a:ext>
              </a:extLst>
            </p:cNvPr>
            <p:cNvCxnSpPr>
              <a:cxnSpLocks/>
              <a:stCxn id="37" idx="2"/>
              <a:endCxn id="33" idx="4"/>
            </p:cNvCxnSpPr>
            <p:nvPr/>
          </p:nvCxnSpPr>
          <p:spPr>
            <a:xfrm flipH="1" flipV="1">
              <a:off x="1529726" y="7472657"/>
              <a:ext cx="1551111" cy="9714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019DD66-5406-40F5-9992-D4F8BC285095}"/>
                </a:ext>
              </a:extLst>
            </p:cNvPr>
            <p:cNvCxnSpPr>
              <a:cxnSpLocks/>
            </p:cNvCxnSpPr>
            <p:nvPr/>
          </p:nvCxnSpPr>
          <p:spPr>
            <a:xfrm flipV="1">
              <a:off x="3225064" y="7034689"/>
              <a:ext cx="0" cy="42452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5AD73D34-7EA5-4F94-9FAF-66EF04D9007E}"/>
                </a:ext>
              </a:extLst>
            </p:cNvPr>
            <p:cNvCxnSpPr>
              <a:cxnSpLocks/>
              <a:stCxn id="37" idx="4"/>
              <a:endCxn id="38" idx="2"/>
            </p:cNvCxnSpPr>
            <p:nvPr/>
          </p:nvCxnSpPr>
          <p:spPr>
            <a:xfrm>
              <a:off x="3346218" y="7569801"/>
              <a:ext cx="525765" cy="18108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4B98404-1644-40C5-A308-3346706D8028}"/>
                </a:ext>
              </a:extLst>
            </p:cNvPr>
            <p:cNvCxnSpPr>
              <a:cxnSpLocks/>
              <a:stCxn id="63" idx="4"/>
              <a:endCxn id="38" idx="2"/>
            </p:cNvCxnSpPr>
            <p:nvPr/>
          </p:nvCxnSpPr>
          <p:spPr>
            <a:xfrm flipV="1">
              <a:off x="3346218" y="7750890"/>
              <a:ext cx="525765" cy="20274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AC17C7B-EB59-4E7D-B737-62E30AF84DE6}"/>
                </a:ext>
              </a:extLst>
            </p:cNvPr>
            <p:cNvCxnSpPr>
              <a:cxnSpLocks/>
              <a:stCxn id="39" idx="2"/>
              <a:endCxn id="38" idx="4"/>
            </p:cNvCxnSpPr>
            <p:nvPr/>
          </p:nvCxnSpPr>
          <p:spPr>
            <a:xfrm flipH="1" flipV="1">
              <a:off x="4137364" y="7750890"/>
              <a:ext cx="370158" cy="663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E225A065-2680-4AEF-B654-AC4B59AC119C}"/>
                </a:ext>
              </a:extLst>
            </p:cNvPr>
            <p:cNvCxnSpPr>
              <a:cxnSpLocks/>
              <a:stCxn id="40" idx="2"/>
              <a:endCxn id="39" idx="4"/>
            </p:cNvCxnSpPr>
            <p:nvPr/>
          </p:nvCxnSpPr>
          <p:spPr>
            <a:xfrm flipH="1">
              <a:off x="4772903" y="7366055"/>
              <a:ext cx="316960" cy="3914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33B1C499-D18E-403C-961D-5D78E4BCCF26}"/>
                </a:ext>
              </a:extLst>
            </p:cNvPr>
            <p:cNvCxnSpPr>
              <a:cxnSpLocks/>
              <a:stCxn id="41" idx="2"/>
              <a:endCxn id="39" idx="4"/>
            </p:cNvCxnSpPr>
            <p:nvPr/>
          </p:nvCxnSpPr>
          <p:spPr>
            <a:xfrm flipH="1" flipV="1">
              <a:off x="4772903" y="7757522"/>
              <a:ext cx="316960" cy="33626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314E1F22-8040-494A-894D-42BB4D1163DB}"/>
                </a:ext>
              </a:extLst>
            </p:cNvPr>
            <p:cNvCxnSpPr>
              <a:cxnSpLocks/>
              <a:endCxn id="40" idx="4"/>
            </p:cNvCxnSpPr>
            <p:nvPr/>
          </p:nvCxnSpPr>
          <p:spPr>
            <a:xfrm flipH="1">
              <a:off x="5355244" y="7366055"/>
              <a:ext cx="4683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3E5E8918-CA25-453E-9C73-DE9721D1C9DB}"/>
                </a:ext>
              </a:extLst>
            </p:cNvPr>
            <p:cNvCxnSpPr>
              <a:cxnSpLocks/>
            </p:cNvCxnSpPr>
            <p:nvPr/>
          </p:nvCxnSpPr>
          <p:spPr>
            <a:xfrm flipH="1">
              <a:off x="5355245" y="8030393"/>
              <a:ext cx="38179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D4FCF4DF-34D1-457C-8A65-2E58B693DE22}"/>
                </a:ext>
              </a:extLst>
            </p:cNvPr>
            <p:cNvCxnSpPr>
              <a:cxnSpLocks/>
            </p:cNvCxnSpPr>
            <p:nvPr/>
          </p:nvCxnSpPr>
          <p:spPr>
            <a:xfrm flipH="1">
              <a:off x="5355244" y="8095922"/>
              <a:ext cx="38179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FDFA3AE5-9ED4-48C1-98B5-C00FF455AA7C}"/>
                </a:ext>
              </a:extLst>
            </p:cNvPr>
            <p:cNvCxnSpPr>
              <a:cxnSpLocks/>
            </p:cNvCxnSpPr>
            <p:nvPr/>
          </p:nvCxnSpPr>
          <p:spPr>
            <a:xfrm flipH="1">
              <a:off x="5356619" y="8167214"/>
              <a:ext cx="38179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07589B09-79DB-460C-8250-AFB143D846A4}"/>
                </a:ext>
              </a:extLst>
            </p:cNvPr>
            <p:cNvSpPr txBox="1"/>
            <p:nvPr/>
          </p:nvSpPr>
          <p:spPr>
            <a:xfrm>
              <a:off x="3294878" y="9214649"/>
              <a:ext cx="628444" cy="215444"/>
            </a:xfrm>
            <a:prstGeom prst="rect">
              <a:avLst/>
            </a:prstGeom>
            <a:noFill/>
          </p:spPr>
          <p:txBody>
            <a:bodyPr wrap="square" rtlCol="0">
              <a:spAutoFit/>
            </a:bodyPr>
            <a:lstStyle/>
            <a:p>
              <a:r>
                <a:rPr lang="en-US" altLang="zh-CN" sz="800" dirty="0">
                  <a:solidFill>
                    <a:schemeClr val="bg1">
                      <a:lumMod val="50000"/>
                    </a:schemeClr>
                  </a:solidFill>
                </a:rPr>
                <a:t>DC-GW</a:t>
              </a:r>
              <a:endParaRPr lang="zh-CN" altLang="en-US" sz="800" dirty="0">
                <a:solidFill>
                  <a:schemeClr val="bg1">
                    <a:lumMod val="50000"/>
                  </a:schemeClr>
                </a:solidFill>
              </a:endParaRPr>
            </a:p>
          </p:txBody>
        </p:sp>
        <p:pic>
          <p:nvPicPr>
            <p:cNvPr id="84" name="图形 83">
              <a:extLst>
                <a:ext uri="{FF2B5EF4-FFF2-40B4-BE49-F238E27FC236}">
                  <a16:creationId xmlns:a16="http://schemas.microsoft.com/office/drawing/2014/main" id="{F06531E3-301B-46E2-B88F-949D46FA21A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468" y="7390078"/>
              <a:ext cx="216746" cy="202874"/>
            </a:xfrm>
            <a:prstGeom prst="rect">
              <a:avLst/>
            </a:prstGeom>
          </p:spPr>
        </p:pic>
        <p:pic>
          <p:nvPicPr>
            <p:cNvPr id="85" name="图形 84">
              <a:extLst>
                <a:ext uri="{FF2B5EF4-FFF2-40B4-BE49-F238E27FC236}">
                  <a16:creationId xmlns:a16="http://schemas.microsoft.com/office/drawing/2014/main" id="{209E03D2-42B5-43A2-9669-9EC389AD23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5977" y="8073805"/>
              <a:ext cx="229729" cy="217094"/>
            </a:xfrm>
            <a:prstGeom prst="rect">
              <a:avLst/>
            </a:prstGeom>
          </p:spPr>
        </p:pic>
        <p:pic>
          <p:nvPicPr>
            <p:cNvPr id="86" name="图形 85">
              <a:extLst>
                <a:ext uri="{FF2B5EF4-FFF2-40B4-BE49-F238E27FC236}">
                  <a16:creationId xmlns:a16="http://schemas.microsoft.com/office/drawing/2014/main" id="{1A374D97-E82C-414C-8414-25588FE281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587" y="8901412"/>
              <a:ext cx="160509" cy="181485"/>
            </a:xfrm>
            <a:prstGeom prst="rect">
              <a:avLst/>
            </a:prstGeom>
          </p:spPr>
        </p:pic>
        <p:grpSp>
          <p:nvGrpSpPr>
            <p:cNvPr id="87" name="组合 86">
              <a:extLst>
                <a:ext uri="{FF2B5EF4-FFF2-40B4-BE49-F238E27FC236}">
                  <a16:creationId xmlns:a16="http://schemas.microsoft.com/office/drawing/2014/main" id="{60BB237A-8CC9-4B7C-8B73-30D47CEC1DDB}"/>
                </a:ext>
              </a:extLst>
            </p:cNvPr>
            <p:cNvGrpSpPr/>
            <p:nvPr/>
          </p:nvGrpSpPr>
          <p:grpSpPr>
            <a:xfrm>
              <a:off x="3553567" y="6794650"/>
              <a:ext cx="226893" cy="230832"/>
              <a:chOff x="7068902" y="2861987"/>
              <a:chExt cx="226893" cy="230832"/>
            </a:xfrm>
          </p:grpSpPr>
          <p:sp>
            <p:nvSpPr>
              <p:cNvPr id="101" name="椭圆 100">
                <a:extLst>
                  <a:ext uri="{FF2B5EF4-FFF2-40B4-BE49-F238E27FC236}">
                    <a16:creationId xmlns:a16="http://schemas.microsoft.com/office/drawing/2014/main" id="{493A9E6C-0035-431F-A6EB-3F22E37CB999}"/>
                  </a:ext>
                </a:extLst>
              </p:cNvPr>
              <p:cNvSpPr/>
              <p:nvPr/>
            </p:nvSpPr>
            <p:spPr>
              <a:xfrm>
                <a:off x="7131050" y="2921000"/>
                <a:ext cx="128596" cy="12859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cs typeface="Huawei Sans" panose="020C0503030203020204" pitchFamily="34" charset="0"/>
                </a:endParaRPr>
              </a:p>
            </p:txBody>
          </p:sp>
          <p:sp>
            <p:nvSpPr>
              <p:cNvPr id="102" name="文本框 101">
                <a:extLst>
                  <a:ext uri="{FF2B5EF4-FFF2-40B4-BE49-F238E27FC236}">
                    <a16:creationId xmlns:a16="http://schemas.microsoft.com/office/drawing/2014/main" id="{61A54D92-B086-4B46-8A1B-08224CE0A863}"/>
                  </a:ext>
                </a:extLst>
              </p:cNvPr>
              <p:cNvSpPr txBox="1"/>
              <p:nvPr/>
            </p:nvSpPr>
            <p:spPr>
              <a:xfrm>
                <a:off x="7068902" y="2861987"/>
                <a:ext cx="226893" cy="230832"/>
              </a:xfrm>
              <a:prstGeom prst="rect">
                <a:avLst/>
              </a:prstGeom>
              <a:noFill/>
            </p:spPr>
            <p:txBody>
              <a:bodyPr wrap="square" rtlCol="0">
                <a:spAutoFit/>
              </a:bodyPr>
              <a:lstStyle/>
              <a:p>
                <a:r>
                  <a:rPr lang="en-US" altLang="zh-CN" sz="900" dirty="0">
                    <a:solidFill>
                      <a:schemeClr val="bg1"/>
                    </a:solidFill>
                  </a:rPr>
                  <a:t>4</a:t>
                </a:r>
                <a:endParaRPr lang="zh-CN" altLang="en-US" sz="900" dirty="0">
                  <a:solidFill>
                    <a:schemeClr val="bg1"/>
                  </a:solidFill>
                </a:endParaRPr>
              </a:p>
            </p:txBody>
          </p:sp>
        </p:grpSp>
        <p:grpSp>
          <p:nvGrpSpPr>
            <p:cNvPr id="88" name="组合 87">
              <a:extLst>
                <a:ext uri="{FF2B5EF4-FFF2-40B4-BE49-F238E27FC236}">
                  <a16:creationId xmlns:a16="http://schemas.microsoft.com/office/drawing/2014/main" id="{8A09467C-5BA5-4BE5-A197-5EAF863A34BA}"/>
                </a:ext>
              </a:extLst>
            </p:cNvPr>
            <p:cNvGrpSpPr/>
            <p:nvPr/>
          </p:nvGrpSpPr>
          <p:grpSpPr>
            <a:xfrm>
              <a:off x="3212648" y="7082102"/>
              <a:ext cx="226893" cy="230832"/>
              <a:chOff x="7068902" y="2861987"/>
              <a:chExt cx="226893" cy="230832"/>
            </a:xfrm>
          </p:grpSpPr>
          <p:sp>
            <p:nvSpPr>
              <p:cNvPr id="99" name="椭圆 98">
                <a:extLst>
                  <a:ext uri="{FF2B5EF4-FFF2-40B4-BE49-F238E27FC236}">
                    <a16:creationId xmlns:a16="http://schemas.microsoft.com/office/drawing/2014/main" id="{AEFF3CCE-09B1-44C9-848D-7CDA82086E27}"/>
                  </a:ext>
                </a:extLst>
              </p:cNvPr>
              <p:cNvSpPr/>
              <p:nvPr/>
            </p:nvSpPr>
            <p:spPr>
              <a:xfrm>
                <a:off x="7131050" y="2921000"/>
                <a:ext cx="128596" cy="12859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cs typeface="Huawei Sans" panose="020C0503030203020204" pitchFamily="34" charset="0"/>
                </a:endParaRPr>
              </a:p>
            </p:txBody>
          </p:sp>
          <p:sp>
            <p:nvSpPr>
              <p:cNvPr id="100" name="文本框 99">
                <a:extLst>
                  <a:ext uri="{FF2B5EF4-FFF2-40B4-BE49-F238E27FC236}">
                    <a16:creationId xmlns:a16="http://schemas.microsoft.com/office/drawing/2014/main" id="{42D3E9A6-87A6-4F64-BBF0-38C213C1833B}"/>
                  </a:ext>
                </a:extLst>
              </p:cNvPr>
              <p:cNvSpPr txBox="1"/>
              <p:nvPr/>
            </p:nvSpPr>
            <p:spPr>
              <a:xfrm>
                <a:off x="7068902" y="2861987"/>
                <a:ext cx="226893" cy="230832"/>
              </a:xfrm>
              <a:prstGeom prst="rect">
                <a:avLst/>
              </a:prstGeom>
              <a:noFill/>
            </p:spPr>
            <p:txBody>
              <a:bodyPr wrap="square" rtlCol="0">
                <a:spAutoFit/>
              </a:bodyPr>
              <a:lstStyle/>
              <a:p>
                <a:r>
                  <a:rPr lang="en-US" altLang="zh-CN" sz="900" dirty="0">
                    <a:solidFill>
                      <a:schemeClr val="bg1"/>
                    </a:solidFill>
                  </a:rPr>
                  <a:t>1</a:t>
                </a:r>
                <a:endParaRPr lang="zh-CN" altLang="en-US" sz="900" dirty="0">
                  <a:solidFill>
                    <a:schemeClr val="bg1"/>
                  </a:solidFill>
                </a:endParaRPr>
              </a:p>
            </p:txBody>
          </p:sp>
        </p:grpSp>
        <p:grpSp>
          <p:nvGrpSpPr>
            <p:cNvPr id="89" name="组合 88">
              <a:extLst>
                <a:ext uri="{FF2B5EF4-FFF2-40B4-BE49-F238E27FC236}">
                  <a16:creationId xmlns:a16="http://schemas.microsoft.com/office/drawing/2014/main" id="{E4498F90-F8FB-4713-88B2-D371273EC2CA}"/>
                </a:ext>
              </a:extLst>
            </p:cNvPr>
            <p:cNvGrpSpPr/>
            <p:nvPr/>
          </p:nvGrpSpPr>
          <p:grpSpPr>
            <a:xfrm>
              <a:off x="5127983" y="7574699"/>
              <a:ext cx="226893" cy="230832"/>
              <a:chOff x="7068902" y="2861987"/>
              <a:chExt cx="226893" cy="230832"/>
            </a:xfrm>
          </p:grpSpPr>
          <p:sp>
            <p:nvSpPr>
              <p:cNvPr id="97" name="椭圆 96">
                <a:extLst>
                  <a:ext uri="{FF2B5EF4-FFF2-40B4-BE49-F238E27FC236}">
                    <a16:creationId xmlns:a16="http://schemas.microsoft.com/office/drawing/2014/main" id="{053A232C-47F2-4547-BE0A-F070F4E60377}"/>
                  </a:ext>
                </a:extLst>
              </p:cNvPr>
              <p:cNvSpPr/>
              <p:nvPr/>
            </p:nvSpPr>
            <p:spPr>
              <a:xfrm>
                <a:off x="7131050" y="2921000"/>
                <a:ext cx="128596" cy="12859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cs typeface="Huawei Sans" panose="020C0503030203020204" pitchFamily="34" charset="0"/>
                </a:endParaRPr>
              </a:p>
            </p:txBody>
          </p:sp>
          <p:sp>
            <p:nvSpPr>
              <p:cNvPr id="98" name="文本框 97">
                <a:extLst>
                  <a:ext uri="{FF2B5EF4-FFF2-40B4-BE49-F238E27FC236}">
                    <a16:creationId xmlns:a16="http://schemas.microsoft.com/office/drawing/2014/main" id="{41C5CA4C-E197-433D-B1AF-F2087087365D}"/>
                  </a:ext>
                </a:extLst>
              </p:cNvPr>
              <p:cNvSpPr txBox="1"/>
              <p:nvPr/>
            </p:nvSpPr>
            <p:spPr>
              <a:xfrm>
                <a:off x="7068902" y="2861987"/>
                <a:ext cx="226893" cy="230832"/>
              </a:xfrm>
              <a:prstGeom prst="rect">
                <a:avLst/>
              </a:prstGeom>
              <a:noFill/>
            </p:spPr>
            <p:txBody>
              <a:bodyPr wrap="square" rtlCol="0">
                <a:spAutoFit/>
              </a:bodyPr>
              <a:lstStyle/>
              <a:p>
                <a:r>
                  <a:rPr lang="en-US" altLang="zh-CN" sz="900" dirty="0">
                    <a:solidFill>
                      <a:schemeClr val="bg1"/>
                    </a:solidFill>
                  </a:rPr>
                  <a:t>3</a:t>
                </a:r>
                <a:endParaRPr lang="zh-CN" altLang="en-US" sz="900" dirty="0">
                  <a:solidFill>
                    <a:schemeClr val="bg1"/>
                  </a:solidFill>
                </a:endParaRPr>
              </a:p>
            </p:txBody>
          </p:sp>
        </p:grpSp>
        <p:grpSp>
          <p:nvGrpSpPr>
            <p:cNvPr id="90" name="组合 89">
              <a:extLst>
                <a:ext uri="{FF2B5EF4-FFF2-40B4-BE49-F238E27FC236}">
                  <a16:creationId xmlns:a16="http://schemas.microsoft.com/office/drawing/2014/main" id="{1DA4265B-D3A4-46B6-BAC9-DADBD3B38D91}"/>
                </a:ext>
              </a:extLst>
            </p:cNvPr>
            <p:cNvGrpSpPr/>
            <p:nvPr/>
          </p:nvGrpSpPr>
          <p:grpSpPr>
            <a:xfrm>
              <a:off x="3758536" y="8062919"/>
              <a:ext cx="226893" cy="230832"/>
              <a:chOff x="7068902" y="2861987"/>
              <a:chExt cx="226893" cy="230832"/>
            </a:xfrm>
          </p:grpSpPr>
          <p:sp>
            <p:nvSpPr>
              <p:cNvPr id="95" name="椭圆 94">
                <a:extLst>
                  <a:ext uri="{FF2B5EF4-FFF2-40B4-BE49-F238E27FC236}">
                    <a16:creationId xmlns:a16="http://schemas.microsoft.com/office/drawing/2014/main" id="{1E3F0E40-520A-432B-8AD8-02DBB508C898}"/>
                  </a:ext>
                </a:extLst>
              </p:cNvPr>
              <p:cNvSpPr/>
              <p:nvPr/>
            </p:nvSpPr>
            <p:spPr>
              <a:xfrm>
                <a:off x="7131050" y="2921000"/>
                <a:ext cx="128596" cy="12859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cs typeface="Huawei Sans" panose="020C0503030203020204" pitchFamily="34" charset="0"/>
                </a:endParaRPr>
              </a:p>
            </p:txBody>
          </p:sp>
          <p:sp>
            <p:nvSpPr>
              <p:cNvPr id="96" name="文本框 95">
                <a:extLst>
                  <a:ext uri="{FF2B5EF4-FFF2-40B4-BE49-F238E27FC236}">
                    <a16:creationId xmlns:a16="http://schemas.microsoft.com/office/drawing/2014/main" id="{1B7A7710-F625-4555-A9F5-EE13C18D9C1E}"/>
                  </a:ext>
                </a:extLst>
              </p:cNvPr>
              <p:cNvSpPr txBox="1"/>
              <p:nvPr/>
            </p:nvSpPr>
            <p:spPr>
              <a:xfrm>
                <a:off x="7068902" y="2861987"/>
                <a:ext cx="226893" cy="230832"/>
              </a:xfrm>
              <a:prstGeom prst="rect">
                <a:avLst/>
              </a:prstGeom>
              <a:noFill/>
            </p:spPr>
            <p:txBody>
              <a:bodyPr wrap="square" rtlCol="0">
                <a:spAutoFit/>
              </a:bodyPr>
              <a:lstStyle/>
              <a:p>
                <a:r>
                  <a:rPr lang="en-US" altLang="zh-CN" sz="900" dirty="0">
                    <a:solidFill>
                      <a:schemeClr val="bg1"/>
                    </a:solidFill>
                  </a:rPr>
                  <a:t>5</a:t>
                </a:r>
                <a:endParaRPr lang="zh-CN" altLang="en-US" sz="900" dirty="0">
                  <a:solidFill>
                    <a:schemeClr val="bg1"/>
                  </a:solidFill>
                </a:endParaRPr>
              </a:p>
            </p:txBody>
          </p:sp>
        </p:grpSp>
        <p:grpSp>
          <p:nvGrpSpPr>
            <p:cNvPr id="91" name="组合 90">
              <a:extLst>
                <a:ext uri="{FF2B5EF4-FFF2-40B4-BE49-F238E27FC236}">
                  <a16:creationId xmlns:a16="http://schemas.microsoft.com/office/drawing/2014/main" id="{6326D750-8AF5-4A56-A4B4-51A726A9A22D}"/>
                </a:ext>
              </a:extLst>
            </p:cNvPr>
            <p:cNvGrpSpPr/>
            <p:nvPr/>
          </p:nvGrpSpPr>
          <p:grpSpPr>
            <a:xfrm>
              <a:off x="3151668" y="9198018"/>
              <a:ext cx="226893" cy="230832"/>
              <a:chOff x="7068902" y="2861987"/>
              <a:chExt cx="226893" cy="230832"/>
            </a:xfrm>
          </p:grpSpPr>
          <p:sp>
            <p:nvSpPr>
              <p:cNvPr id="93" name="椭圆 92">
                <a:extLst>
                  <a:ext uri="{FF2B5EF4-FFF2-40B4-BE49-F238E27FC236}">
                    <a16:creationId xmlns:a16="http://schemas.microsoft.com/office/drawing/2014/main" id="{B3D4EAC2-0E2F-4796-8947-ABD4BC0A3B2E}"/>
                  </a:ext>
                </a:extLst>
              </p:cNvPr>
              <p:cNvSpPr/>
              <p:nvPr/>
            </p:nvSpPr>
            <p:spPr>
              <a:xfrm>
                <a:off x="7131050" y="2921000"/>
                <a:ext cx="128596" cy="12859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cs typeface="Huawei Sans" panose="020C0503030203020204" pitchFamily="34" charset="0"/>
                </a:endParaRPr>
              </a:p>
            </p:txBody>
          </p:sp>
          <p:sp>
            <p:nvSpPr>
              <p:cNvPr id="94" name="文本框 93">
                <a:extLst>
                  <a:ext uri="{FF2B5EF4-FFF2-40B4-BE49-F238E27FC236}">
                    <a16:creationId xmlns:a16="http://schemas.microsoft.com/office/drawing/2014/main" id="{5909A645-53F8-4A9F-AB07-8E38B4E2E369}"/>
                  </a:ext>
                </a:extLst>
              </p:cNvPr>
              <p:cNvSpPr txBox="1"/>
              <p:nvPr/>
            </p:nvSpPr>
            <p:spPr>
              <a:xfrm>
                <a:off x="7068902" y="2861987"/>
                <a:ext cx="226893" cy="230832"/>
              </a:xfrm>
              <a:prstGeom prst="rect">
                <a:avLst/>
              </a:prstGeom>
              <a:noFill/>
            </p:spPr>
            <p:txBody>
              <a:bodyPr wrap="square" rtlCol="0">
                <a:spAutoFit/>
              </a:bodyPr>
              <a:lstStyle/>
              <a:p>
                <a:r>
                  <a:rPr lang="en-US" altLang="zh-CN" sz="900" dirty="0">
                    <a:solidFill>
                      <a:schemeClr val="bg1"/>
                    </a:solidFill>
                  </a:rPr>
                  <a:t>2</a:t>
                </a:r>
                <a:endParaRPr lang="zh-CN" altLang="en-US" sz="900" dirty="0">
                  <a:solidFill>
                    <a:schemeClr val="bg1"/>
                  </a:solidFill>
                </a:endParaRPr>
              </a:p>
            </p:txBody>
          </p:sp>
        </p:grpSp>
        <p:sp>
          <p:nvSpPr>
            <p:cNvPr id="92" name="文本框 91">
              <a:extLst>
                <a:ext uri="{FF2B5EF4-FFF2-40B4-BE49-F238E27FC236}">
                  <a16:creationId xmlns:a16="http://schemas.microsoft.com/office/drawing/2014/main" id="{1DC5F56F-2846-410C-841D-CB96EC2AB848}"/>
                </a:ext>
              </a:extLst>
            </p:cNvPr>
            <p:cNvSpPr txBox="1"/>
            <p:nvPr/>
          </p:nvSpPr>
          <p:spPr>
            <a:xfrm>
              <a:off x="3376698" y="7095278"/>
              <a:ext cx="703770" cy="215444"/>
            </a:xfrm>
            <a:prstGeom prst="rect">
              <a:avLst/>
            </a:prstGeom>
            <a:noFill/>
          </p:spPr>
          <p:txBody>
            <a:bodyPr wrap="square" rtlCol="0">
              <a:spAutoFit/>
            </a:bodyPr>
            <a:lstStyle/>
            <a:p>
              <a:r>
                <a:rPr lang="en-US" altLang="zh-CN" sz="800" dirty="0">
                  <a:solidFill>
                    <a:schemeClr val="bg1">
                      <a:lumMod val="50000"/>
                    </a:schemeClr>
                  </a:solidFill>
                </a:rPr>
                <a:t>Spine</a:t>
              </a:r>
              <a:endParaRPr lang="zh-CN" altLang="en-US" sz="800" dirty="0">
                <a:solidFill>
                  <a:schemeClr val="bg1">
                    <a:lumMod val="50000"/>
                  </a:schemeClr>
                </a:solidFill>
              </a:endParaRPr>
            </a:p>
          </p:txBody>
        </p:sp>
      </p:grpSp>
      <p:cxnSp>
        <p:nvCxnSpPr>
          <p:cNvPr id="103" name="直接连接符 102">
            <a:extLst>
              <a:ext uri="{FF2B5EF4-FFF2-40B4-BE49-F238E27FC236}">
                <a16:creationId xmlns:a16="http://schemas.microsoft.com/office/drawing/2014/main" id="{1AFC5E20-020C-42AF-B891-8FEFAE29D3BF}"/>
              </a:ext>
            </a:extLst>
          </p:cNvPr>
          <p:cNvCxnSpPr>
            <a:cxnSpLocks/>
          </p:cNvCxnSpPr>
          <p:nvPr/>
        </p:nvCxnSpPr>
        <p:spPr>
          <a:xfrm>
            <a:off x="24214" y="1003300"/>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322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10">
            <a:extLst>
              <a:ext uri="{FF2B5EF4-FFF2-40B4-BE49-F238E27FC236}">
                <a16:creationId xmlns:a16="http://schemas.microsoft.com/office/drawing/2014/main" id="{CCED3292-D518-402D-A88D-5FE333941D82}"/>
              </a:ext>
            </a:extLst>
          </p:cNvPr>
          <p:cNvSpPr txBox="1"/>
          <p:nvPr/>
        </p:nvSpPr>
        <p:spPr>
          <a:xfrm>
            <a:off x="484143" y="546100"/>
            <a:ext cx="2408774" cy="289823"/>
          </a:xfrm>
          <a:prstGeom prst="rect">
            <a:avLst/>
          </a:prstGeom>
        </p:spPr>
        <p:txBody>
          <a:bodyPr vert="horz" wrap="square" lIns="0" tIns="12700" rIns="0" bIns="0" rtlCol="0">
            <a:spAutoFit/>
          </a:bodyPr>
          <a:lstStyle/>
          <a:p>
            <a:r>
              <a:rPr lang="en-US" altLang="zh-CN" b="1" dirty="0">
                <a:solidFill>
                  <a:srgbClr val="C00000"/>
                </a:solidFill>
                <a:sym typeface="+mn-lt"/>
              </a:rPr>
              <a:t>Product Features</a:t>
            </a:r>
          </a:p>
        </p:txBody>
      </p:sp>
      <p:graphicFrame>
        <p:nvGraphicFramePr>
          <p:cNvPr id="6" name="表格 5">
            <a:extLst>
              <a:ext uri="{FF2B5EF4-FFF2-40B4-BE49-F238E27FC236}">
                <a16:creationId xmlns:a16="http://schemas.microsoft.com/office/drawing/2014/main" id="{0BC13E66-7EFD-4D40-B480-A28D6550CE1B}"/>
              </a:ext>
            </a:extLst>
          </p:cNvPr>
          <p:cNvGraphicFramePr>
            <a:graphicFrameLocks noGrp="1"/>
          </p:cNvGraphicFramePr>
          <p:nvPr>
            <p:extLst>
              <p:ext uri="{D42A27DB-BD31-4B8C-83A1-F6EECF244321}">
                <p14:modId xmlns:p14="http://schemas.microsoft.com/office/powerpoint/2010/main" val="3335118126"/>
              </p:ext>
            </p:extLst>
          </p:nvPr>
        </p:nvGraphicFramePr>
        <p:xfrm>
          <a:off x="501650" y="1277656"/>
          <a:ext cx="6691711" cy="6394808"/>
        </p:xfrm>
        <a:graphic>
          <a:graphicData uri="http://schemas.openxmlformats.org/drawingml/2006/table">
            <a:tbl>
              <a:tblPr firstRow="1" bandRow="1">
                <a:tableStyleId>{5C22544A-7EE6-4342-B048-85BDC9FD1C3A}</a:tableStyleId>
              </a:tblPr>
              <a:tblGrid>
                <a:gridCol w="977441">
                  <a:extLst>
                    <a:ext uri="{9D8B030D-6E8A-4147-A177-3AD203B41FA5}">
                      <a16:colId xmlns:a16="http://schemas.microsoft.com/office/drawing/2014/main" val="1894661001"/>
                    </a:ext>
                  </a:extLst>
                </a:gridCol>
                <a:gridCol w="1954883">
                  <a:extLst>
                    <a:ext uri="{9D8B030D-6E8A-4147-A177-3AD203B41FA5}">
                      <a16:colId xmlns:a16="http://schemas.microsoft.com/office/drawing/2014/main" val="1760222833"/>
                    </a:ext>
                  </a:extLst>
                </a:gridCol>
                <a:gridCol w="1854993">
                  <a:extLst>
                    <a:ext uri="{9D8B030D-6E8A-4147-A177-3AD203B41FA5}">
                      <a16:colId xmlns:a16="http://schemas.microsoft.com/office/drawing/2014/main" val="1219150392"/>
                    </a:ext>
                  </a:extLst>
                </a:gridCol>
                <a:gridCol w="1904394">
                  <a:extLst>
                    <a:ext uri="{9D8B030D-6E8A-4147-A177-3AD203B41FA5}">
                      <a16:colId xmlns:a16="http://schemas.microsoft.com/office/drawing/2014/main" val="1554623352"/>
                    </a:ext>
                  </a:extLst>
                </a:gridCol>
              </a:tblGrid>
              <a:tr h="353581">
                <a:tc row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u="none" strike="noStrike" dirty="0">
                          <a:solidFill>
                            <a:schemeClr val="dk1"/>
                          </a:solidFill>
                          <a:effectLst/>
                          <a:latin typeface="Arial" panose="020B0604020202020204" pitchFamily="34" charset="0"/>
                          <a:ea typeface="+mn-ea"/>
                          <a:cs typeface="Arial" panose="020B0604020202020204" pitchFamily="34" charset="0"/>
                        </a:rPr>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3">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Arial" panose="020B0604020202020204" pitchFamily="34" charset="0"/>
                          <a:ea typeface="方正兰亭黑简体" panose="02000000000000000000" pitchFamily="2" charset="-122"/>
                          <a:cs typeface="Arial" panose="020B0604020202020204" pitchFamily="34" charset="0"/>
                          <a:sym typeface="+mn-lt"/>
                        </a:rPr>
                        <a:t>Product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zh-CN" altLang="en-US" sz="14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zh-CN" altLang="en-US" sz="14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964544561"/>
                  </a:ext>
                </a:extLst>
              </a:tr>
              <a:tr h="353581">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u="none" strike="noStrike" dirty="0">
                          <a:solidFill>
                            <a:schemeClr val="dk1"/>
                          </a:solidFill>
                          <a:effectLst/>
                          <a:latin typeface="Arial" panose="020B0604020202020204" pitchFamily="34" charset="0"/>
                          <a:ea typeface="+mn-ea"/>
                          <a:cs typeface="Arial" panose="020B0604020202020204" pitchFamily="34" charset="0"/>
                        </a:rPr>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Arial" panose="020B0604020202020204" pitchFamily="34" charset="0"/>
                          <a:ea typeface="方正兰亭黑简体" panose="02000000000000000000" pitchFamily="2" charset="-122"/>
                          <a:cs typeface="Arial" panose="020B0604020202020204" pitchFamily="34" charset="0"/>
                        </a:rPr>
                        <a:t>NetEngine 8000 X4</a:t>
                      </a:r>
                      <a:endParaRPr lang="zh-CN" altLang="en-US" sz="14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Arial" panose="020B0604020202020204" pitchFamily="34" charset="0"/>
                          <a:ea typeface="方正兰亭黑简体" panose="02000000000000000000" pitchFamily="2" charset="-122"/>
                          <a:cs typeface="Arial" panose="020B0604020202020204" pitchFamily="34" charset="0"/>
                        </a:rPr>
                        <a:t>NetEngine 8000 X8</a:t>
                      </a:r>
                      <a:endParaRPr lang="zh-CN" altLang="en-US" sz="14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Arial" panose="020B0604020202020204" pitchFamily="34" charset="0"/>
                          <a:ea typeface="方正兰亭黑简体" panose="02000000000000000000" pitchFamily="2" charset="-122"/>
                          <a:cs typeface="Arial" panose="020B0604020202020204" pitchFamily="34" charset="0"/>
                        </a:rPr>
                        <a:t>NetEngine 8000 X16</a:t>
                      </a:r>
                      <a:endParaRPr lang="zh-CN" altLang="en-US" sz="14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36117666"/>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L2</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IEEE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802.1q,</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IEEE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802.1p,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IEEE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802.3ah,</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IEEE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802.1ag,</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STP/RSTP/MSTP,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G.8032,</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LACP,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VxLAN, VLAN</a:t>
                      </a:r>
                      <a:r>
                        <a:rPr lang="zh-CN" altLang="en-US"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 </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and </a:t>
                      </a:r>
                      <a:r>
                        <a:rPr lang="en-US" altLang="zh-CN" sz="1200" dirty="0">
                          <a:solidFill>
                            <a:srgbClr val="231F20"/>
                          </a:solidFill>
                          <a:latin typeface="Arial" panose="020B0604020202020204" pitchFamily="34" charset="0"/>
                          <a:cs typeface="Arial" panose="020B0604020202020204" pitchFamily="34" charset="0"/>
                        </a:rPr>
                        <a:t>bridge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domain</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1038512"/>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L3</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OSPF,</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OSPFv3,</a:t>
                      </a:r>
                      <a:r>
                        <a:rPr lang="en-US" altLang="zh-CN" sz="1200" dirty="0">
                          <a:latin typeface="Arial" panose="020B0604020202020204" pitchFamily="34" charset="0"/>
                          <a:cs typeface="Arial" panose="020B0604020202020204" pitchFamily="34" charset="0"/>
                        </a:rPr>
                        <a:t> </a:t>
                      </a:r>
                      <a:r>
                        <a:rPr lang="en-US" altLang="zh-CN" sz="1200" dirty="0">
                          <a:solidFill>
                            <a:schemeClr val="tx1"/>
                          </a:solidFill>
                          <a:latin typeface="Arial" panose="020B0604020202020204" pitchFamily="34" charset="0"/>
                          <a:cs typeface="Arial" panose="020B0604020202020204" pitchFamily="34" charset="0"/>
                        </a:rPr>
                        <a:t>RIP, RIPng, </a:t>
                      </a:r>
                      <a:r>
                        <a:rPr lang="en-US" altLang="zh-CN" sz="1200" dirty="0">
                          <a:solidFill>
                            <a:srgbClr val="231F20"/>
                          </a:solidFill>
                          <a:latin typeface="Arial" panose="020B0604020202020204" pitchFamily="34" charset="0"/>
                          <a:cs typeface="Arial" panose="020B0604020202020204" pitchFamily="34" charset="0"/>
                        </a:rPr>
                        <a:t>IS-IS,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IS-ISv6,</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BGP,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BGP4+,</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ACL,</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ACL6,</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6PE,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6VPE,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Static</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routes,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GRE,</a:t>
                      </a:r>
                      <a:r>
                        <a:rPr lang="en-US" altLang="zh-CN" sz="1200" dirty="0">
                          <a:latin typeface="Arial" panose="020B0604020202020204" pitchFamily="34" charset="0"/>
                          <a:cs typeface="Arial" panose="020B0604020202020204" pitchFamily="34" charset="0"/>
                        </a:rPr>
                        <a:t> </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9823263"/>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MPLS</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LDP,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RSVP-TE,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VPLS,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VPWS,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L3VPN,</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Seamless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MPLS</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0490001"/>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SR MPLS</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ISIS/OSPF/BGP for SR MPLS, SR MPLS BE, SR MPLS TE, SR MPLS TE Policy, SR-MPLS Flex-</a:t>
                      </a:r>
                      <a:r>
                        <a:rPr lang="en-US" altLang="zh-CN" sz="1200" dirty="0" err="1">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Algo</a:t>
                      </a: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TI-LFA, Anycast FRR, SR-MPLS</a:t>
                      </a:r>
                      <a:r>
                        <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a:t>
                      </a:r>
                      <a:r>
                        <a:rPr lang="en-US" altLang="zh-CN" sz="1200" dirty="0" err="1">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Microloop</a:t>
                      </a: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Avoidance, SR-MPLS OAM</a:t>
                      </a:r>
                      <a:endPar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9133277"/>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SRv6</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ISIS/OSPFv3/BGP for SRv6, SRv6 BE, SRv6 policy, SRv6 Flex-</a:t>
                      </a:r>
                      <a:r>
                        <a:rPr lang="en-US" altLang="zh-CN" sz="1200" dirty="0" err="1">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Algo</a:t>
                      </a: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BGP Policy, SRv6 SRH</a:t>
                      </a:r>
                      <a:r>
                        <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a:t>
                      </a:r>
                      <a:r>
                        <a:rPr lang="en-US" altLang="zh-CN" sz="1200" b="0" i="0" dirty="0">
                          <a:solidFill>
                            <a:schemeClr val="dk1"/>
                          </a:solidFill>
                          <a:effectLst/>
                          <a:latin typeface="Arial" panose="020B0604020202020204" pitchFamily="34" charset="0"/>
                          <a:ea typeface="+mn-ea"/>
                          <a:cs typeface="Arial" panose="020B0604020202020204" pitchFamily="34" charset="0"/>
                        </a:rPr>
                        <a:t>Compression</a:t>
                      </a: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SRv6 TI-LFA FRR, Anycast FRR, SRv6</a:t>
                      </a:r>
                      <a:r>
                        <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a:t>
                      </a:r>
                      <a:r>
                        <a:rPr lang="en-US" altLang="zh-CN" sz="1200" dirty="0" err="1">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Microloop</a:t>
                      </a: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Avoidance, SRv6 OAM, SRv6 SFC, APN6</a:t>
                      </a:r>
                      <a:endPar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644376"/>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EVPN</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EVPN</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L3VPN,</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EVPN</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VPWS,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EVPN</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VPLS</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0994"/>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rgbClr val="231F20"/>
                          </a:solidFill>
                          <a:latin typeface="Arial" panose="020B0604020202020204" pitchFamily="34" charset="0"/>
                          <a:ea typeface="方正兰亭黑简体" panose="02000000000000000000" pitchFamily="2" charset="-122"/>
                          <a:cs typeface="Arial" panose="020B0604020202020204" pitchFamily="34" charset="0"/>
                        </a:rPr>
                        <a:t>Multicast</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IGMP,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MLD,</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Static</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Multicast</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Routing,</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PIM-SM/SSM,</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MSDP,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MBGP</a:t>
                      </a:r>
                      <a:r>
                        <a:rPr lang="en-US" altLang="zh-CN" sz="1200" dirty="0">
                          <a:solidFill>
                            <a:schemeClr val="tx1"/>
                          </a:solidFill>
                          <a:latin typeface="Arial" panose="020B0604020202020204" pitchFamily="34" charset="0"/>
                          <a:cs typeface="Arial" panose="020B0604020202020204" pitchFamily="34" charset="0"/>
                        </a:rPr>
                        <a:t>, Rosen MVPN, </a:t>
                      </a:r>
                      <a:r>
                        <a:rPr lang="en-US" altLang="zh-CN" sz="1200" dirty="0">
                          <a:solidFill>
                            <a:srgbClr val="231F20"/>
                          </a:solidFill>
                          <a:latin typeface="Arial" panose="020B0604020202020204" pitchFamily="34" charset="0"/>
                          <a:cs typeface="Arial" panose="020B0604020202020204" pitchFamily="34" charset="0"/>
                        </a:rPr>
                        <a:t>MVPN,</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NG MVPN,</a:t>
                      </a:r>
                      <a:r>
                        <a:rPr lang="en-US" altLang="zh-CN" sz="1200" dirty="0">
                          <a:latin typeface="Arial" panose="020B0604020202020204" pitchFamily="34" charset="0"/>
                          <a:cs typeface="Arial" panose="020B0604020202020204" pitchFamily="34" charset="0"/>
                        </a:rPr>
                        <a:t> Multicast NAT, </a:t>
                      </a:r>
                      <a:r>
                        <a:rPr lang="en-US" altLang="zh-CN" sz="1200" dirty="0">
                          <a:solidFill>
                            <a:srgbClr val="231F20"/>
                          </a:solidFill>
                          <a:latin typeface="Arial" panose="020B0604020202020204" pitchFamily="34" charset="0"/>
                          <a:cs typeface="Arial" panose="020B0604020202020204" pitchFamily="34" charset="0"/>
                        </a:rPr>
                        <a:t>BIER, </a:t>
                      </a:r>
                      <a:r>
                        <a:rPr lang="en-US" altLang="zh-CN" sz="1200" dirty="0">
                          <a:solidFill>
                            <a:schemeClr val="tx1"/>
                          </a:solidFill>
                          <a:latin typeface="Arial" panose="020B0604020202020204" pitchFamily="34" charset="0"/>
                          <a:cs typeface="Arial" panose="020B0604020202020204" pitchFamily="34" charset="0"/>
                        </a:rPr>
                        <a:t>BIERv6</a:t>
                      </a:r>
                      <a:endParaRPr lang="zh-CN" altLang="en-US" sz="1200" dirty="0">
                        <a:ln>
                          <a:noFill/>
                        </a:ln>
                        <a:solidFill>
                          <a:srgbClr val="FF0000"/>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5439087"/>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Slicing</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err="1">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FlexE</a:t>
                      </a: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 Channelized Sub-interface, Slice-ID</a:t>
                      </a:r>
                      <a:endPar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7832513"/>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QoS</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5 Level </a:t>
                      </a:r>
                      <a:r>
                        <a:rPr lang="en-US" altLang="zh-CN" sz="1200" dirty="0" err="1">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HQoS</a:t>
                      </a:r>
                      <a:endPar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718256"/>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Clock</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1588v2,</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ea typeface="+mn-ea"/>
                          <a:cs typeface="Arial" panose="020B0604020202020204" pitchFamily="34" charset="0"/>
                        </a:rPr>
                        <a:t>Synchronous Ethernet Clock</a:t>
                      </a: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a:t>
                      </a:r>
                      <a:r>
                        <a:rPr lang="en-US" altLang="zh-CN" sz="1200" dirty="0">
                          <a:latin typeface="Arial" panose="020B0604020202020204" pitchFamily="34" charset="0"/>
                          <a:ea typeface="方正兰亭黑简体" panose="02000000000000000000" pitchFamily="2" charset="-122"/>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G.8275.1,</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G.8275.2, SMPTE-2059</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603900"/>
                  </a:ext>
                </a:extLst>
              </a:tr>
              <a:tr h="353581">
                <a:tc>
                  <a:txBody>
                    <a:bodyPr/>
                    <a:lstStyle/>
                    <a:p>
                      <a:pPr algn="ct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OAM</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IFIT, Telemetry,</a:t>
                      </a:r>
                      <a:r>
                        <a:rPr lang="zh-CN" altLang="en-US" sz="1200" dirty="0">
                          <a:solidFill>
                            <a:srgbClr val="231F20"/>
                          </a:solidFill>
                          <a:latin typeface="Arial" panose="020B0604020202020204" pitchFamily="34" charset="0"/>
                          <a:cs typeface="Arial" panose="020B0604020202020204" pitchFamily="34" charset="0"/>
                        </a:rPr>
                        <a:t> </a:t>
                      </a: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NetStream, SNMP, </a:t>
                      </a:r>
                      <a:r>
                        <a:rPr lang="en-US" altLang="zh-CN" sz="1200" dirty="0">
                          <a:solidFill>
                            <a:srgbClr val="231F20"/>
                          </a:solidFill>
                          <a:latin typeface="Arial" panose="020B0604020202020204" pitchFamily="34" charset="0"/>
                          <a:cs typeface="Arial" panose="020B0604020202020204" pitchFamily="34" charset="0"/>
                        </a:rPr>
                        <a:t>NQA, TWAMP, RFC2544, Y.1564, BFD, </a:t>
                      </a: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SBFD, </a:t>
                      </a:r>
                      <a:r>
                        <a:rPr lang="en-US" altLang="zh-CN" sz="1200" dirty="0">
                          <a:solidFill>
                            <a:srgbClr val="231F20"/>
                          </a:solidFill>
                          <a:latin typeface="Arial" panose="020B0604020202020204" pitchFamily="34" charset="0"/>
                          <a:cs typeface="Arial" panose="020B0604020202020204" pitchFamily="34" charset="0"/>
                        </a:rPr>
                        <a:t>MPLS OAM,</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MPLS</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TP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OAM,</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VRRP,</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Ethernet</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OAM,</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Y.1731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6504986"/>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rPr>
                        <a:t>BNG</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cs typeface="Arial" panose="020B0604020202020204" pitchFamily="34" charset="0"/>
                        </a:rPr>
                        <a:t>PPPoE,</a:t>
                      </a:r>
                      <a:r>
                        <a:rPr lang="en-US" altLang="zh-CN" sz="1200" dirty="0">
                          <a:latin typeface="Arial" panose="020B0604020202020204" pitchFamily="34" charset="0"/>
                          <a:cs typeface="Arial" panose="020B0604020202020204" pitchFamily="34" charset="0"/>
                        </a:rPr>
                        <a:t> </a:t>
                      </a:r>
                      <a:r>
                        <a:rPr lang="en-US" altLang="zh-CN" sz="1200" dirty="0">
                          <a:solidFill>
                            <a:srgbClr val="231F20"/>
                          </a:solidFill>
                          <a:latin typeface="Arial" panose="020B0604020202020204" pitchFamily="34" charset="0"/>
                          <a:cs typeface="Arial" panose="020B0604020202020204" pitchFamily="34" charset="0"/>
                        </a:rPr>
                        <a:t>IPoE</a:t>
                      </a:r>
                      <a:r>
                        <a:rPr lang="en-US" altLang="zh-CN" sz="1200" dirty="0">
                          <a:solidFill>
                            <a:schemeClr val="tx1"/>
                          </a:solidFill>
                          <a:latin typeface="Arial" panose="020B0604020202020204" pitchFamily="34" charset="0"/>
                          <a:cs typeface="Arial" panose="020B0604020202020204" pitchFamily="34" charset="0"/>
                        </a:rPr>
                        <a:t>,</a:t>
                      </a:r>
                      <a:r>
                        <a:rPr lang="zh-CN" altLang="en-US" sz="1200" dirty="0">
                          <a:solidFill>
                            <a:schemeClr val="tx1"/>
                          </a:solidFill>
                          <a:latin typeface="Arial" panose="020B0604020202020204" pitchFamily="34" charset="0"/>
                          <a:cs typeface="Arial" panose="020B0604020202020204" pitchFamily="34" charset="0"/>
                        </a:rPr>
                        <a:t> </a:t>
                      </a:r>
                      <a:r>
                        <a:rPr lang="en-US" altLang="zh-CN" sz="1200" dirty="0">
                          <a:solidFill>
                            <a:schemeClr val="tx1"/>
                          </a:solidFill>
                          <a:latin typeface="Arial" panose="020B0604020202020204" pitchFamily="34" charset="0"/>
                          <a:cs typeface="Arial" panose="020B0604020202020204" pitchFamily="34" charset="0"/>
                        </a:rPr>
                        <a:t>L2TP , 802.1x, EDSG</a:t>
                      </a:r>
                      <a:endPar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hMerge="1">
                  <a:txBody>
                    <a:bodyPr/>
                    <a:lstStyle/>
                    <a:p>
                      <a:endParaRPr lang="zh-CN" altLang="en-US" sz="1000" dirty="0">
                        <a:ln>
                          <a:noFill/>
                        </a:ln>
                        <a:solidFill>
                          <a:schemeClr val="tx1">
                            <a:lumMod val="95000"/>
                            <a:lumOff val="5000"/>
                          </a:schemeClr>
                        </a:solidFill>
                        <a:latin typeface="方正兰亭黑简体" panose="02000000000000000000" pitchFamily="2" charset="-122"/>
                        <a:ea typeface="方正兰亭黑简体" panose="02000000000000000000"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extLst>
                  <a:ext uri="{0D108BD9-81ED-4DB2-BD59-A6C34878D82A}">
                    <a16:rowId xmlns:a16="http://schemas.microsoft.com/office/drawing/2014/main" val="3691466988"/>
                  </a:ext>
                </a:extLst>
              </a:tr>
              <a:tr h="35358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Value add services</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rPr>
                        <a:t>CGN, IPSEC, SA</a:t>
                      </a:r>
                      <a:endParaRPr lang="zh-CN" altLang="en-US" sz="1200" dirty="0">
                        <a:ln>
                          <a:noFill/>
                        </a:ln>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2017369"/>
                  </a:ext>
                </a:extLst>
              </a:tr>
            </a:tbl>
          </a:graphicData>
        </a:graphic>
      </p:graphicFrame>
      <p:cxnSp>
        <p:nvCxnSpPr>
          <p:cNvPr id="7" name="直接连接符 6">
            <a:extLst>
              <a:ext uri="{FF2B5EF4-FFF2-40B4-BE49-F238E27FC236}">
                <a16:creationId xmlns:a16="http://schemas.microsoft.com/office/drawing/2014/main" id="{93262893-F2CD-418C-BECA-DFAA6FDCFC18}"/>
              </a:ext>
            </a:extLst>
          </p:cNvPr>
          <p:cNvCxnSpPr>
            <a:cxnSpLocks/>
          </p:cNvCxnSpPr>
          <p:nvPr/>
        </p:nvCxnSpPr>
        <p:spPr>
          <a:xfrm>
            <a:off x="24214" y="1003300"/>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object 14">
            <a:extLst>
              <a:ext uri="{FF2B5EF4-FFF2-40B4-BE49-F238E27FC236}">
                <a16:creationId xmlns:a16="http://schemas.microsoft.com/office/drawing/2014/main" id="{CD850297-AFF6-49FB-9B4E-E18C66958EB0}"/>
              </a:ext>
            </a:extLst>
          </p:cNvPr>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1000" dirty="0">
                <a:solidFill>
                  <a:schemeClr val="tx1"/>
                </a:solidFill>
                <a:latin typeface="微软雅黑" panose="020B0503020204020204" pitchFamily="34" charset="-122"/>
                <a:ea typeface="微软雅黑" panose="020B0503020204020204" pitchFamily="34" charset="-122"/>
                <a:cs typeface="宋体"/>
              </a:rPr>
              <a:t>4</a:t>
            </a:r>
            <a:endParaRPr sz="1000" dirty="0">
              <a:solidFill>
                <a:schemeClr val="tx1"/>
              </a:solidFill>
              <a:latin typeface="微软雅黑" panose="020B0503020204020204" pitchFamily="34" charset="-122"/>
              <a:ea typeface="微软雅黑" panose="020B0503020204020204" pitchFamily="34" charset="-122"/>
              <a:cs typeface="宋体"/>
            </a:endParaRPr>
          </a:p>
        </p:txBody>
      </p:sp>
    </p:spTree>
    <p:extLst>
      <p:ext uri="{BB962C8B-B14F-4D97-AF65-F5344CB8AC3E}">
        <p14:creationId xmlns:p14="http://schemas.microsoft.com/office/powerpoint/2010/main" val="3224809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object 10">
            <a:extLst>
              <a:ext uri="{FF2B5EF4-FFF2-40B4-BE49-F238E27FC236}">
                <a16:creationId xmlns:a16="http://schemas.microsoft.com/office/drawing/2014/main" id="{6282C760-7DC4-44A2-B6FA-BE47D6E3B675}"/>
              </a:ext>
            </a:extLst>
          </p:cNvPr>
          <p:cNvSpPr txBox="1"/>
          <p:nvPr/>
        </p:nvSpPr>
        <p:spPr>
          <a:xfrm>
            <a:off x="482650" y="546100"/>
            <a:ext cx="2914600" cy="289823"/>
          </a:xfrm>
          <a:prstGeom prst="rect">
            <a:avLst/>
          </a:prstGeom>
        </p:spPr>
        <p:txBody>
          <a:bodyPr vert="horz" wrap="square" lIns="0" tIns="12700" rIns="0" bIns="0" rtlCol="0">
            <a:spAutoFit/>
          </a:bodyPr>
          <a:lstStyle/>
          <a:p>
            <a:r>
              <a:rPr lang="en-US" altLang="zh-CN" b="1" dirty="0">
                <a:solidFill>
                  <a:srgbClr val="C00000"/>
                </a:solidFill>
                <a:sym typeface="+mn-lt"/>
              </a:rPr>
              <a:t>Product Specifications</a:t>
            </a:r>
          </a:p>
        </p:txBody>
      </p:sp>
      <p:graphicFrame>
        <p:nvGraphicFramePr>
          <p:cNvPr id="106" name="表格 105">
            <a:extLst>
              <a:ext uri="{FF2B5EF4-FFF2-40B4-BE49-F238E27FC236}">
                <a16:creationId xmlns:a16="http://schemas.microsoft.com/office/drawing/2014/main" id="{6CECFC5B-C492-4F4A-A4DD-BED119082306}"/>
              </a:ext>
            </a:extLst>
          </p:cNvPr>
          <p:cNvGraphicFramePr>
            <a:graphicFrameLocks noGrp="1"/>
          </p:cNvGraphicFramePr>
          <p:nvPr>
            <p:extLst>
              <p:ext uri="{D42A27DB-BD31-4B8C-83A1-F6EECF244321}">
                <p14:modId xmlns:p14="http://schemas.microsoft.com/office/powerpoint/2010/main" val="1495723540"/>
              </p:ext>
            </p:extLst>
          </p:nvPr>
        </p:nvGraphicFramePr>
        <p:xfrm>
          <a:off x="450900" y="1170678"/>
          <a:ext cx="6756350" cy="8605992"/>
        </p:xfrm>
        <a:graphic>
          <a:graphicData uri="http://schemas.openxmlformats.org/drawingml/2006/table">
            <a:tbl>
              <a:tblPr>
                <a:tableStyleId>{5C22544A-7EE6-4342-B048-85BDC9FD1C3A}</a:tableStyleId>
              </a:tblPr>
              <a:tblGrid>
                <a:gridCol w="1346150">
                  <a:extLst>
                    <a:ext uri="{9D8B030D-6E8A-4147-A177-3AD203B41FA5}">
                      <a16:colId xmlns:a16="http://schemas.microsoft.com/office/drawing/2014/main" val="2707388648"/>
                    </a:ext>
                  </a:extLst>
                </a:gridCol>
                <a:gridCol w="1548116">
                  <a:extLst>
                    <a:ext uri="{9D8B030D-6E8A-4147-A177-3AD203B41FA5}">
                      <a16:colId xmlns:a16="http://schemas.microsoft.com/office/drawing/2014/main" val="3229970534"/>
                    </a:ext>
                  </a:extLst>
                </a:gridCol>
                <a:gridCol w="1917216">
                  <a:extLst>
                    <a:ext uri="{9D8B030D-6E8A-4147-A177-3AD203B41FA5}">
                      <a16:colId xmlns:a16="http://schemas.microsoft.com/office/drawing/2014/main" val="2457955976"/>
                    </a:ext>
                  </a:extLst>
                </a:gridCol>
                <a:gridCol w="1944868">
                  <a:extLst>
                    <a:ext uri="{9D8B030D-6E8A-4147-A177-3AD203B41FA5}">
                      <a16:colId xmlns:a16="http://schemas.microsoft.com/office/drawing/2014/main" val="2398048233"/>
                    </a:ext>
                  </a:extLst>
                </a:gridCol>
              </a:tblGrid>
              <a:tr h="224678">
                <a:tc rowSpan="2">
                  <a:txBody>
                    <a:bodyPr/>
                    <a:lstStyle/>
                    <a:p>
                      <a:pPr marL="107950">
                        <a:lnSpc>
                          <a:spcPct val="100000"/>
                        </a:lnSpc>
                        <a:spcBef>
                          <a:spcPts val="240"/>
                        </a:spcBef>
                      </a:pPr>
                      <a:r>
                        <a:rPr lang="en-US" altLang="zh-CN" sz="1400" b="1" u="none" strike="noStrike" dirty="0">
                          <a:solidFill>
                            <a:schemeClr val="dk1"/>
                          </a:solidFill>
                          <a:effectLst/>
                          <a:latin typeface="Arial" panose="020B0604020202020204" pitchFamily="34" charset="0"/>
                          <a:ea typeface="+mn-ea"/>
                          <a:cs typeface="Arial" panose="020B0604020202020204" pitchFamily="34" charset="0"/>
                        </a:rPr>
                        <a:t>Category</a:t>
                      </a:r>
                    </a:p>
                  </a:txBody>
                  <a:tcPr marL="1166"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algn="ctr" fontAlgn="ctr"/>
                      <a:r>
                        <a:rPr lang="en-US" sz="1400" b="1" u="none" strike="noStrike">
                          <a:effectLst/>
                          <a:latin typeface="Arial" panose="020B0604020202020204" pitchFamily="34" charset="0"/>
                          <a:cs typeface="Arial" panose="020B0604020202020204" pitchFamily="34" charset="0"/>
                        </a:rPr>
                        <a:t>Specification</a:t>
                      </a:r>
                      <a:endParaRPr lang="zh-CN" sz="1400" b="1"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166"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a:p>
                  </a:txBody>
                  <a:tcPr/>
                </a:tc>
                <a:tc hMerge="1">
                  <a:txBody>
                    <a:bodyPr/>
                    <a:lstStyle/>
                    <a:p>
                      <a:endParaRPr lang="zh-CN" altLang="en-US" dirty="0"/>
                    </a:p>
                  </a:txBody>
                  <a:tcPr/>
                </a:tc>
                <a:extLst>
                  <a:ext uri="{0D108BD9-81ED-4DB2-BD59-A6C34878D82A}">
                    <a16:rowId xmlns:a16="http://schemas.microsoft.com/office/drawing/2014/main" val="4254164350"/>
                  </a:ext>
                </a:extLst>
              </a:tr>
              <a:tr h="293744">
                <a:tc vMerge="1">
                  <a:txBody>
                    <a:bodyPr/>
                    <a:lstStyle/>
                    <a:p>
                      <a:endParaRPr lang="zh-CN" altLang="en-US"/>
                    </a:p>
                  </a:txBody>
                  <a:tcPr/>
                </a:tc>
                <a:tc>
                  <a:txBody>
                    <a:bodyPr/>
                    <a:lstStyle/>
                    <a:p>
                      <a:pPr algn="ctr" fontAlgn="ctr"/>
                      <a:r>
                        <a:rPr lang="zh-CN" sz="1400" b="1" u="none" strike="noStrike" dirty="0">
                          <a:effectLst/>
                          <a:latin typeface="Arial" panose="020B0604020202020204" pitchFamily="34" charset="0"/>
                          <a:cs typeface="Arial" panose="020B0604020202020204" pitchFamily="34" charset="0"/>
                        </a:rPr>
                        <a:t>NE8000 X4</a:t>
                      </a:r>
                      <a:endParaRPr lang="zh-CN" sz="1400" b="1"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166"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zh-CN" sz="1400" b="1" u="none" strike="noStrike" dirty="0">
                          <a:effectLst/>
                          <a:latin typeface="Arial" panose="020B0604020202020204" pitchFamily="34" charset="0"/>
                          <a:cs typeface="Arial" panose="020B0604020202020204" pitchFamily="34" charset="0"/>
                        </a:rPr>
                        <a:t>NE8000 X8</a:t>
                      </a:r>
                      <a:endParaRPr lang="zh-CN" sz="1400" b="1"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166"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zh-CN" sz="1400" b="1" u="none" strike="noStrike" dirty="0">
                          <a:effectLst/>
                          <a:latin typeface="Arial" panose="020B0604020202020204" pitchFamily="34" charset="0"/>
                          <a:cs typeface="Arial" panose="020B0604020202020204" pitchFamily="34" charset="0"/>
                        </a:rPr>
                        <a:t>NE8000 X16</a:t>
                      </a:r>
                      <a:endParaRPr lang="zh-CN" sz="1400" b="1"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166"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51126571"/>
                  </a:ext>
                </a:extLst>
              </a:tr>
              <a:tr h="595178">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Slot Capability</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1T/2T/4T/9.6T/14.4T/19.2T per</a:t>
                      </a:r>
                      <a:r>
                        <a:rPr lang="zh-CN" altLang="en-US" sz="1200" u="none" strike="noStrike" dirty="0">
                          <a:solidFill>
                            <a:schemeClr val="dk1"/>
                          </a:solidFill>
                          <a:effectLst/>
                          <a:latin typeface="Arial" panose="020B0604020202020204" pitchFamily="34" charset="0"/>
                          <a:ea typeface="+mn-ea"/>
                          <a:cs typeface="Arial" panose="020B0604020202020204" pitchFamily="34" charset="0"/>
                        </a:rPr>
                        <a:t> </a:t>
                      </a: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slot</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1T/2T/4T/9.6T/14.4T/19.2T per</a:t>
                      </a:r>
                      <a:r>
                        <a:rPr lang="zh-CN" altLang="en-US" sz="1200" u="none" strike="noStrike" dirty="0">
                          <a:solidFill>
                            <a:schemeClr val="dk1"/>
                          </a:solidFill>
                          <a:effectLst/>
                          <a:latin typeface="Arial" panose="020B0604020202020204" pitchFamily="34" charset="0"/>
                          <a:ea typeface="+mn-ea"/>
                          <a:cs typeface="Arial" panose="020B0604020202020204" pitchFamily="34" charset="0"/>
                        </a:rPr>
                        <a:t> </a:t>
                      </a: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slot</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1T/2T/9.6T/14.4T per</a:t>
                      </a:r>
                      <a:r>
                        <a:rPr lang="zh-CN" altLang="en-US" sz="1200" u="none" strike="noStrike" dirty="0">
                          <a:solidFill>
                            <a:schemeClr val="dk1"/>
                          </a:solidFill>
                          <a:effectLst/>
                          <a:latin typeface="Arial" panose="020B0604020202020204" pitchFamily="34" charset="0"/>
                          <a:ea typeface="+mn-ea"/>
                          <a:cs typeface="Arial" panose="020B0604020202020204" pitchFamily="34" charset="0"/>
                        </a:rPr>
                        <a:t> </a:t>
                      </a: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slot</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2670116"/>
                  </a:ext>
                </a:extLst>
              </a:tr>
              <a:tr h="512804">
                <a:tc>
                  <a:txBody>
                    <a:bodyPr/>
                    <a:lstStyle/>
                    <a:p>
                      <a:pPr algn="l">
                        <a:lnSpc>
                          <a:spcPct val="200000"/>
                        </a:lnSpc>
                        <a:tabLst/>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Service slots</a:t>
                      </a: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4</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8</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16</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4506467"/>
                  </a:ext>
                </a:extLst>
              </a:tr>
              <a:tr h="477535">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Dimensions (WxDxH, mm)</a:t>
                      </a: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442  x 872 x 437.4 (9.8U)</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442 x 872 x 703 (15.8U)</a:t>
                      </a:r>
                      <a:endParaRPr lang="zh-CN" altLang="en-US" sz="1200" u="none" strike="noStrike" dirty="0">
                        <a:solidFill>
                          <a:schemeClr val="dk1"/>
                        </a:solidFill>
                        <a:effectLst/>
                        <a:latin typeface="Arial" panose="020B0604020202020204" pitchFamily="34" charset="0"/>
                        <a:ea typeface="+mn-ea"/>
                        <a:cs typeface="Arial" panose="020B0604020202020204" pitchFamily="34" charset="0"/>
                      </a:endParaRP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u="none" strike="noStrike" dirty="0">
                          <a:solidFill>
                            <a:schemeClr val="dk1"/>
                          </a:solidFill>
                          <a:effectLst/>
                          <a:latin typeface="Arial" panose="020B0604020202020204" pitchFamily="34" charset="0"/>
                          <a:ea typeface="+mn-ea"/>
                          <a:cs typeface="Arial" panose="020B0604020202020204" pitchFamily="34" charset="0"/>
                        </a:rPr>
                        <a:t>442 x 1033 x 1436 (32.3U)</a:t>
                      </a:r>
                    </a:p>
                  </a:txBody>
                  <a:tcPr marL="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5143675"/>
                  </a:ext>
                </a:extLst>
              </a:tr>
              <a:tr h="383246">
                <a:tc>
                  <a:txBody>
                    <a:bodyPr/>
                    <a:lstStyle/>
                    <a:p>
                      <a:pPr algn="l" fontAlgn="ctr"/>
                      <a:r>
                        <a:rPr lang="en-US" sz="1200" u="none" strike="noStrike" dirty="0">
                          <a:effectLst/>
                          <a:latin typeface="Arial" panose="020B0604020202020204" pitchFamily="34" charset="0"/>
                          <a:cs typeface="Arial" panose="020B0604020202020204" pitchFamily="34" charset="0"/>
                        </a:rPr>
                        <a:t>Chassis height [U]</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9.8 U</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15.8 U</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32.3 U</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533551"/>
                  </a:ext>
                </a:extLst>
              </a:tr>
              <a:tr h="574260">
                <a:tc>
                  <a:txBody>
                    <a:bodyPr/>
                    <a:lstStyle/>
                    <a:p>
                      <a:pPr algn="l" fontAlgn="ctr"/>
                      <a:r>
                        <a:rPr lang="en-US" sz="1200" u="none" strike="noStrike" dirty="0">
                          <a:effectLst/>
                          <a:latin typeface="Arial" panose="020B0604020202020204" pitchFamily="34" charset="0"/>
                          <a:cs typeface="Arial" panose="020B0604020202020204" pitchFamily="34" charset="0"/>
                        </a:rPr>
                        <a:t>Weight without packaging [kg(</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72 kg (158.7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94 kg (207.2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244.8 kg (539.69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9228231"/>
                  </a:ext>
                </a:extLst>
              </a:tr>
              <a:tr h="574260">
                <a:tc>
                  <a:txBody>
                    <a:bodyPr/>
                    <a:lstStyle/>
                    <a:p>
                      <a:pPr algn="l" fontAlgn="ctr"/>
                      <a:r>
                        <a:rPr lang="en-US" sz="1200" u="none" strike="noStrike" dirty="0">
                          <a:effectLst/>
                          <a:latin typeface="Arial" panose="020B0604020202020204" pitchFamily="34" charset="0"/>
                          <a:cs typeface="Arial" panose="020B0604020202020204" pitchFamily="34" charset="0"/>
                        </a:rPr>
                        <a:t>Weight with packaging [kg(</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138 kg (304.2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177 kg (390.2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a:effectLst/>
                          <a:latin typeface="Arial" panose="020B0604020202020204" pitchFamily="34" charset="0"/>
                          <a:cs typeface="Arial" panose="020B0604020202020204" pitchFamily="34" charset="0"/>
                        </a:rPr>
                        <a:t>315.6 kg (695.78 lb)</a:t>
                      </a:r>
                      <a:endParaRPr 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4510797"/>
                  </a:ext>
                </a:extLst>
              </a:tr>
              <a:tr h="956288">
                <a:tc>
                  <a:txBody>
                    <a:bodyPr/>
                    <a:lstStyle/>
                    <a:p>
                      <a:pPr algn="l" fontAlgn="ctr"/>
                      <a:r>
                        <a:rPr lang="en-US" sz="1200" u="none" strike="noStrike" dirty="0">
                          <a:effectLst/>
                          <a:latin typeface="Arial" panose="020B0604020202020204" pitchFamily="34" charset="0"/>
                          <a:cs typeface="Arial" panose="020B0604020202020204" pitchFamily="34" charset="0"/>
                        </a:rPr>
                        <a:t>Weight without packaging (full configuration) [kg(</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4T bundle：192.7 kg (424.8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 14.4T bundle：210.1 kg (463.2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4T bundle: 308.5 kg (680.1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 14.4T bundle: 340.5kg (750.7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 LPUI-4T boards are fully configured]: 666.1 kg ( 1468.5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 [LPUI-14.4T boards are fully configured]: 707.7 kg ( 1558.9 </a:t>
                      </a:r>
                      <a:r>
                        <a:rPr lang="en-US" sz="1200" u="none" strike="noStrike" dirty="0" err="1">
                          <a:effectLst/>
                          <a:latin typeface="Arial" panose="020B0604020202020204" pitchFamily="34" charset="0"/>
                          <a:cs typeface="Arial" panose="020B0604020202020204" pitchFamily="34" charset="0"/>
                        </a:rPr>
                        <a:t>lb</a:t>
                      </a:r>
                      <a:r>
                        <a:rPr lang="en-US" sz="1200" u="none" strike="noStrike" dirty="0">
                          <a:effectLst/>
                          <a:latin typeface="Arial" panose="020B0604020202020204" pitchFamily="34" charset="0"/>
                          <a:cs typeface="Arial" panose="020B0604020202020204" pitchFamily="34" charset="0"/>
                        </a:rPr>
                        <a:t>)</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9655098"/>
                  </a:ext>
                </a:extLst>
              </a:tr>
              <a:tr h="1338317">
                <a:tc>
                  <a:txBody>
                    <a:bodyPr/>
                    <a:lstStyle/>
                    <a:p>
                      <a:pPr algn="l" fontAlgn="ctr"/>
                      <a:r>
                        <a:rPr lang="en-US" sz="1200" u="none" strike="noStrike" dirty="0">
                          <a:effectLst/>
                          <a:latin typeface="Arial" panose="020B0604020202020204" pitchFamily="34" charset="0"/>
                          <a:cs typeface="Arial" panose="020B0604020202020204" pitchFamily="34" charset="0"/>
                        </a:rPr>
                        <a:t>Typical power consumption (with configuration) [W]</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5240 W (estimated value when LPUI-4T boards are fully configured);</a:t>
                      </a:r>
                      <a:br>
                        <a:rPr lang="en-US" sz="1200" u="none" strike="noStrike" dirty="0">
                          <a:effectLst/>
                          <a:latin typeface="Arial" panose="020B0604020202020204" pitchFamily="34" charset="0"/>
                          <a:cs typeface="Arial" panose="020B0604020202020204" pitchFamily="34" charset="0"/>
                        </a:rPr>
                      </a:br>
                      <a:r>
                        <a:rPr lang="en-US" sz="1200" u="none" strike="noStrike" dirty="0">
                          <a:effectLst/>
                          <a:latin typeface="Arial" panose="020B0604020202020204" pitchFamily="34" charset="0"/>
                          <a:cs typeface="Arial" panose="020B0604020202020204" pitchFamily="34" charset="0"/>
                        </a:rPr>
                        <a:t>8860 W (LPUI-14.4T boards are fully configured)</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10256 W (estimated value when LPUI-4T boards are fully configured)</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24015 W (estimated value when LPUI-4T boards are fully configured); [LPUI-14.4T boards are fully configured]: 35965 W</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4911505"/>
                  </a:ext>
                </a:extLst>
              </a:tr>
              <a:tr h="1147302">
                <a:tc>
                  <a:txBody>
                    <a:bodyPr/>
                    <a:lstStyle/>
                    <a:p>
                      <a:pPr algn="l" fontAlgn="ctr"/>
                      <a:r>
                        <a:rPr lang="en-US" sz="1200" u="none" strike="noStrike" dirty="0">
                          <a:effectLst/>
                          <a:latin typeface="Arial" panose="020B0604020202020204" pitchFamily="34" charset="0"/>
                          <a:cs typeface="Arial" panose="020B0604020202020204" pitchFamily="34" charset="0"/>
                        </a:rPr>
                        <a:t>Typical heat dissipation (with configuration) [BTU/hour]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17324 BTU/hour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32665 BTU/hour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[LPUI-4T boards are fully configured]: 77913 BTU/hour; [estimated value when LPUI-14.4T boards are fully configured]: 116684 BTU/hour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7005010"/>
                  </a:ext>
                </a:extLst>
              </a:tr>
              <a:tr h="201020">
                <a:tc>
                  <a:txBody>
                    <a:bodyPr/>
                    <a:lstStyle/>
                    <a:p>
                      <a:pPr algn="l" fontAlgn="ctr"/>
                      <a:r>
                        <a:rPr lang="en-US" sz="1200" u="none" strike="noStrike" dirty="0">
                          <a:effectLst/>
                          <a:latin typeface="Arial" panose="020B0604020202020204" pitchFamily="34" charset="0"/>
                          <a:cs typeface="Arial" panose="020B0604020202020204" pitchFamily="34" charset="0"/>
                        </a:rPr>
                        <a:t>MTBF [year]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18.71 year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a:effectLst/>
                          <a:latin typeface="Arial" panose="020B0604020202020204" pitchFamily="34" charset="0"/>
                          <a:cs typeface="Arial" panose="020B0604020202020204" pitchFamily="34" charset="0"/>
                        </a:rPr>
                        <a:t>18.61 year</a:t>
                      </a:r>
                      <a:endParaRPr 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18.53 year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25714"/>
                  </a:ext>
                </a:extLst>
              </a:tr>
              <a:tr h="201020">
                <a:tc>
                  <a:txBody>
                    <a:bodyPr/>
                    <a:lstStyle/>
                    <a:p>
                      <a:pPr algn="l" fontAlgn="ctr"/>
                      <a:r>
                        <a:rPr lang="en-US" sz="1200" u="none" strike="noStrike" dirty="0">
                          <a:effectLst/>
                          <a:latin typeface="Arial" panose="020B0604020202020204" pitchFamily="34" charset="0"/>
                          <a:cs typeface="Arial" panose="020B0604020202020204" pitchFamily="34" charset="0"/>
                        </a:rPr>
                        <a:t>MTTR [hour]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0.5 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a:effectLst/>
                          <a:latin typeface="Arial" panose="020B0604020202020204" pitchFamily="34" charset="0"/>
                          <a:cs typeface="Arial" panose="020B0604020202020204" pitchFamily="34" charset="0"/>
                        </a:rPr>
                        <a:t>0.5 hour</a:t>
                      </a:r>
                      <a:endParaRPr 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0.5 hour</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3194675"/>
                  </a:ext>
                </a:extLst>
              </a:tr>
              <a:tr h="143456">
                <a:tc>
                  <a:txBody>
                    <a:bodyPr/>
                    <a:lstStyle/>
                    <a:p>
                      <a:pPr algn="l" fontAlgn="ctr"/>
                      <a:r>
                        <a:rPr lang="en-US" sz="1200" u="none" strike="noStrike" dirty="0">
                          <a:effectLst/>
                          <a:latin typeface="Arial" panose="020B0604020202020204" pitchFamily="34" charset="0"/>
                          <a:cs typeface="Arial" panose="020B0604020202020204" pitchFamily="34" charset="0"/>
                        </a:rPr>
                        <a:t>Availability</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0.99999</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a:effectLst/>
                          <a:latin typeface="Arial" panose="020B0604020202020204" pitchFamily="34" charset="0"/>
                          <a:cs typeface="Arial" panose="020B0604020202020204" pitchFamily="34" charset="0"/>
                        </a:rPr>
                        <a:t>0.99999</a:t>
                      </a:r>
                      <a:endParaRPr 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u="none" strike="noStrike" dirty="0">
                          <a:effectLst/>
                          <a:latin typeface="Arial" panose="020B0604020202020204" pitchFamily="34" charset="0"/>
                          <a:cs typeface="Arial" panose="020B0604020202020204" pitchFamily="34" charset="0"/>
                        </a:rPr>
                        <a:t>0.99999</a:t>
                      </a:r>
                      <a:endParaRPr 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36000" marR="1166" marT="11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7070272"/>
                  </a:ext>
                </a:extLst>
              </a:tr>
              <a:tr h="209414">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Power supply mode</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DC/AC/HVDC built-in</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DC/AC/HVDC built-in</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DC/AC/HVDC built-in</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6431599"/>
                  </a:ext>
                </a:extLst>
              </a:tr>
              <a:tr h="209414">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Maximum number of power chassis inputs</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fr-FR"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(12 channels/PEM)*1 PEM=(2 channel/PM)*6 PM*1 PEM=12 channels</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fr-FR"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(20 channels/PEM)*1 PEM=(2 channels/PM)*10 PM*1 PEM=20 channels</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fr-FR"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(40 channels/PEM) x 1 PEM = (2 channels/PM) x 20 PMs x 1 PEM = 40 channels</a:t>
                      </a:r>
                    </a:p>
                  </a:txBody>
                  <a:tcPr marL="1360" marR="1360" marT="13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9940294"/>
                  </a:ext>
                </a:extLst>
              </a:tr>
            </a:tbl>
          </a:graphicData>
        </a:graphic>
      </p:graphicFrame>
      <p:cxnSp>
        <p:nvCxnSpPr>
          <p:cNvPr id="107" name="直接连接符 106">
            <a:extLst>
              <a:ext uri="{FF2B5EF4-FFF2-40B4-BE49-F238E27FC236}">
                <a16:creationId xmlns:a16="http://schemas.microsoft.com/office/drawing/2014/main" id="{3FCB29A8-B6B7-411B-AFD3-D28E9A085A8E}"/>
              </a:ext>
            </a:extLst>
          </p:cNvPr>
          <p:cNvCxnSpPr>
            <a:cxnSpLocks/>
          </p:cNvCxnSpPr>
          <p:nvPr/>
        </p:nvCxnSpPr>
        <p:spPr>
          <a:xfrm>
            <a:off x="24214" y="1003300"/>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object 14">
            <a:extLst>
              <a:ext uri="{FF2B5EF4-FFF2-40B4-BE49-F238E27FC236}">
                <a16:creationId xmlns:a16="http://schemas.microsoft.com/office/drawing/2014/main" id="{C7524FBA-8123-49CD-8A4E-51185889CE28}"/>
              </a:ext>
            </a:extLst>
          </p:cNvPr>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1000" dirty="0">
                <a:solidFill>
                  <a:schemeClr val="tx1"/>
                </a:solidFill>
                <a:latin typeface="微软雅黑" panose="020B0503020204020204" pitchFamily="34" charset="-122"/>
                <a:ea typeface="微软雅黑" panose="020B0503020204020204" pitchFamily="34" charset="-122"/>
                <a:cs typeface="宋体"/>
              </a:rPr>
              <a:t>3</a:t>
            </a:r>
            <a:endParaRPr sz="1000" dirty="0">
              <a:solidFill>
                <a:schemeClr val="tx1"/>
              </a:solidFill>
              <a:latin typeface="微软雅黑" panose="020B0503020204020204" pitchFamily="34" charset="-122"/>
              <a:ea typeface="微软雅黑" panose="020B0503020204020204" pitchFamily="34" charset="-122"/>
              <a:cs typeface="宋体"/>
            </a:endParaRPr>
          </a:p>
        </p:txBody>
      </p:sp>
    </p:spTree>
    <p:extLst>
      <p:ext uri="{BB962C8B-B14F-4D97-AF65-F5344CB8AC3E}">
        <p14:creationId xmlns:p14="http://schemas.microsoft.com/office/powerpoint/2010/main" val="1780090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object 10">
            <a:extLst>
              <a:ext uri="{FF2B5EF4-FFF2-40B4-BE49-F238E27FC236}">
                <a16:creationId xmlns:a16="http://schemas.microsoft.com/office/drawing/2014/main" id="{6282C760-7DC4-44A2-B6FA-BE47D6E3B675}"/>
              </a:ext>
            </a:extLst>
          </p:cNvPr>
          <p:cNvSpPr txBox="1"/>
          <p:nvPr/>
        </p:nvSpPr>
        <p:spPr>
          <a:xfrm>
            <a:off x="482650" y="546100"/>
            <a:ext cx="2914600" cy="289823"/>
          </a:xfrm>
          <a:prstGeom prst="rect">
            <a:avLst/>
          </a:prstGeom>
        </p:spPr>
        <p:txBody>
          <a:bodyPr vert="horz" wrap="square" lIns="0" tIns="12700" rIns="0" bIns="0" rtlCol="0">
            <a:spAutoFit/>
          </a:bodyPr>
          <a:lstStyle/>
          <a:p>
            <a:r>
              <a:rPr lang="en-US" altLang="zh-CN" b="1" dirty="0">
                <a:solidFill>
                  <a:srgbClr val="C00000"/>
                </a:solidFill>
                <a:sym typeface="+mn-lt"/>
              </a:rPr>
              <a:t>Product Specifications</a:t>
            </a:r>
          </a:p>
        </p:txBody>
      </p:sp>
      <p:cxnSp>
        <p:nvCxnSpPr>
          <p:cNvPr id="107" name="直接连接符 106">
            <a:extLst>
              <a:ext uri="{FF2B5EF4-FFF2-40B4-BE49-F238E27FC236}">
                <a16:creationId xmlns:a16="http://schemas.microsoft.com/office/drawing/2014/main" id="{3FCB29A8-B6B7-411B-AFD3-D28E9A085A8E}"/>
              </a:ext>
            </a:extLst>
          </p:cNvPr>
          <p:cNvCxnSpPr>
            <a:cxnSpLocks/>
          </p:cNvCxnSpPr>
          <p:nvPr/>
        </p:nvCxnSpPr>
        <p:spPr>
          <a:xfrm>
            <a:off x="24214" y="1003300"/>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object 14">
            <a:extLst>
              <a:ext uri="{FF2B5EF4-FFF2-40B4-BE49-F238E27FC236}">
                <a16:creationId xmlns:a16="http://schemas.microsoft.com/office/drawing/2014/main" id="{C7524FBA-8123-49CD-8A4E-51185889CE28}"/>
              </a:ext>
            </a:extLst>
          </p:cNvPr>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1000" dirty="0">
                <a:solidFill>
                  <a:schemeClr val="tx1"/>
                </a:solidFill>
                <a:latin typeface="微软雅黑" panose="020B0503020204020204" pitchFamily="34" charset="-122"/>
                <a:ea typeface="微软雅黑" panose="020B0503020204020204" pitchFamily="34" charset="-122"/>
                <a:cs typeface="宋体"/>
              </a:rPr>
              <a:t>3</a:t>
            </a:r>
            <a:endParaRPr sz="1000" dirty="0">
              <a:solidFill>
                <a:schemeClr val="tx1"/>
              </a:solidFill>
              <a:latin typeface="微软雅黑" panose="020B0503020204020204" pitchFamily="34" charset="-122"/>
              <a:ea typeface="微软雅黑" panose="020B0503020204020204" pitchFamily="34" charset="-122"/>
              <a:cs typeface="宋体"/>
            </a:endParaRPr>
          </a:p>
        </p:txBody>
      </p:sp>
      <p:graphicFrame>
        <p:nvGraphicFramePr>
          <p:cNvPr id="3" name="表格 2">
            <a:extLst>
              <a:ext uri="{FF2B5EF4-FFF2-40B4-BE49-F238E27FC236}">
                <a16:creationId xmlns:a16="http://schemas.microsoft.com/office/drawing/2014/main" id="{F5C5039F-992F-4D27-A25A-80016EB29CEF}"/>
              </a:ext>
            </a:extLst>
          </p:cNvPr>
          <p:cNvGraphicFramePr>
            <a:graphicFrameLocks noGrp="1"/>
          </p:cNvGraphicFramePr>
          <p:nvPr>
            <p:extLst>
              <p:ext uri="{D42A27DB-BD31-4B8C-83A1-F6EECF244321}">
                <p14:modId xmlns:p14="http://schemas.microsoft.com/office/powerpoint/2010/main" val="1756332205"/>
              </p:ext>
            </p:extLst>
          </p:nvPr>
        </p:nvGraphicFramePr>
        <p:xfrm>
          <a:off x="271819" y="1140656"/>
          <a:ext cx="6697687" cy="8473238"/>
        </p:xfrm>
        <a:graphic>
          <a:graphicData uri="http://schemas.openxmlformats.org/drawingml/2006/table">
            <a:tbl>
              <a:tblPr/>
              <a:tblGrid>
                <a:gridCol w="1827536">
                  <a:extLst>
                    <a:ext uri="{9D8B030D-6E8A-4147-A177-3AD203B41FA5}">
                      <a16:colId xmlns:a16="http://schemas.microsoft.com/office/drawing/2014/main" val="4129338835"/>
                    </a:ext>
                  </a:extLst>
                </a:gridCol>
                <a:gridCol w="1172513">
                  <a:extLst>
                    <a:ext uri="{9D8B030D-6E8A-4147-A177-3AD203B41FA5}">
                      <a16:colId xmlns:a16="http://schemas.microsoft.com/office/drawing/2014/main" val="986442944"/>
                    </a:ext>
                  </a:extLst>
                </a:gridCol>
                <a:gridCol w="1987293">
                  <a:extLst>
                    <a:ext uri="{9D8B030D-6E8A-4147-A177-3AD203B41FA5}">
                      <a16:colId xmlns:a16="http://schemas.microsoft.com/office/drawing/2014/main" val="2530569088"/>
                    </a:ext>
                  </a:extLst>
                </a:gridCol>
                <a:gridCol w="1710345">
                  <a:extLst>
                    <a:ext uri="{9D8B030D-6E8A-4147-A177-3AD203B41FA5}">
                      <a16:colId xmlns:a16="http://schemas.microsoft.com/office/drawing/2014/main" val="3699749092"/>
                    </a:ext>
                  </a:extLst>
                </a:gridCol>
              </a:tblGrid>
              <a:tr h="249957">
                <a:tc rowSpan="2">
                  <a:txBody>
                    <a:bodyPr/>
                    <a:lstStyle/>
                    <a:p>
                      <a:pPr marL="107950" algn="ctr">
                        <a:lnSpc>
                          <a:spcPct val="100000"/>
                        </a:lnSpc>
                        <a:spcBef>
                          <a:spcPts val="240"/>
                        </a:spcBef>
                      </a:pPr>
                      <a:r>
                        <a:rPr lang="en-US" altLang="zh-CN" sz="1400" b="1" u="none" strike="noStrike" dirty="0">
                          <a:solidFill>
                            <a:schemeClr val="dk1"/>
                          </a:solidFill>
                          <a:effectLst/>
                          <a:latin typeface="Arial" panose="020B0604020202020204" pitchFamily="34" charset="0"/>
                          <a:ea typeface="+mn-ea"/>
                          <a:cs typeface="Arial" panose="020B0604020202020204" pitchFamily="34" charset="0"/>
                        </a:rPr>
                        <a:t>Category</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gridSpan="3">
                  <a:txBody>
                    <a:bodyPr/>
                    <a:lstStyle/>
                    <a:p>
                      <a:pPr algn="ctr" fontAlgn="ctr"/>
                      <a:r>
                        <a:rPr lang="en-US" sz="1400" b="1"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Specification</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978437521"/>
                  </a:ext>
                </a:extLst>
              </a:tr>
              <a:tr h="234524">
                <a:tc vMerge="1">
                  <a:txBody>
                    <a:bodyPr/>
                    <a:lstStyle/>
                    <a:p>
                      <a:endParaRPr lang="zh-CN" altLang="en-US"/>
                    </a:p>
                  </a:txBody>
                  <a:tcPr/>
                </a:tc>
                <a:tc>
                  <a:txBody>
                    <a:bodyPr/>
                    <a:lstStyle/>
                    <a:p>
                      <a:pPr algn="ctr" fontAlgn="ctr"/>
                      <a:r>
                        <a:rPr lang="en-US" sz="1400" b="1"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NE8000 X4</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400" b="1"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NE8000 X8</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400" b="1"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NE8000 X16</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8528257"/>
                  </a:ext>
                </a:extLst>
              </a:tr>
              <a:tr h="319358">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Rated input voltage [V]</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DC: -48/-60 V; AC: 200 V to 240 V; HVDC: 240 V/380 V</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4256154746"/>
                  </a:ext>
                </a:extLst>
              </a:tr>
              <a:tr h="319358">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Input voltage range [V]</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DC: -40~-72V; AC: 176 V to 290 V; HVDC: 188 V to 400V</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2963094360"/>
                  </a:ext>
                </a:extLst>
              </a:tr>
              <a:tr h="376634">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Maximum input current [A]</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it-IT"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DC: 58.5 A/single-module; AC: 16 A per module; HVDC: 14 A per module</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425366652"/>
                  </a:ext>
                </a:extLst>
              </a:tr>
              <a:tr h="376634">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Maximum input cable size [mm²]</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2.5 mm²</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2.5 mm²</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2.5 mm²</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1197365"/>
                  </a:ext>
                </a:extLst>
              </a:tr>
              <a:tr h="319358">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Heat dissipation mode</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Air cooling</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air cooling</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Air cooling</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4064389"/>
                  </a:ext>
                </a:extLst>
              </a:tr>
              <a:tr h="189015">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Airflow direction</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Front-to-back airflow</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Front-to-back airflow</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Front-to-back</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3407687"/>
                  </a:ext>
                </a:extLst>
              </a:tr>
              <a:tr h="189015">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Number of slots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14</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18</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24</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2464168"/>
                  </a:ext>
                </a:extLst>
              </a:tr>
              <a:tr h="418263">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Number of service board slots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4</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8</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16</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4993409"/>
                  </a:ext>
                </a:extLst>
              </a:tr>
              <a:tr h="564253">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Switching capacity</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41.89 Tbit/s; 173.15 Tbit/s (14.4T bundle)</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83.78 Tbit/s;14.4T bundle：346.3 Tbit/s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692.60 Tbit/s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297180"/>
                  </a:ext>
                </a:extLst>
              </a:tr>
              <a:tr h="189015">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Redundant MPUs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1:01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1:01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1:01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9032624"/>
                  </a:ext>
                </a:extLst>
              </a:tr>
              <a:tr h="368886">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Redundant Switch fabrics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7+1/3+1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7+1/3+1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7+1/3+1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3593775"/>
                  </a:ext>
                </a:extLst>
              </a:tr>
              <a:tr h="368886">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Redundant power supply</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Max6</a:t>
                      </a:r>
                      <a:r>
                        <a:rPr lang="en-US"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a:t>
                      </a: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N+1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Max10</a:t>
                      </a:r>
                      <a:r>
                        <a:rPr lang="en-US"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a:t>
                      </a: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N+1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Max20</a:t>
                      </a:r>
                      <a:r>
                        <a:rPr lang="en-US"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a:t>
                      </a: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N+1</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3231886"/>
                  </a:ext>
                </a:extLst>
              </a:tr>
              <a:tr h="476113">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Redundant fans</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 assemblies in support for proper fan operation in case of a single fan failure for a short period at 40°C (104°F)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 assemblies in support for proper fan operation in case of a single fan failure for a short period at 40°C (104°F)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Three module frames. The system can work for a short period of time when a single fan fails. (The operating temperature is 40°C.)</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5731955"/>
                  </a:ext>
                </a:extLst>
              </a:tr>
              <a:tr h="376634">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Long-term operating temperature [°C(°F)]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0 °C to 40 °C (32°F to 104°F)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3033282979"/>
                  </a:ext>
                </a:extLst>
              </a:tr>
              <a:tr h="431473">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Short-term operating temperature [°C(°F)]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-5 °C to 50 °C (23°F to 122°F)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716792938"/>
                  </a:ext>
                </a:extLst>
              </a:tr>
              <a:tr h="564253">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Restriction on the operating temperature variation rate [°C(°F)]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 30°C/hour (54°F/hour)</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2514985614"/>
                  </a:ext>
                </a:extLst>
              </a:tr>
              <a:tr h="376634">
                <a:tc>
                  <a:txBody>
                    <a:bodyPr/>
                    <a:lstStyle/>
                    <a:p>
                      <a:pPr algn="l"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Storage temperature [°C(°F)]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-40 °C to 70 °C(–40°F to 158°F)</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539785167"/>
                  </a:ext>
                </a:extLst>
              </a:tr>
              <a:tr h="376634">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Long-term operating relative humidity [RH]</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5% to 85%, non-condensing</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863542466"/>
                  </a:ext>
                </a:extLst>
              </a:tr>
              <a:tr h="376634">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Short-term operating relative humidity [RH]</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5% to 95% RH, non-condensing</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853265853"/>
                  </a:ext>
                </a:extLst>
              </a:tr>
              <a:tr h="376634">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Storage relative humidity [RH]</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5% to 95% RH, non-condensing</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809857813"/>
                  </a:ext>
                </a:extLst>
              </a:tr>
              <a:tr h="635073">
                <a:tc>
                  <a:txBody>
                    <a:bodyPr/>
                    <a:lstStyle/>
                    <a:p>
                      <a:pPr algn="l" fontAlgn="ctr"/>
                      <a:r>
                        <a:rPr lang="en-US" sz="12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Long-term operating altitude [m(ft.)]</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12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&lt;= 4000 m (13123.2 ft.) (For the altitude in the range of 1800 m to 4000 m [5905.44 ft. to 13123.2 ft.], the operating temperature of the NEU100 must decrease by 1°C [33.8°F] for every 220 m.)</a:t>
                      </a:r>
                    </a:p>
                  </a:txBody>
                  <a:tcPr marL="1360" marR="1360" marT="1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098099921"/>
                  </a:ext>
                </a:extLst>
              </a:tr>
            </a:tbl>
          </a:graphicData>
        </a:graphic>
      </p:graphicFrame>
    </p:spTree>
    <p:extLst>
      <p:ext uri="{BB962C8B-B14F-4D97-AF65-F5344CB8AC3E}">
        <p14:creationId xmlns:p14="http://schemas.microsoft.com/office/powerpoint/2010/main" val="153785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0">
            <a:extLst>
              <a:ext uri="{FF2B5EF4-FFF2-40B4-BE49-F238E27FC236}">
                <a16:creationId xmlns:a16="http://schemas.microsoft.com/office/drawing/2014/main" id="{36C8DBB3-DE20-47DC-907F-216A0FCA01C3}"/>
              </a:ext>
            </a:extLst>
          </p:cNvPr>
          <p:cNvSpPr txBox="1"/>
          <p:nvPr/>
        </p:nvSpPr>
        <p:spPr>
          <a:xfrm>
            <a:off x="501650" y="522977"/>
            <a:ext cx="2517042" cy="289823"/>
          </a:xfrm>
          <a:prstGeom prst="rect">
            <a:avLst/>
          </a:prstGeom>
        </p:spPr>
        <p:txBody>
          <a:bodyPr vert="horz" wrap="square" lIns="0" tIns="12700" rIns="0" bIns="0" rtlCol="0">
            <a:spAutoFit/>
          </a:bodyPr>
          <a:lstStyle/>
          <a:p>
            <a:pPr marL="12700">
              <a:spcBef>
                <a:spcPts val="100"/>
              </a:spcBef>
            </a:pPr>
            <a:r>
              <a:rPr lang="en-US" altLang="zh-CN" b="1" dirty="0">
                <a:solidFill>
                  <a:srgbClr val="C00000"/>
                </a:solidFill>
              </a:rPr>
              <a:t>Support Boards</a:t>
            </a:r>
          </a:p>
        </p:txBody>
      </p:sp>
      <p:graphicFrame>
        <p:nvGraphicFramePr>
          <p:cNvPr id="16" name="表格 15">
            <a:extLst>
              <a:ext uri="{FF2B5EF4-FFF2-40B4-BE49-F238E27FC236}">
                <a16:creationId xmlns:a16="http://schemas.microsoft.com/office/drawing/2014/main" id="{97018D04-E21D-4081-B1BE-A4D04E4BF439}"/>
              </a:ext>
            </a:extLst>
          </p:cNvPr>
          <p:cNvGraphicFramePr>
            <a:graphicFrameLocks noGrp="1"/>
          </p:cNvGraphicFramePr>
          <p:nvPr>
            <p:extLst>
              <p:ext uri="{D42A27DB-BD31-4B8C-83A1-F6EECF244321}">
                <p14:modId xmlns:p14="http://schemas.microsoft.com/office/powerpoint/2010/main" val="462630372"/>
              </p:ext>
            </p:extLst>
          </p:nvPr>
        </p:nvGraphicFramePr>
        <p:xfrm>
          <a:off x="501650" y="1308100"/>
          <a:ext cx="6400799" cy="7215497"/>
        </p:xfrm>
        <a:graphic>
          <a:graphicData uri="http://schemas.openxmlformats.org/drawingml/2006/table">
            <a:tbl>
              <a:tblPr firstRow="1" bandRow="1">
                <a:tableStyleId>{5C22544A-7EE6-4342-B048-85BDC9FD1C3A}</a:tableStyleId>
              </a:tblPr>
              <a:tblGrid>
                <a:gridCol w="1248552">
                  <a:extLst>
                    <a:ext uri="{9D8B030D-6E8A-4147-A177-3AD203B41FA5}">
                      <a16:colId xmlns:a16="http://schemas.microsoft.com/office/drawing/2014/main" val="2111793669"/>
                    </a:ext>
                  </a:extLst>
                </a:gridCol>
                <a:gridCol w="1249216">
                  <a:extLst>
                    <a:ext uri="{9D8B030D-6E8A-4147-A177-3AD203B41FA5}">
                      <a16:colId xmlns:a16="http://schemas.microsoft.com/office/drawing/2014/main" val="1894661001"/>
                    </a:ext>
                  </a:extLst>
                </a:gridCol>
                <a:gridCol w="3903031">
                  <a:extLst>
                    <a:ext uri="{9D8B030D-6E8A-4147-A177-3AD203B41FA5}">
                      <a16:colId xmlns:a16="http://schemas.microsoft.com/office/drawing/2014/main" val="1760222833"/>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spc="-10" dirty="0">
                          <a:solidFill>
                            <a:schemeClr val="tx1"/>
                          </a:solidFill>
                          <a:latin typeface="Arial" panose="020B0604020202020204" pitchFamily="34" charset="0"/>
                          <a:cs typeface="Arial" panose="020B0604020202020204" pitchFamily="34" charset="0"/>
                        </a:rPr>
                        <a:t>Category</a:t>
                      </a:r>
                      <a:endParaRPr lang="en-US" altLang="zh-CN" sz="14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dirty="0">
                          <a:solidFill>
                            <a:schemeClr val="tx1"/>
                          </a:solidFill>
                          <a:latin typeface="Arial" panose="020B0604020202020204" pitchFamily="34" charset="0"/>
                          <a:ea typeface="方正兰亭黑简体" panose="02000000000000000000" pitchFamily="2" charset="-122"/>
                          <a:cs typeface="Arial" panose="020B0604020202020204" pitchFamily="34" charset="0"/>
                        </a:rPr>
                        <a:t>Boards</a:t>
                      </a:r>
                      <a:endParaRPr lang="zh-CN" altLang="en-US" sz="1400" b="1" kern="1200" dirty="0">
                        <a:solidFill>
                          <a:schemeClr val="tx1"/>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spc="-10" dirty="0">
                          <a:solidFill>
                            <a:schemeClr val="tx1"/>
                          </a:solidFill>
                          <a:latin typeface="Arial" panose="020B0604020202020204" pitchFamily="34" charset="0"/>
                          <a:cs typeface="Arial" panose="020B0604020202020204" pitchFamily="34" charset="0"/>
                        </a:rPr>
                        <a:t>Description</a:t>
                      </a:r>
                      <a:endParaRPr lang="en-US" altLang="zh-CN" sz="14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536117666"/>
                  </a:ext>
                </a:extLst>
              </a:tr>
              <a:tr h="488569">
                <a:tc rowSpan="10">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微软雅黑" panose="020B0503020204020204" pitchFamily="34" charset="-122"/>
                          <a:cs typeface="Arial" panose="020B0604020202020204" pitchFamily="34" charset="0"/>
                        </a:rPr>
                        <a:t>Integrated Line Processing Unit</a:t>
                      </a:r>
                      <a:endParaRPr lang="zh-CN" altLang="en-US" sz="120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lang="en-US" altLang="zh-CN" sz="1200" dirty="0">
                        <a:solidFill>
                          <a:srgbClr val="231F20"/>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755934" rtl="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LPUI-1T3</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eaLnBrk="1" fontAlgn="ctr" latinLnBrk="0" hangingPunct="1">
                        <a:lnSpc>
                          <a:spcPct val="100000"/>
                        </a:lnSpc>
                        <a:spcBef>
                          <a:spcPct val="0"/>
                        </a:spcBef>
                        <a:spcAft>
                          <a:spcPct val="0"/>
                        </a:spcAft>
                        <a:buClrTx/>
                        <a:buSzTx/>
                        <a:buFontTx/>
                        <a:buNone/>
                        <a:tabLst/>
                        <a:defRPr/>
                      </a:pP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10*100GE QSFP28 MACsec + </a:t>
                      </a:r>
                      <a:r>
                        <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rPr>
                        <a:t>36*10GE(SFP+)/GE(SFP) </a:t>
                      </a:r>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rPr>
                        <a:t>MACsec</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362841"/>
                  </a:ext>
                </a:extLst>
              </a:tr>
              <a:tr h="293141">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1000" dirty="0">
                        <a:solidFill>
                          <a:srgbClr val="231F20"/>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LPUI-2T/</a:t>
                      </a:r>
                    </a:p>
                    <a:p>
                      <a:pPr marL="0" marR="0" lvl="0" indent="0" algn="l" defTabSz="914400" eaLnBrk="1" fontAlgn="auto" latinLnBrk="0" hangingPunct="1">
                        <a:lnSpc>
                          <a:spcPts val="900"/>
                        </a:lnSpc>
                        <a:spcBef>
                          <a:spcPts val="0"/>
                        </a:spcBef>
                        <a:spcAft>
                          <a:spcPts val="0"/>
                        </a:spcAft>
                        <a:buClrTx/>
                        <a:buSzTx/>
                        <a:buFontTx/>
                        <a:buNone/>
                        <a:tabLst/>
                        <a:defRPr/>
                      </a:pPr>
                      <a:endPar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p>
                      <a:pPr marL="0" marR="0" lvl="0" indent="0" algn="l" defTabSz="91440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LPUI-2T-E/</a:t>
                      </a:r>
                    </a:p>
                    <a:p>
                      <a:pPr marL="0" marR="0" lvl="0" indent="0" algn="l" defTabSz="914400" eaLnBrk="1" fontAlgn="auto" latinLnBrk="0" hangingPunct="1">
                        <a:lnSpc>
                          <a:spcPts val="900"/>
                        </a:lnSpc>
                        <a:spcBef>
                          <a:spcPts val="0"/>
                        </a:spcBef>
                        <a:spcAft>
                          <a:spcPts val="0"/>
                        </a:spcAft>
                        <a:buClrTx/>
                        <a:buSzTx/>
                        <a:buFontTx/>
                        <a:buNone/>
                        <a:tabLst/>
                        <a:defRPr/>
                      </a:pPr>
                      <a:endPar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p>
                      <a:pPr marL="0" marR="0" lvl="0" indent="0" algn="l" defTabSz="91440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LPUI-2T-L</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eaLnBrk="1" fontAlgn="ctr" latinLnBrk="0" hangingPunct="1">
                        <a:lnSpc>
                          <a:spcPct val="100000"/>
                        </a:lnSpc>
                        <a:spcBef>
                          <a:spcPct val="0"/>
                        </a:spcBef>
                        <a:spcAft>
                          <a:spcPct val="0"/>
                        </a:spcAft>
                        <a:buClrTx/>
                        <a:buSzTx/>
                        <a:buFontTx/>
                        <a:buNone/>
                        <a:tabLst/>
                        <a:defRPr/>
                      </a:pPr>
                      <a:r>
                        <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rPr>
                        <a:t>72*25GE(SFP28)/10GE(SFP+)/GE(SFP)</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4451121"/>
                  </a:ext>
                </a:extLst>
              </a:tr>
              <a:tr h="293141">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1000" dirty="0">
                        <a:solidFill>
                          <a:srgbClr val="231F20"/>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nSpc>
                          <a:spcPts val="1600"/>
                        </a:lnSpc>
                        <a:tabLst/>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034" fontAlgn="ctr">
                        <a:spcBef>
                          <a:spcPct val="0"/>
                        </a:spcBef>
                        <a:spcAft>
                          <a:spcPct val="0"/>
                        </a:spcAft>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20</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100GE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QSFP28</a:t>
                      </a:r>
                      <a:endPar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9976631"/>
                  </a:ext>
                </a:extLst>
              </a:tr>
              <a:tr h="293141">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1000" dirty="0">
                        <a:solidFill>
                          <a:srgbClr val="231F20"/>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defTabSz="914400" eaLnBrk="1" fontAlgn="auto" latinLnBrk="0" hangingPunct="1">
                        <a:lnSpc>
                          <a:spcPts val="1600"/>
                        </a:lnSpc>
                        <a:spcBef>
                          <a:spcPts val="0"/>
                        </a:spcBef>
                        <a:spcAft>
                          <a:spcPts val="0"/>
                        </a:spcAft>
                        <a:buClrTx/>
                        <a:buSzTx/>
                        <a:buFontTx/>
                        <a:buNone/>
                        <a:tabLst/>
                        <a:defRPr/>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eaLnBrk="1" fontAlgn="ctr" latinLnBrk="0" hangingPunct="1">
                        <a:lnSpc>
                          <a:spcPct val="100000"/>
                        </a:lnSpc>
                        <a:spcBef>
                          <a:spcPct val="0"/>
                        </a:spcBef>
                        <a:spcAft>
                          <a:spcPct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20</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100GE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QSFP28</a:t>
                      </a:r>
                      <a:r>
                        <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MACsec</a:t>
                      </a:r>
                      <a:endPar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6641073"/>
                  </a:ext>
                </a:extLst>
              </a:tr>
              <a:tr h="488569">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1000" dirty="0">
                        <a:solidFill>
                          <a:srgbClr val="231F20"/>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nSpc>
                          <a:spcPts val="1600"/>
                        </a:lnSpc>
                        <a:tabLst/>
                      </a:pPr>
                      <a:endParaRPr lang="zh-CN" altLang="en-US" sz="1000" dirty="0">
                        <a:solidFill>
                          <a:srgbClr val="231F20"/>
                        </a:solidFill>
                        <a:latin typeface="Huawei Sans" panose="020C0503030203020204"/>
                        <a:ea typeface="微软雅黑" panose="020B0503020204020204" pitchFamily="34" charset="-122"/>
                        <a:cs typeface="Times New Roman" pitchFamily="18"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eaLnBrk="1" fontAlgn="ctr" latinLnBrk="0" hangingPunct="1">
                        <a:lnSpc>
                          <a:spcPct val="100000"/>
                        </a:lnSpc>
                        <a:spcBef>
                          <a:spcPct val="0"/>
                        </a:spcBef>
                        <a:spcAft>
                          <a:spcPct val="0"/>
                        </a:spcAft>
                        <a:buClrTx/>
                        <a:buSzTx/>
                        <a:buFontTx/>
                        <a:buNone/>
                        <a:tabLst/>
                        <a:defRPr/>
                      </a:pP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10*100GE QSFP28+</a:t>
                      </a:r>
                      <a:r>
                        <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rPr>
                        <a:t>36*25GE(SFP28)/10GE(SFP+)/GE(SFP)</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3107794"/>
                  </a:ext>
                </a:extLst>
              </a:tr>
              <a:tr h="293141">
                <a:tc vMerge="1">
                  <a:txBody>
                    <a:bodyPr/>
                    <a:lstStyle/>
                    <a:p>
                      <a:pPr>
                        <a:lnSpc>
                          <a:spcPts val="900"/>
                        </a:lnSpc>
                        <a:tabLst/>
                      </a:pPr>
                      <a:endParaRPr lang="zh-CN" altLang="en-US" sz="1000" dirty="0">
                        <a:ln>
                          <a:noFill/>
                        </a:ln>
                        <a:solidFill>
                          <a:schemeClr val="tx1">
                            <a:lumMod val="95000"/>
                            <a:lumOff val="5000"/>
                          </a:schemeClr>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755934" rtl="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LPUI-4T/</a:t>
                      </a:r>
                    </a:p>
                    <a:p>
                      <a:pPr marL="0" marR="0" lvl="0" indent="0" algn="l" defTabSz="755934" rtl="0" eaLnBrk="1" fontAlgn="auto" latinLnBrk="0" hangingPunct="1">
                        <a:lnSpc>
                          <a:spcPts val="900"/>
                        </a:lnSpc>
                        <a:spcBef>
                          <a:spcPts val="0"/>
                        </a:spcBef>
                        <a:spcAft>
                          <a:spcPts val="0"/>
                        </a:spcAft>
                        <a:buClrTx/>
                        <a:buSzTx/>
                        <a:buFontTx/>
                        <a:buNone/>
                        <a:tabLst/>
                        <a:defRPr/>
                      </a:pPr>
                      <a:endPar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p>
                      <a:pPr marL="0" marR="0" lvl="0" indent="0" algn="l" defTabSz="755934" rtl="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LPUI-4T-E/</a:t>
                      </a:r>
                    </a:p>
                    <a:p>
                      <a:pPr marL="0" marR="0" lvl="0" indent="0" algn="l" defTabSz="755934" rtl="0" eaLnBrk="1" fontAlgn="auto" latinLnBrk="0" hangingPunct="1">
                        <a:lnSpc>
                          <a:spcPts val="900"/>
                        </a:lnSpc>
                        <a:spcBef>
                          <a:spcPts val="0"/>
                        </a:spcBef>
                        <a:spcAft>
                          <a:spcPts val="0"/>
                        </a:spcAft>
                        <a:buClrTx/>
                        <a:buSzTx/>
                        <a:buFontTx/>
                        <a:buNone/>
                        <a:tabLst/>
                        <a:defRPr/>
                      </a:pPr>
                      <a:endPar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p>
                      <a:pPr marL="0" marR="0" lvl="0" indent="0" algn="l" defTabSz="755934" rtl="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LPUI-4T-L</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8*400GE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QSFP-DD+8*100GE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QSFP28                                               </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6512080"/>
                  </a:ext>
                </a:extLst>
              </a:tr>
              <a:tr h="438501">
                <a:tc vMerge="1">
                  <a:txBody>
                    <a:bodyPr/>
                    <a:lstStyle/>
                    <a:p>
                      <a:pPr>
                        <a:lnSpc>
                          <a:spcPts val="900"/>
                        </a:lnSpc>
                        <a:tabLst/>
                      </a:pPr>
                      <a:endParaRPr lang="zh-CN" altLang="en-US" sz="1000" dirty="0">
                        <a:ln>
                          <a:noFill/>
                        </a:ln>
                        <a:solidFill>
                          <a:schemeClr val="tx1">
                            <a:lumMod val="95000"/>
                            <a:lumOff val="5000"/>
                          </a:schemeClr>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defTabSz="914400" eaLnBrk="1" fontAlgn="auto" latinLnBrk="0" hangingPunct="1">
                        <a:lnSpc>
                          <a:spcPts val="900"/>
                        </a:lnSpc>
                        <a:spcBef>
                          <a:spcPts val="0"/>
                        </a:spcBef>
                        <a:spcAft>
                          <a:spcPts val="0"/>
                        </a:spcAft>
                        <a:buClrTx/>
                        <a:buSzTx/>
                        <a:buFontTx/>
                        <a:buNone/>
                        <a:tabLst/>
                        <a:defRPr/>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4*400GE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QSFP-DD+24*100GE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QSFP28</a:t>
                      </a:r>
                      <a:endParaRPr lang="zh-CN" altLang="en-US" sz="1200" spc="40" baseline="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8251731"/>
                  </a:ext>
                </a:extLst>
              </a:tr>
              <a:tr h="308223">
                <a:tc vMerge="1">
                  <a:txBody>
                    <a:bodyPr/>
                    <a:lstStyle/>
                    <a:p>
                      <a:pPr algn="ctr">
                        <a:lnSpc>
                          <a:spcPct val="100000"/>
                        </a:lnSpc>
                        <a:tabLst/>
                      </a:pPr>
                      <a:endParaRPr lang="en-US" altLang="zh-CN" sz="1000" dirty="0">
                        <a:solidFill>
                          <a:srgbClr val="231F20"/>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LPUI-7T2</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18*400GE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QSFP-DD</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1621648"/>
                  </a:ext>
                </a:extLst>
              </a:tr>
              <a:tr h="308223">
                <a:tc vMerge="1">
                  <a:txBody>
                    <a:bodyPr/>
                    <a:lstStyle/>
                    <a:p>
                      <a:pPr algn="ctr">
                        <a:lnSpc>
                          <a:spcPct val="100000"/>
                        </a:lnSpc>
                        <a:tabLst/>
                      </a:pPr>
                      <a:endParaRPr lang="en-US" altLang="zh-CN" sz="1000" dirty="0">
                        <a:solidFill>
                          <a:srgbClr val="231F20"/>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LPUI-14T4</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36*400GE</a:t>
                      </a:r>
                      <a:r>
                        <a:rPr lang="en-US" altLang="zh-CN" sz="1200" spc="40" baseline="0" dirty="0">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QSFP-DD </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077514"/>
                  </a:ext>
                </a:extLst>
              </a:tr>
              <a:tr h="308223">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1000" dirty="0">
                        <a:solidFill>
                          <a:srgbClr val="231F20"/>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6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LPUI-19T2</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sv-SE" altLang="zh-CN" sz="1200" kern="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6 x 800GE QSFP-DD + 36 x 400GE QSFP-DD</a:t>
                      </a:r>
                      <a:endParaRPr lang="en-US" altLang="zh-CN" sz="1200" kern="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497344"/>
                  </a:ext>
                </a:extLst>
              </a:tr>
              <a:tr h="601928">
                <a:tc>
                  <a:txBody>
                    <a:bodyPr/>
                    <a:lstStyle/>
                    <a:p>
                      <a:pPr marL="0" algn="l">
                        <a:lnSpc>
                          <a:spcPts val="1600"/>
                        </a:lnSpc>
                        <a:tabLst/>
                      </a:pPr>
                      <a:r>
                        <a:rPr lang="en-US" altLang="zh-CN" sz="1200" dirty="0">
                          <a:solidFill>
                            <a:srgbClr val="231F20"/>
                          </a:solidFill>
                          <a:latin typeface="Arial" panose="020B0604020202020204" pitchFamily="34" charset="0"/>
                          <a:ea typeface="微软雅黑" panose="020B0503020204020204" pitchFamily="34" charset="-122"/>
                          <a:cs typeface="Arial" panose="020B0604020202020204" pitchFamily="34" charset="0"/>
                        </a:rPr>
                        <a:t>Integrated Service Unit</a:t>
                      </a:r>
                      <a:endParaRPr lang="zh-CN" altLang="en-US" sz="120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ts val="1600"/>
                        </a:lnSpc>
                        <a:tabLst/>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VSUI-400-E + CGN/IPSEC/SA</a:t>
                      </a:r>
                      <a:r>
                        <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 </a:t>
                      </a: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RTU</a:t>
                      </a:r>
                    </a:p>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MSUI-400-E + Data Redundancy Elimination RTU</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204333"/>
                  </a:ext>
                </a:extLst>
              </a:tr>
              <a:tr h="293141">
                <a:tc row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231F20"/>
                          </a:solidFill>
                          <a:latin typeface="Arial" panose="020B0604020202020204" pitchFamily="34" charset="0"/>
                          <a:ea typeface="微软雅黑" panose="020B0503020204020204" pitchFamily="34" charset="-122"/>
                          <a:cs typeface="Arial" panose="020B0604020202020204" pitchFamily="34" charset="0"/>
                        </a:rPr>
                        <a:t>Flexible Card</a:t>
                      </a:r>
                      <a:endParaRPr lang="zh-CN" altLang="en-US" sz="120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LPUF-1T/</a:t>
                      </a:r>
                    </a:p>
                    <a:p>
                      <a:pPr marL="0" marR="0" lvl="0" indent="0" algn="l" defTabSz="914400" eaLnBrk="1" fontAlgn="auto" latinLnBrk="0" hangingPunct="1">
                        <a:lnSpc>
                          <a:spcPts val="900"/>
                        </a:lnSpc>
                        <a:spcBef>
                          <a:spcPts val="0"/>
                        </a:spcBef>
                        <a:spcAft>
                          <a:spcPts val="0"/>
                        </a:spcAft>
                        <a:buClrTx/>
                        <a:buSzTx/>
                        <a:buFontTx/>
                        <a:buNone/>
                        <a:tabLst/>
                        <a:defRPr/>
                      </a:pPr>
                      <a:endPar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p>
                      <a:pPr marL="0" marR="0" lvl="0" indent="0" algn="l" defTabSz="914400" eaLnBrk="1" fontAlgn="auto" latinLnBrk="0" hangingPunct="1">
                        <a:lnSpc>
                          <a:spcPts val="9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LPUF-1T-E</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eaLnBrk="1" fontAlgn="ctr" latinLnBrk="0" hangingPunct="1">
                        <a:lnSpc>
                          <a:spcPct val="100000"/>
                        </a:lnSpc>
                        <a:spcBef>
                          <a:spcPct val="0"/>
                        </a:spcBef>
                        <a:spcAft>
                          <a:spcPct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P1T: 36*10GE SFP+; </a:t>
                      </a:r>
                      <a:r>
                        <a:rPr lang="sv-SE" altLang="zh-CN" sz="1200" b="0" kern="1200" dirty="0">
                          <a:solidFill>
                            <a:srgbClr val="C00000"/>
                          </a:solidFill>
                          <a:latin typeface="微软雅黑" panose="020B0503020204020204" pitchFamily="34" charset="-122"/>
                          <a:ea typeface="微软雅黑" panose="020B0503020204020204" pitchFamily="34" charset="-122"/>
                          <a:cs typeface="Times New Roman" pitchFamily="18" charset="0"/>
                        </a:rPr>
                        <a:t>1 x 400GE+1 x 100GE</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5050735"/>
                  </a:ext>
                </a:extLst>
              </a:tr>
              <a:tr h="293141">
                <a:tc vMerge="1">
                  <a:txBody>
                    <a:bodyPr/>
                    <a:lstStyle/>
                    <a:p>
                      <a:pPr>
                        <a:lnSpc>
                          <a:spcPts val="900"/>
                        </a:lnSpc>
                        <a:tabLst/>
                      </a:pPr>
                      <a:endParaRPr lang="zh-CN" altLang="en-US" sz="1000" dirty="0">
                        <a:ln>
                          <a:noFill/>
                        </a:ln>
                        <a:solidFill>
                          <a:schemeClr val="tx1">
                            <a:lumMod val="95000"/>
                            <a:lumOff val="5000"/>
                          </a:schemeClr>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nSpc>
                          <a:spcPts val="900"/>
                        </a:lnSpc>
                        <a:tabLst/>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034" fontAlgn="ctr">
                        <a:spcBef>
                          <a:spcPct val="0"/>
                        </a:spcBef>
                        <a:spcAft>
                          <a:spcPct val="0"/>
                        </a:spcAft>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P1T: 5*100GE  QSFP28</a:t>
                      </a:r>
                      <a:endPar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1164138"/>
                  </a:ext>
                </a:extLst>
              </a:tr>
              <a:tr h="488569">
                <a:tc vMerge="1">
                  <a:txBody>
                    <a:bodyPr/>
                    <a:lstStyle/>
                    <a:p>
                      <a:endParaRPr lang="zh-CN" altLang="en-US"/>
                    </a:p>
                  </a:txBody>
                  <a:tcPr/>
                </a:tc>
                <a:tc vMerge="1">
                  <a:txBody>
                    <a:bodyPr/>
                    <a:lstStyle/>
                    <a:p>
                      <a:pPr algn="ctr">
                        <a:lnSpc>
                          <a:spcPts val="900"/>
                        </a:lnSpc>
                        <a:tabLst/>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034" fontAlgn="ctr">
                        <a:spcBef>
                          <a:spcPct val="0"/>
                        </a:spcBef>
                        <a:spcAft>
                          <a:spcPct val="0"/>
                        </a:spcAft>
                      </a:pPr>
                      <a:r>
                        <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rPr>
                        <a:t>P1T: 10*10GE + 16*155M/16*622M/8*2.5G/2*10G POS</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5706978"/>
                  </a:ext>
                </a:extLst>
              </a:tr>
              <a:tr h="293141">
                <a:tc vMerge="1">
                  <a:txBody>
                    <a:bodyPr/>
                    <a:lstStyle/>
                    <a:p>
                      <a:pPr algn="ctr">
                        <a:lnSpc>
                          <a:spcPts val="1600"/>
                        </a:lnSpc>
                        <a:tabLst/>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en-US" altLang="zh-CN"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rPr>
                        <a:t>LPUF-2T</a:t>
                      </a:r>
                      <a:endParaRPr lang="zh-CN" altLang="en-US" sz="1200" dirty="0">
                        <a:ln>
                          <a:noFill/>
                        </a:ln>
                        <a:solidFill>
                          <a:schemeClr val="tx1">
                            <a:lumMod val="95000"/>
                            <a:lumOff val="5000"/>
                          </a:schemeClr>
                        </a:solidFill>
                        <a:latin typeface="Arial" panose="020B0604020202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eaLnBrk="1" fontAlgn="ctr" latinLnBrk="0" hangingPunct="1">
                        <a:lnSpc>
                          <a:spcPct val="100000"/>
                        </a:lnSpc>
                        <a:spcBef>
                          <a:spcPct val="0"/>
                        </a:spcBef>
                        <a:spcAft>
                          <a:spcPct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P1T: 36*10GE SFP+</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0433472"/>
                  </a:ext>
                </a:extLst>
              </a:tr>
              <a:tr h="293141">
                <a:tc vMerge="1">
                  <a:txBody>
                    <a:bodyPr/>
                    <a:lstStyle/>
                    <a:p>
                      <a:pPr>
                        <a:lnSpc>
                          <a:spcPts val="1600"/>
                        </a:lnSpc>
                        <a:tabLst/>
                      </a:pPr>
                      <a:endParaRPr lang="zh-CN" altLang="en-US" sz="1000" dirty="0">
                        <a:ln>
                          <a:noFill/>
                        </a:ln>
                        <a:solidFill>
                          <a:schemeClr val="tx1">
                            <a:lumMod val="95000"/>
                            <a:lumOff val="5000"/>
                          </a:schemeClr>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nSpc>
                          <a:spcPts val="1600"/>
                        </a:lnSpc>
                        <a:tabLst/>
                      </a:pPr>
                      <a:endParaRPr lang="zh-CN" altLang="en-US" sz="1000" dirty="0">
                        <a:solidFill>
                          <a:srgbClr val="231F20"/>
                        </a:solidFill>
                        <a:latin typeface="Huawei Sans" panose="020C0503030203020204"/>
                        <a:ea typeface="微软雅黑" panose="020B0503020204020204" pitchFamily="34" charset="-122"/>
                        <a:cs typeface="Times New Roman" pitchFamily="18"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034" fontAlgn="ctr">
                        <a:spcBef>
                          <a:spcPct val="0"/>
                        </a:spcBef>
                        <a:spcAft>
                          <a:spcPct val="0"/>
                        </a:spcAft>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P1T: 5*100GE  QSFP28</a:t>
                      </a:r>
                      <a:endParaRPr lang="sv-SE"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1296984"/>
                  </a:ext>
                </a:extLst>
              </a:tr>
              <a:tr h="293141">
                <a:tc vMerge="1">
                  <a:txBody>
                    <a:bodyPr/>
                    <a:lstStyle/>
                    <a:p>
                      <a:pPr>
                        <a:lnSpc>
                          <a:spcPts val="1600"/>
                        </a:lnSpc>
                        <a:tabLst/>
                      </a:pPr>
                      <a:endParaRPr lang="zh-CN" altLang="en-US" sz="1000" dirty="0">
                        <a:ln>
                          <a:noFill/>
                        </a:ln>
                        <a:solidFill>
                          <a:schemeClr val="tx1">
                            <a:lumMod val="95000"/>
                            <a:lumOff val="5000"/>
                          </a:schemeClr>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a:lnSpc>
                          <a:spcPts val="1600"/>
                        </a:lnSpc>
                        <a:tabLst/>
                      </a:pPr>
                      <a:endParaRPr lang="zh-CN" altLang="en-US" sz="1000" dirty="0">
                        <a:solidFill>
                          <a:srgbClr val="231F20"/>
                        </a:solidFill>
                        <a:latin typeface="Huawei Sans" panose="020C0503030203020204"/>
                        <a:ea typeface="微软雅黑" panose="020B0503020204020204" pitchFamily="34" charset="-122"/>
                        <a:cs typeface="Times New Roman" pitchFamily="18"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P2T: 10*100GE QSFP28</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6327594"/>
                  </a:ext>
                </a:extLst>
              </a:tr>
              <a:tr h="308223">
                <a:tc vMerge="1">
                  <a:txBody>
                    <a:bodyPr/>
                    <a:lstStyle/>
                    <a:p>
                      <a:pPr algn="ctr">
                        <a:lnSpc>
                          <a:spcPct val="100000"/>
                        </a:lnSpc>
                        <a:tabLst/>
                      </a:pPr>
                      <a:endParaRPr lang="en-US" altLang="zh-CN" sz="1000" dirty="0">
                        <a:solidFill>
                          <a:srgbClr val="231F20"/>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nSpc>
                          <a:spcPts val="1600"/>
                        </a:lnSpc>
                        <a:tabLst/>
                      </a:pPr>
                      <a:endParaRPr lang="zh-CN" altLang="en-US" sz="1000" dirty="0">
                        <a:ln>
                          <a:noFill/>
                        </a:ln>
                        <a:solidFill>
                          <a:schemeClr val="tx1">
                            <a:lumMod val="95000"/>
                            <a:lumOff val="5000"/>
                          </a:schemeClr>
                        </a:solidFill>
                        <a:latin typeface="Huawei Sans" panose="020C0503030203020204"/>
                        <a:ea typeface="方正兰亭黑简体" panose="02000000000000000000" pitchFamily="2"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auto" latinLnBrk="0" hangingPunct="1">
                        <a:lnSpc>
                          <a:spcPts val="1600"/>
                        </a:lnSpc>
                        <a:spcBef>
                          <a:spcPts val="0"/>
                        </a:spcBef>
                        <a:spcAft>
                          <a:spcPts val="0"/>
                        </a:spcAft>
                        <a:buClrTx/>
                        <a:buSzTx/>
                        <a:buFontTx/>
                        <a:buNone/>
                        <a:tabLst/>
                        <a:defRPr/>
                      </a:pPr>
                      <a:r>
                        <a:rPr lang="en-US" altLang="zh-CN"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rPr>
                        <a:t>P2T: 2*400GE QSFP-DD+2*100GE QSFP28</a:t>
                      </a:r>
                      <a:endParaRPr lang="zh-CN" altLang="en-US" sz="1200" spc="40" baseline="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5288196"/>
                  </a:ext>
                </a:extLst>
              </a:tr>
              <a:tr h="308223">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50" dirty="0">
                        <a:solidFill>
                          <a:srgbClr val="231F20"/>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40" baseline="0" dirty="0">
                          <a:solidFill>
                            <a:srgbClr val="231F20"/>
                          </a:solidFill>
                          <a:latin typeface="微软雅黑" panose="020B0503020204020204" pitchFamily="34" charset="-122"/>
                          <a:ea typeface="微软雅黑" panose="020B0503020204020204" pitchFamily="34" charset="-122"/>
                          <a:cs typeface="Times New Roman" pitchFamily="18" charset="0"/>
                        </a:rPr>
                        <a:t>LPUF-6T4</a:t>
                      </a:r>
                      <a:endParaRPr lang="zh-CN" altLang="en-US" sz="1200" dirty="0">
                        <a:ln>
                          <a:noFill/>
                        </a:ln>
                        <a:solidFill>
                          <a:schemeClr val="tx1">
                            <a:lumMod val="95000"/>
                            <a:lumOff val="5000"/>
                          </a:schemeClr>
                        </a:solidFill>
                        <a:latin typeface="微软雅黑" panose="020B0503020204020204" pitchFamily="34" charset="-122"/>
                        <a:ea typeface="微软雅黑" panose="020B0503020204020204" pitchFamily="34" charset="-122"/>
                        <a:cs typeface="Huawei Sans" panose="020C0503030203020204" pitchFamily="34"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altLang="zh-CN" sz="1200" b="0" kern="1200" dirty="0">
                          <a:solidFill>
                            <a:schemeClr val="tx1"/>
                          </a:solidFill>
                          <a:latin typeface="微软雅黑" panose="020B0503020204020204" pitchFamily="34" charset="-122"/>
                          <a:ea typeface="微软雅黑" panose="020B0503020204020204" pitchFamily="34" charset="-122"/>
                          <a:cs typeface="Times New Roman" pitchFamily="18" charset="0"/>
                        </a:rPr>
                        <a:t>4 x 400GE QSFP-DD +16 x 100GE QSFP28;</a:t>
                      </a:r>
                    </a:p>
                    <a:p>
                      <a:pPr marL="0" marR="0" lvl="0" indent="0" algn="l" defTabSz="914400" rtl="0" eaLnBrk="1" fontAlgn="auto" latinLnBrk="0" hangingPunct="1">
                        <a:lnSpc>
                          <a:spcPct val="100000"/>
                        </a:lnSpc>
                        <a:spcBef>
                          <a:spcPts val="0"/>
                        </a:spcBef>
                        <a:spcAft>
                          <a:spcPts val="0"/>
                        </a:spcAft>
                        <a:buClrTx/>
                        <a:buSzTx/>
                        <a:buFontTx/>
                        <a:buNone/>
                        <a:tabLst/>
                        <a:defRPr/>
                      </a:pPr>
                      <a:r>
                        <a:rPr lang="sv-SE" altLang="zh-CN" sz="1200" b="0" kern="1200" dirty="0">
                          <a:solidFill>
                            <a:srgbClr val="C00000"/>
                          </a:solidFill>
                          <a:latin typeface="微软雅黑" panose="020B0503020204020204" pitchFamily="34" charset="-122"/>
                          <a:ea typeface="微软雅黑" panose="020B0503020204020204" pitchFamily="34" charset="-122"/>
                          <a:cs typeface="Times New Roman" pitchFamily="18" charset="0"/>
                        </a:rPr>
                        <a:t>8 x 400GE QSFP-DD ;24 x 100GE  QSFP28</a:t>
                      </a:r>
                      <a:endParaRPr lang="en-US" altLang="zh-CN" sz="1200" b="0"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9581752"/>
                  </a:ext>
                </a:extLst>
              </a:tr>
            </a:tbl>
          </a:graphicData>
        </a:graphic>
      </p:graphicFrame>
      <p:cxnSp>
        <p:nvCxnSpPr>
          <p:cNvPr id="17" name="直接连接符 16">
            <a:extLst>
              <a:ext uri="{FF2B5EF4-FFF2-40B4-BE49-F238E27FC236}">
                <a16:creationId xmlns:a16="http://schemas.microsoft.com/office/drawing/2014/main" id="{90E4A3C7-4A40-405C-9D83-231EF52A13EB}"/>
              </a:ext>
            </a:extLst>
          </p:cNvPr>
          <p:cNvCxnSpPr>
            <a:cxnSpLocks/>
          </p:cNvCxnSpPr>
          <p:nvPr/>
        </p:nvCxnSpPr>
        <p:spPr>
          <a:xfrm>
            <a:off x="24214" y="1003300"/>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object 14">
            <a:extLst>
              <a:ext uri="{FF2B5EF4-FFF2-40B4-BE49-F238E27FC236}">
                <a16:creationId xmlns:a16="http://schemas.microsoft.com/office/drawing/2014/main" id="{C596F9D9-BDCD-45DE-A909-4B3BDB9E24B5}"/>
              </a:ext>
            </a:extLst>
          </p:cNvPr>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1000" dirty="0">
                <a:solidFill>
                  <a:schemeClr val="tx1"/>
                </a:solidFill>
                <a:latin typeface="微软雅黑" panose="020B0503020204020204" pitchFamily="34" charset="-122"/>
                <a:ea typeface="微软雅黑" panose="020B0503020204020204" pitchFamily="34" charset="-122"/>
                <a:cs typeface="宋体"/>
              </a:rPr>
              <a:t>5</a:t>
            </a:r>
            <a:endParaRPr sz="1000" dirty="0">
              <a:solidFill>
                <a:schemeClr val="tx1"/>
              </a:solidFill>
              <a:latin typeface="微软雅黑" panose="020B0503020204020204" pitchFamily="34" charset="-122"/>
              <a:ea typeface="微软雅黑" panose="020B0503020204020204" pitchFamily="34" charset="-122"/>
              <a:cs typeface="宋体"/>
            </a:endParaRPr>
          </a:p>
        </p:txBody>
      </p:sp>
    </p:spTree>
    <p:extLst>
      <p:ext uri="{BB962C8B-B14F-4D97-AF65-F5344CB8AC3E}">
        <p14:creationId xmlns:p14="http://schemas.microsoft.com/office/powerpoint/2010/main" val="2082072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6097" y="546100"/>
            <a:ext cx="2566353" cy="289823"/>
          </a:xfrm>
          <a:prstGeom prst="rect">
            <a:avLst/>
          </a:prstGeom>
        </p:spPr>
        <p:txBody>
          <a:bodyPr vert="horz" wrap="square" lIns="0" tIns="12700" rIns="0" bIns="0" rtlCol="0">
            <a:spAutoFit/>
          </a:bodyPr>
          <a:lstStyle/>
          <a:p>
            <a:pPr algn="l">
              <a:spcBef>
                <a:spcPts val="1200"/>
              </a:spcBef>
              <a:spcAft>
                <a:spcPts val="300"/>
              </a:spcAft>
            </a:pPr>
            <a:r>
              <a:rPr lang="en-US" altLang="zh-CN" sz="1800" b="1" kern="100" dirty="0">
                <a:solidFill>
                  <a:srgbClr val="C00000"/>
                </a:solidFill>
                <a:effectLst/>
                <a:latin typeface="Arial" panose="020B0604020202020204" pitchFamily="34" charset="0"/>
                <a:ea typeface="Arial" panose="020B0604020202020204" pitchFamily="34" charset="0"/>
                <a:cs typeface="Arial" panose="020B0604020202020204" pitchFamily="34" charset="0"/>
              </a:rPr>
              <a:t>More Information</a:t>
            </a:r>
            <a:endParaRPr lang="zh-CN" altLang="zh-CN" sz="1800" b="1" kern="100" dirty="0">
              <a:solidFill>
                <a:srgbClr val="C00000"/>
              </a:solidFill>
              <a:effectLst/>
              <a:latin typeface="Arial" panose="020B0604020202020204" pitchFamily="34" charset="0"/>
              <a:ea typeface="Arial" panose="020B0604020202020204" pitchFamily="34" charset="0"/>
              <a:cs typeface="Arial" panose="020B0604020202020204" pitchFamily="34" charset="0"/>
            </a:endParaRPr>
          </a:p>
        </p:txBody>
      </p:sp>
      <p:sp>
        <p:nvSpPr>
          <p:cNvPr id="3" name="object 3"/>
          <p:cNvSpPr txBox="1"/>
          <p:nvPr/>
        </p:nvSpPr>
        <p:spPr>
          <a:xfrm>
            <a:off x="749185" y="656624"/>
            <a:ext cx="6131422" cy="1690206"/>
          </a:xfrm>
          <a:prstGeom prst="rect">
            <a:avLst/>
          </a:prstGeom>
        </p:spPr>
        <p:txBody>
          <a:bodyPr vert="horz" wrap="square" lIns="0" tIns="15240" rIns="0" bIns="0" rtlCol="0">
            <a:spAutoFit/>
          </a:bodyPr>
          <a:lstStyle/>
          <a:p>
            <a:pPr marL="281940" indent="-269875">
              <a:lnSpc>
                <a:spcPct val="100000"/>
              </a:lnSpc>
              <a:spcBef>
                <a:spcPts val="875"/>
              </a:spcBef>
              <a:buFont typeface="Wingdings"/>
              <a:buChar char=""/>
              <a:tabLst>
                <a:tab pos="281940" algn="l"/>
                <a:tab pos="282575" algn="l"/>
              </a:tabLst>
            </a:pPr>
            <a:endParaRPr lang="en-US" altLang="zh-CN" sz="900" spc="-10" dirty="0">
              <a:solidFill>
                <a:srgbClr val="0000FF"/>
              </a:solidFill>
              <a:latin typeface="Arial" panose="020B0604020202020204" pitchFamily="34" charset="0"/>
              <a:cs typeface="Arial" panose="020B0604020202020204" pitchFamily="34" charset="0"/>
            </a:endParaRPr>
          </a:p>
          <a:p>
            <a:pPr>
              <a:lnSpc>
                <a:spcPts val="1200"/>
              </a:lnSpc>
              <a:spcBef>
                <a:spcPts val="800"/>
              </a:spcBef>
              <a:spcAft>
                <a:spcPts val="800"/>
              </a:spcAft>
            </a:pPr>
            <a:r>
              <a:rPr lang="en-US" altLang="zh-CN" sz="1000" kern="100" dirty="0">
                <a:effectLst/>
                <a:latin typeface="Arial" panose="020B0604020202020204" pitchFamily="34" charset="0"/>
                <a:ea typeface="Arial" panose="020B0604020202020204" pitchFamily="34" charset="0"/>
                <a:cs typeface="Arial" panose="020B0604020202020204" pitchFamily="34" charset="0"/>
              </a:rPr>
              <a:t>For more information about the </a:t>
            </a:r>
            <a:r>
              <a:rPr lang="en-US" altLang="zh-CN" sz="1000" kern="100" dirty="0" err="1">
                <a:effectLst/>
                <a:latin typeface="Arial" panose="020B0604020202020204" pitchFamily="34" charset="0"/>
                <a:ea typeface="Arial" panose="020B0604020202020204" pitchFamily="34" charset="0"/>
                <a:cs typeface="Arial" panose="020B0604020202020204" pitchFamily="34" charset="0"/>
              </a:rPr>
              <a:t>NetEngine</a:t>
            </a:r>
            <a:r>
              <a:rPr lang="en-US" altLang="zh-CN" sz="1000" kern="100" dirty="0">
                <a:effectLst/>
                <a:latin typeface="Arial" panose="020B0604020202020204" pitchFamily="34" charset="0"/>
                <a:ea typeface="Arial" panose="020B0604020202020204" pitchFamily="34" charset="0"/>
                <a:cs typeface="Arial" panose="020B0604020202020204" pitchFamily="34" charset="0"/>
              </a:rPr>
              <a:t> 8000 X Series Routers, visit </a:t>
            </a:r>
            <a:r>
              <a:rPr lang="en-US" altLang="zh-CN" sz="1000" u="none" strike="noStrike" kern="100" dirty="0">
                <a:solidFill>
                  <a:srgbClr val="0000FF"/>
                </a:solidFill>
                <a:effectLst/>
                <a:latin typeface="Arial" panose="020B0604020202020204" pitchFamily="34" charset="0"/>
                <a:ea typeface="Arial" panose="020B0604020202020204" pitchFamily="34" charset="0"/>
                <a:cs typeface="Arial" panose="020B0604020202020204" pitchFamily="34" charset="0"/>
                <a:hlinkClick r:id="rId2"/>
              </a:rPr>
              <a:t>https://e.huawei.com</a:t>
            </a:r>
            <a:r>
              <a:rPr lang="en-US" altLang="zh-CN" sz="1000" kern="100" dirty="0">
                <a:effectLst/>
                <a:latin typeface="Arial" panose="020B0604020202020204" pitchFamily="34" charset="0"/>
                <a:ea typeface="Arial" panose="020B0604020202020204" pitchFamily="34" charset="0"/>
                <a:cs typeface="Arial" panose="020B0604020202020204" pitchFamily="34" charset="0"/>
              </a:rPr>
              <a:t>or contact us in the following ways:</a:t>
            </a:r>
            <a:endParaRPr lang="zh-CN" altLang="zh-CN" sz="1000" kern="1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fontAlgn="base">
              <a:lnSpc>
                <a:spcPts val="1200"/>
              </a:lnSpc>
              <a:spcBef>
                <a:spcPts val="400"/>
              </a:spcBef>
              <a:spcAft>
                <a:spcPts val="400"/>
              </a:spcAft>
              <a:buSzPts val="900"/>
              <a:buFont typeface="Wingdings" panose="05000000000000000000" pitchFamily="2" charset="2"/>
              <a:buChar char=""/>
              <a:tabLst>
                <a:tab pos="269875" algn="l"/>
              </a:tabLst>
            </a:pPr>
            <a:r>
              <a:rPr lang="en-US" altLang="zh-CN" sz="1000" u="none" strike="noStrike" kern="100" spc="0" dirty="0">
                <a:effectLst/>
                <a:latin typeface="Arial" panose="020B0604020202020204" pitchFamily="34" charset="0"/>
                <a:ea typeface="宋体" panose="02010600030101010101" pitchFamily="2" charset="-122"/>
                <a:cs typeface="Arial" panose="020B0604020202020204" pitchFamily="34" charset="0"/>
              </a:rPr>
              <a:t>Global service hotline: </a:t>
            </a:r>
            <a:r>
              <a:rPr lang="en-US" altLang="zh-CN" sz="1000" u="none" strike="noStrike" kern="100" spc="0" dirty="0">
                <a:solidFill>
                  <a:srgbClr val="0000FF"/>
                </a:solidFill>
                <a:effectLst/>
                <a:latin typeface="Arial" panose="020B0604020202020204" pitchFamily="34" charset="0"/>
                <a:ea typeface="宋体" panose="02010600030101010101" pitchFamily="2" charset="-122"/>
                <a:cs typeface="Arial" panose="020B0604020202020204" pitchFamily="34" charset="0"/>
                <a:hlinkClick r:id="rId3"/>
              </a:rPr>
              <a:t>http://e.huawei.com/en/service-hotline</a:t>
            </a:r>
            <a:endParaRPr lang="zh-CN" altLang="zh-CN" sz="1000" u="none" strike="noStrike" kern="100" spc="0" dirty="0">
              <a:effectLst/>
              <a:latin typeface="Arial" panose="020B0604020202020204" pitchFamily="34" charset="0"/>
              <a:ea typeface="宋体" panose="02010600030101010101" pitchFamily="2" charset="-122"/>
              <a:cs typeface="Arial" panose="020B0604020202020204" pitchFamily="34" charset="0"/>
            </a:endParaRPr>
          </a:p>
          <a:p>
            <a:pPr marL="342900" lvl="0" indent="-342900" fontAlgn="base">
              <a:lnSpc>
                <a:spcPts val="1200"/>
              </a:lnSpc>
              <a:spcBef>
                <a:spcPts val="400"/>
              </a:spcBef>
              <a:spcAft>
                <a:spcPts val="400"/>
              </a:spcAft>
              <a:buSzPts val="900"/>
              <a:buFont typeface="Wingdings" panose="05000000000000000000" pitchFamily="2" charset="2"/>
              <a:buChar char=""/>
              <a:tabLst>
                <a:tab pos="269875" algn="l"/>
              </a:tabLst>
            </a:pPr>
            <a:r>
              <a:rPr lang="en-US" altLang="zh-CN" sz="1000" u="none" strike="noStrike" kern="100" spc="0" dirty="0">
                <a:effectLst/>
                <a:latin typeface="Arial" panose="020B0604020202020204" pitchFamily="34" charset="0"/>
                <a:ea typeface="宋体" panose="02010600030101010101" pitchFamily="2" charset="-122"/>
                <a:cs typeface="Arial" panose="020B0604020202020204" pitchFamily="34" charset="0"/>
              </a:rPr>
              <a:t>Logging into the Huawei Enterprise technical support web: </a:t>
            </a:r>
            <a:r>
              <a:rPr lang="en-US" altLang="zh-CN" sz="1000" u="none" strike="noStrike" kern="100" spc="0" dirty="0">
                <a:solidFill>
                  <a:srgbClr val="0000FF"/>
                </a:solidFill>
                <a:effectLst/>
                <a:latin typeface="Arial" panose="020B0604020202020204" pitchFamily="34" charset="0"/>
                <a:ea typeface="宋体" panose="02010600030101010101" pitchFamily="2" charset="-122"/>
                <a:cs typeface="Arial" panose="020B0604020202020204" pitchFamily="34" charset="0"/>
                <a:hlinkClick r:id="rId4"/>
              </a:rPr>
              <a:t>https://support.huawei.com/enterprise/</a:t>
            </a:r>
            <a:endParaRPr lang="zh-CN" altLang="zh-CN" sz="1000" u="none" strike="noStrike" kern="100" spc="0" dirty="0">
              <a:effectLst/>
              <a:latin typeface="Arial" panose="020B0604020202020204" pitchFamily="34" charset="0"/>
              <a:ea typeface="宋体" panose="02010600030101010101" pitchFamily="2" charset="-122"/>
              <a:cs typeface="Arial" panose="020B0604020202020204" pitchFamily="34" charset="0"/>
            </a:endParaRPr>
          </a:p>
          <a:p>
            <a:pPr marL="342900" lvl="0" indent="-342900" fontAlgn="base">
              <a:lnSpc>
                <a:spcPts val="1200"/>
              </a:lnSpc>
              <a:spcBef>
                <a:spcPts val="400"/>
              </a:spcBef>
              <a:spcAft>
                <a:spcPts val="400"/>
              </a:spcAft>
              <a:buSzPts val="900"/>
              <a:buFont typeface="Wingdings" panose="05000000000000000000" pitchFamily="2" charset="2"/>
              <a:buChar char=""/>
              <a:tabLst>
                <a:tab pos="269875" algn="l"/>
              </a:tabLst>
            </a:pPr>
            <a:r>
              <a:rPr lang="en-US" altLang="zh-CN" sz="1000" u="none" strike="noStrike" kern="100" spc="0" dirty="0">
                <a:effectLst/>
                <a:latin typeface="Arial" panose="020B0604020202020204" pitchFamily="34" charset="0"/>
                <a:ea typeface="宋体" panose="02010600030101010101" pitchFamily="2" charset="-122"/>
                <a:cs typeface="Arial" panose="020B0604020202020204" pitchFamily="34" charset="0"/>
              </a:rPr>
              <a:t>Sending an email to the customer service mailbox: </a:t>
            </a:r>
            <a:r>
              <a:rPr lang="en-US" altLang="zh-CN" sz="1000" u="none" strike="noStrike" kern="100" spc="0" dirty="0">
                <a:solidFill>
                  <a:srgbClr val="0000FF"/>
                </a:solidFill>
                <a:effectLst/>
                <a:latin typeface="Arial" panose="020B0604020202020204" pitchFamily="34" charset="0"/>
                <a:ea typeface="宋体" panose="02010600030101010101" pitchFamily="2" charset="-122"/>
                <a:cs typeface="Arial" panose="020B0604020202020204" pitchFamily="34" charset="0"/>
                <a:hlinkClick r:id="rId5"/>
              </a:rPr>
              <a:t>support_e@huawei.com</a:t>
            </a:r>
            <a:endParaRPr lang="zh-CN" altLang="zh-CN" sz="1000" u="none" strike="noStrike" kern="100" spc="0" dirty="0">
              <a:effectLst/>
              <a:latin typeface="Arial" panose="020B0604020202020204" pitchFamily="34" charset="0"/>
              <a:ea typeface="宋体" panose="02010600030101010101" pitchFamily="2" charset="-122"/>
              <a:cs typeface="Arial" panose="020B0604020202020204" pitchFamily="34" charset="0"/>
            </a:endParaRPr>
          </a:p>
          <a:p>
            <a:pPr marL="281940" indent="-269875">
              <a:lnSpc>
                <a:spcPct val="100000"/>
              </a:lnSpc>
              <a:spcBef>
                <a:spcPts val="875"/>
              </a:spcBef>
              <a:buFont typeface="Wingdings"/>
              <a:buChar char=""/>
              <a:tabLst>
                <a:tab pos="281940" algn="l"/>
                <a:tab pos="282575" algn="l"/>
              </a:tabLst>
            </a:pPr>
            <a:endParaRPr lang="zh-CN" altLang="en-US" sz="900" dirty="0">
              <a:latin typeface="Arial" panose="020B0604020202020204" pitchFamily="34" charset="0"/>
              <a:cs typeface="Arial" panose="020B0604020202020204" pitchFamily="34"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4255187611"/>
              </p:ext>
            </p:extLst>
          </p:nvPr>
        </p:nvGraphicFramePr>
        <p:xfrm>
          <a:off x="749184" y="2346830"/>
          <a:ext cx="6445367" cy="3685670"/>
        </p:xfrm>
        <a:graphic>
          <a:graphicData uri="http://schemas.openxmlformats.org/drawingml/2006/table">
            <a:tbl>
              <a:tblPr firstRow="1" bandRow="1">
                <a:tableStyleId>{2D5ABB26-0587-4C30-8999-92F81FD0307C}</a:tableStyleId>
              </a:tblPr>
              <a:tblGrid>
                <a:gridCol w="4591575">
                  <a:extLst>
                    <a:ext uri="{9D8B030D-6E8A-4147-A177-3AD203B41FA5}">
                      <a16:colId xmlns:a16="http://schemas.microsoft.com/office/drawing/2014/main" val="20000"/>
                    </a:ext>
                  </a:extLst>
                </a:gridCol>
                <a:gridCol w="1853792">
                  <a:extLst>
                    <a:ext uri="{9D8B030D-6E8A-4147-A177-3AD203B41FA5}">
                      <a16:colId xmlns:a16="http://schemas.microsoft.com/office/drawing/2014/main" val="20001"/>
                    </a:ext>
                  </a:extLst>
                </a:gridCol>
              </a:tblGrid>
              <a:tr h="3685670">
                <a:tc>
                  <a:txBody>
                    <a:bodyPr/>
                    <a:lstStyle/>
                    <a:p>
                      <a:r>
                        <a:rPr lang="en-US" altLang="zh-CN" sz="900" b="1" dirty="0">
                          <a:solidFill>
                            <a:schemeClr val="tx1"/>
                          </a:solidFill>
                          <a:effectLst/>
                          <a:latin typeface="Arial" panose="020B0604020202020204" pitchFamily="34" charset="0"/>
                          <a:ea typeface="+mn-ea"/>
                          <a:cs typeface="Arial" panose="020B0604020202020204" pitchFamily="34" charset="0"/>
                        </a:rPr>
                        <a:t>Copyright © Huawei Technologies Co., Ltd. 2022. All rights reserved.</a:t>
                      </a:r>
                      <a:endParaRPr lang="zh-CN" altLang="zh-CN" sz="900" dirty="0">
                        <a:solidFill>
                          <a:schemeClr val="tx1"/>
                        </a:solidFill>
                        <a:effectLst/>
                        <a:latin typeface="Arial" panose="020B0604020202020204" pitchFamily="34" charset="0"/>
                        <a:ea typeface="+mn-ea"/>
                        <a:cs typeface="Arial" panose="020B0604020202020204" pitchFamily="34" charset="0"/>
                      </a:endParaRPr>
                    </a:p>
                    <a:p>
                      <a:r>
                        <a:rPr lang="en-US" altLang="zh-CN" sz="900" dirty="0">
                          <a:solidFill>
                            <a:schemeClr val="tx1"/>
                          </a:solidFill>
                          <a:effectLst/>
                          <a:latin typeface="Arial" panose="020B0604020202020204" pitchFamily="34" charset="0"/>
                          <a:ea typeface="+mn-ea"/>
                          <a:cs typeface="Arial" panose="020B0604020202020204" pitchFamily="34" charset="0"/>
                        </a:rPr>
                        <a:t>No part of this document may be reproduced or transmitted in any form or by any means without prior written consent of Huawei Technologies Co., Ltd.</a:t>
                      </a:r>
                      <a:endParaRPr lang="zh-CN" altLang="zh-CN" sz="900" dirty="0">
                        <a:solidFill>
                          <a:schemeClr val="tx1"/>
                        </a:solidFill>
                        <a:effectLst/>
                        <a:latin typeface="Arial" panose="020B0604020202020204" pitchFamily="34" charset="0"/>
                        <a:ea typeface="+mn-ea"/>
                        <a:cs typeface="Arial" panose="020B0604020202020204" pitchFamily="34" charset="0"/>
                      </a:endParaRPr>
                    </a:p>
                    <a:p>
                      <a:r>
                        <a:rPr lang="en-US" altLang="zh-CN" sz="900" b="1" dirty="0">
                          <a:solidFill>
                            <a:schemeClr val="tx1"/>
                          </a:solidFill>
                          <a:effectLst/>
                          <a:latin typeface="Arial" panose="020B0604020202020204" pitchFamily="34" charset="0"/>
                          <a:ea typeface="+mn-ea"/>
                          <a:cs typeface="Arial" panose="020B0604020202020204" pitchFamily="34" charset="0"/>
                        </a:rPr>
                        <a:t>Trademarks and Permissions</a:t>
                      </a:r>
                      <a:endParaRPr lang="zh-CN" altLang="zh-CN" sz="900" dirty="0">
                        <a:solidFill>
                          <a:schemeClr val="tx1"/>
                        </a:solidFill>
                        <a:effectLst/>
                        <a:latin typeface="Arial" panose="020B0604020202020204" pitchFamily="34" charset="0"/>
                        <a:ea typeface="+mn-ea"/>
                        <a:cs typeface="Arial" panose="020B0604020202020204" pitchFamily="34" charset="0"/>
                      </a:endParaRPr>
                    </a:p>
                    <a:p>
                      <a:r>
                        <a:rPr lang="en-US" altLang="zh-CN" sz="900" dirty="0">
                          <a:solidFill>
                            <a:schemeClr val="tx1"/>
                          </a:solidFill>
                          <a:effectLst/>
                          <a:latin typeface="Arial" panose="020B0604020202020204" pitchFamily="34" charset="0"/>
                          <a:ea typeface="+mn-ea"/>
                          <a:cs typeface="Arial" panose="020B0604020202020204" pitchFamily="34" charset="0"/>
                        </a:rPr>
                        <a:t>               and other Huawei trademarks are trademarks of Huawei Technologies Co., Ltd..</a:t>
                      </a:r>
                      <a:r>
                        <a:rPr lang="zh-CN" altLang="en-US" sz="900" dirty="0">
                          <a:solidFill>
                            <a:schemeClr val="tx1"/>
                          </a:solidFill>
                          <a:effectLst/>
                          <a:latin typeface="Arial" panose="020B0604020202020204" pitchFamily="34" charset="0"/>
                          <a:ea typeface="+mn-ea"/>
                          <a:cs typeface="Arial" panose="020B0604020202020204" pitchFamily="34" charset="0"/>
                        </a:rPr>
                        <a:t> </a:t>
                      </a:r>
                      <a:r>
                        <a:rPr lang="en-US" altLang="zh-CN" sz="900" dirty="0">
                          <a:solidFill>
                            <a:schemeClr val="tx1"/>
                          </a:solidFill>
                          <a:effectLst/>
                          <a:latin typeface="Arial" panose="020B0604020202020204" pitchFamily="34" charset="0"/>
                          <a:ea typeface="+mn-ea"/>
                          <a:cs typeface="Arial" panose="020B0604020202020204" pitchFamily="34" charset="0"/>
                        </a:rPr>
                        <a:t>All other trademarks and trade names mentioned in this document are the property of their respective holders.</a:t>
                      </a:r>
                    </a:p>
                    <a:p>
                      <a:endParaRPr lang="zh-CN" altLang="zh-CN" sz="900" dirty="0">
                        <a:solidFill>
                          <a:schemeClr val="tx1"/>
                        </a:solidFill>
                        <a:effectLst/>
                        <a:latin typeface="Arial" panose="020B0604020202020204" pitchFamily="34" charset="0"/>
                        <a:ea typeface="+mn-ea"/>
                        <a:cs typeface="Arial" panose="020B0604020202020204" pitchFamily="34" charset="0"/>
                      </a:endParaRPr>
                    </a:p>
                    <a:p>
                      <a:r>
                        <a:rPr lang="en-US" altLang="zh-CN" sz="900" b="1" dirty="0">
                          <a:solidFill>
                            <a:schemeClr val="tx1"/>
                          </a:solidFill>
                          <a:effectLst/>
                          <a:latin typeface="Arial" panose="020B0604020202020204" pitchFamily="34" charset="0"/>
                          <a:ea typeface="+mn-ea"/>
                          <a:cs typeface="Arial" panose="020B0604020202020204" pitchFamily="34" charset="0"/>
                        </a:rPr>
                        <a:t>Notice</a:t>
                      </a:r>
                      <a:endParaRPr lang="zh-CN" altLang="zh-CN" sz="900" dirty="0">
                        <a:solidFill>
                          <a:schemeClr val="tx1"/>
                        </a:solidFill>
                        <a:effectLst/>
                        <a:latin typeface="Arial" panose="020B0604020202020204" pitchFamily="34" charset="0"/>
                        <a:ea typeface="+mn-ea"/>
                        <a:cs typeface="Arial" panose="020B0604020202020204" pitchFamily="34" charset="0"/>
                      </a:endParaRPr>
                    </a:p>
                    <a:p>
                      <a:r>
                        <a:rPr lang="en-US" altLang="zh-CN" sz="900" dirty="0">
                          <a:solidFill>
                            <a:schemeClr val="tx1"/>
                          </a:solidFill>
                          <a:effectLst/>
                          <a:latin typeface="Arial" panose="020B0604020202020204" pitchFamily="34" charset="0"/>
                          <a:ea typeface="+mn-ea"/>
                          <a:cs typeface="Arial" panose="020B0604020202020204" pitchFamily="34" charset="0"/>
                        </a:rPr>
                        <a:t>The purchased products, services and features are stipulated by the contract made between Huawei and the customer. All or part of the products, services and features described in this document may not be within the purchase scope or the usage scope. Unless otherwise specified in the contract, all statements, information, and recommendations in this document are provided "AS IS" without warranties, guarantees or representations of any kind, either express or implied.</a:t>
                      </a:r>
                      <a:endParaRPr lang="zh-CN" altLang="zh-CN" sz="900" dirty="0">
                        <a:solidFill>
                          <a:schemeClr val="tx1"/>
                        </a:solidFill>
                        <a:effectLst/>
                        <a:latin typeface="Arial" panose="020B0604020202020204" pitchFamily="34" charset="0"/>
                        <a:ea typeface="+mn-ea"/>
                        <a:cs typeface="Arial" panose="020B0604020202020204" pitchFamily="34" charset="0"/>
                      </a:endParaRPr>
                    </a:p>
                    <a:p>
                      <a:r>
                        <a:rPr lang="en-US" altLang="zh-CN" sz="900" dirty="0">
                          <a:solidFill>
                            <a:schemeClr val="tx1"/>
                          </a:solidFill>
                          <a:effectLst/>
                          <a:latin typeface="Arial" panose="020B0604020202020204" pitchFamily="34" charset="0"/>
                          <a:ea typeface="+mn-ea"/>
                          <a:cs typeface="Arial" panose="020B0604020202020204" pitchFamily="34" charset="0"/>
                        </a:rPr>
                        <a:t>The information in this document is subject to change without notice. Every effort has been made in the preparation of this document to ensure accuracy of the contents, but all statements, information, and recommendations in this document do not constitute a warranty of any kind, express or implied.</a:t>
                      </a:r>
                      <a:endParaRPr sz="100" dirty="0">
                        <a:latin typeface="Arial" panose="020B0604020202020204" pitchFamily="34" charset="0"/>
                        <a:cs typeface="Arial" panose="020B0604020202020204" pitchFamily="34" charset="0"/>
                      </a:endParaRPr>
                    </a:p>
                  </a:txBody>
                  <a:tcPr marL="0" marR="0" marT="91440" marB="0">
                    <a:lnT w="19050" cap="flat" cmpd="sng" algn="ctr">
                      <a:solidFill>
                        <a:srgbClr val="C00000"/>
                      </a:solidFill>
                      <a:prstDash val="solid"/>
                      <a:round/>
                      <a:headEnd type="none" w="med" len="med"/>
                      <a:tailEnd type="none" w="med" len="med"/>
                    </a:lnT>
                  </a:tcPr>
                </a:tc>
                <a:tc>
                  <a:txBody>
                    <a:bodyPr/>
                    <a:lstStyle/>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pPr>
                      <a:endParaRPr sz="1000" dirty="0">
                        <a:latin typeface="Arial" panose="020B0604020202020204" pitchFamily="34" charset="0"/>
                        <a:cs typeface="Arial" panose="020B0604020202020204" pitchFamily="34" charset="0"/>
                      </a:endParaRPr>
                    </a:p>
                    <a:p>
                      <a:pPr>
                        <a:lnSpc>
                          <a:spcPct val="100000"/>
                        </a:lnSpc>
                        <a:spcBef>
                          <a:spcPts val="35"/>
                        </a:spcBef>
                      </a:pPr>
                      <a:endParaRPr sz="1000" dirty="0">
                        <a:latin typeface="Arial" panose="020B0604020202020204" pitchFamily="34" charset="0"/>
                        <a:cs typeface="Arial" panose="020B0604020202020204" pitchFamily="34" charset="0"/>
                      </a:endParaRPr>
                    </a:p>
                    <a:p>
                      <a:pPr marL="243840" marR="59055">
                        <a:lnSpc>
                          <a:spcPct val="143700"/>
                        </a:lnSpc>
                        <a:spcBef>
                          <a:spcPts val="380"/>
                        </a:spcBef>
                      </a:pPr>
                      <a:r>
                        <a:rPr lang="en-US" sz="800" b="1" dirty="0">
                          <a:latin typeface="Arial" panose="020B0604020202020204" pitchFamily="34" charset="0"/>
                          <a:cs typeface="Arial" panose="020B0604020202020204" pitchFamily="34" charset="0"/>
                        </a:rPr>
                        <a:t>Huawei Technologies Co., Ltd.</a:t>
                      </a:r>
                    </a:p>
                    <a:p>
                      <a:pPr marL="243840" marR="59055">
                        <a:lnSpc>
                          <a:spcPct val="143700"/>
                        </a:lnSpc>
                        <a:spcBef>
                          <a:spcPts val="380"/>
                        </a:spcBef>
                      </a:pPr>
                      <a:r>
                        <a:rPr lang="en-US" sz="800" dirty="0" err="1">
                          <a:latin typeface="Arial" panose="020B0604020202020204" pitchFamily="34" charset="0"/>
                          <a:cs typeface="Arial" panose="020B0604020202020204" pitchFamily="34" charset="0"/>
                        </a:rPr>
                        <a:t>Address:Huawei</a:t>
                      </a:r>
                      <a:r>
                        <a:rPr lang="en-US" sz="800" dirty="0">
                          <a:latin typeface="Arial" panose="020B0604020202020204" pitchFamily="34" charset="0"/>
                          <a:cs typeface="Arial" panose="020B0604020202020204" pitchFamily="34" charset="0"/>
                        </a:rPr>
                        <a:t> Industrial Base Bantian, </a:t>
                      </a:r>
                      <a:r>
                        <a:rPr lang="en-US" sz="800" dirty="0" err="1">
                          <a:latin typeface="Arial" panose="020B0604020202020204" pitchFamily="34" charset="0"/>
                          <a:cs typeface="Arial" panose="020B0604020202020204" pitchFamily="34" charset="0"/>
                        </a:rPr>
                        <a:t>Longgang</a:t>
                      </a:r>
                      <a:r>
                        <a:rPr lang="en-US" sz="800" dirty="0">
                          <a:latin typeface="Arial" panose="020B0604020202020204" pitchFamily="34" charset="0"/>
                          <a:cs typeface="Arial" panose="020B0604020202020204" pitchFamily="34" charset="0"/>
                        </a:rPr>
                        <a:t> Shenzhen People's Republic of China</a:t>
                      </a:r>
                    </a:p>
                    <a:p>
                      <a:pPr marL="243840" marR="59055">
                        <a:lnSpc>
                          <a:spcPct val="143700"/>
                        </a:lnSpc>
                        <a:spcBef>
                          <a:spcPts val="380"/>
                        </a:spcBef>
                      </a:pPr>
                      <a:r>
                        <a:rPr lang="en-US" altLang="zh-CN" sz="800" dirty="0">
                          <a:latin typeface="Arial" panose="020B0604020202020204" pitchFamily="34" charset="0"/>
                          <a:cs typeface="Arial" panose="020B0604020202020204" pitchFamily="34" charset="0"/>
                        </a:rPr>
                        <a:t>Postcode:518129</a:t>
                      </a:r>
                    </a:p>
                    <a:p>
                      <a:pPr marL="243840" marR="59055">
                        <a:lnSpc>
                          <a:spcPct val="143700"/>
                        </a:lnSpc>
                        <a:spcBef>
                          <a:spcPts val="380"/>
                        </a:spcBef>
                      </a:pPr>
                      <a:r>
                        <a:rPr lang="en-US" sz="800" dirty="0" err="1">
                          <a:latin typeface="Arial" panose="020B0604020202020204" pitchFamily="34" charset="0"/>
                          <a:cs typeface="Arial" panose="020B0604020202020204" pitchFamily="34" charset="0"/>
                        </a:rPr>
                        <a:t>Website:www.huawei.com</a:t>
                      </a:r>
                      <a:endParaRPr sz="700" dirty="0">
                        <a:latin typeface="Arial" panose="020B0604020202020204" pitchFamily="34" charset="0"/>
                        <a:cs typeface="Arial" panose="020B0604020202020204" pitchFamily="34" charset="0"/>
                      </a:endParaRPr>
                    </a:p>
                  </a:txBody>
                  <a:tcPr marL="0" marR="0" marT="0" marB="0">
                    <a:lnT w="19050" cap="flat" cmpd="sng" algn="ctr">
                      <a:solidFill>
                        <a:srgbClr val="C00000"/>
                      </a:solidFill>
                      <a:prstDash val="solid"/>
                      <a:round/>
                      <a:headEnd type="none" w="med" len="med"/>
                      <a:tailEnd type="none" w="med" len="med"/>
                    </a:lnT>
                  </a:tcPr>
                </a:tc>
                <a:extLst>
                  <a:ext uri="{0D108BD9-81ED-4DB2-BD59-A6C34878D82A}">
                    <a16:rowId xmlns:a16="http://schemas.microsoft.com/office/drawing/2014/main" val="10000"/>
                  </a:ext>
                </a:extLst>
              </a:tr>
            </a:tbl>
          </a:graphicData>
        </a:graphic>
      </p:graphicFrame>
      <p:pic>
        <p:nvPicPr>
          <p:cNvPr id="5" name="object 5"/>
          <p:cNvPicPr/>
          <p:nvPr/>
        </p:nvPicPr>
        <p:blipFill>
          <a:blip r:embed="rId6" cstate="print"/>
          <a:stretch>
            <a:fillRect/>
          </a:stretch>
        </p:blipFill>
        <p:spPr>
          <a:xfrm>
            <a:off x="749185" y="2984500"/>
            <a:ext cx="453390" cy="103504"/>
          </a:xfrm>
          <a:prstGeom prst="rect">
            <a:avLst/>
          </a:prstGeom>
        </p:spPr>
      </p:pic>
      <p:sp>
        <p:nvSpPr>
          <p:cNvPr id="7" name="object 14">
            <a:extLst>
              <a:ext uri="{FF2B5EF4-FFF2-40B4-BE49-F238E27FC236}">
                <a16:creationId xmlns:a16="http://schemas.microsoft.com/office/drawing/2014/main" id="{9230839E-2568-445C-8204-6C229989946F}"/>
              </a:ext>
            </a:extLst>
          </p:cNvPr>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1000" dirty="0">
                <a:solidFill>
                  <a:schemeClr val="tx1"/>
                </a:solidFill>
                <a:latin typeface="微软雅黑" panose="020B0503020204020204" pitchFamily="34" charset="-122"/>
                <a:ea typeface="微软雅黑" panose="020B0503020204020204" pitchFamily="34" charset="-122"/>
                <a:cs typeface="宋体"/>
              </a:rPr>
              <a:t>6</a:t>
            </a:r>
            <a:endParaRPr sz="1000" dirty="0">
              <a:solidFill>
                <a:schemeClr val="tx1"/>
              </a:solidFill>
              <a:latin typeface="微软雅黑" panose="020B0503020204020204" pitchFamily="34" charset="-122"/>
              <a:ea typeface="微软雅黑" panose="020B0503020204020204" pitchFamily="34" charset="-122"/>
              <a:cs typeface="宋体"/>
            </a:endParaRPr>
          </a:p>
        </p:txBody>
      </p:sp>
    </p:spTree>
    <p:extLst>
      <p:ext uri="{BB962C8B-B14F-4D97-AF65-F5344CB8AC3E}">
        <p14:creationId xmlns:p14="http://schemas.microsoft.com/office/powerpoint/2010/main" val="854671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804</TotalTime>
  <Words>2033</Words>
  <Application>Microsoft Office PowerPoint</Application>
  <PresentationFormat>自定义</PresentationFormat>
  <Paragraphs>301</Paragraphs>
  <Slides>7</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7</vt:i4>
      </vt:variant>
    </vt:vector>
  </HeadingPairs>
  <TitlesOfParts>
    <vt:vector size="14" baseType="lpstr">
      <vt:lpstr>Huawei Sans</vt:lpstr>
      <vt:lpstr>微软雅黑</vt:lpstr>
      <vt:lpstr>Arial</vt:lpstr>
      <vt:lpstr>Calibri</vt:lpstr>
      <vt:lpstr>Wingdings</vt:lpstr>
      <vt:lpstr>Office Theme</vt:lpstr>
      <vt:lpstr>1_Office Theme</vt:lpstr>
      <vt:lpstr>NetEngine 8000 X Series All Scenarios Intelligent Routers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NetEngine 8000 M4业务路由器Datasheet</dc:title>
  <dc:subject>Technical Document</dc:subject>
  <dc:creator>Huawei Technologies Co.,Ltd.</dc:creator>
  <cp:lastModifiedBy>Gaojun</cp:lastModifiedBy>
  <cp:revision>146</cp:revision>
  <dcterms:created xsi:type="dcterms:W3CDTF">2024-05-20T15:00:34Z</dcterms:created>
  <dcterms:modified xsi:type="dcterms:W3CDTF">2025-03-24T08:32:39Z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2023-12-12T00:00:00Z</vt:filetime>
  </property>
  <property fmtid="{D5CDD505-2E9C-101B-9397-08002B2CF9AE}" pid="3" name="Creator">
    <vt:lpwstr>Microsoft® Word 2019</vt:lpwstr>
  </property>
  <property fmtid="{D5CDD505-2E9C-101B-9397-08002B2CF9AE}" pid="4" name="LastSaved">
    <vt:filetime>2024-05-20T00:00:00Z</vt:filetime>
  </property>
  <property fmtid="{D5CDD505-2E9C-101B-9397-08002B2CF9AE}" pid="5" name="Producer">
    <vt:lpwstr>Microsoft® Word 2019</vt:lpwstr>
  </property>
  <property fmtid="{D5CDD505-2E9C-101B-9397-08002B2CF9AE}" pid="6" name="_2015_ms_pID_725343">
    <vt:lpwstr>(3)InWY4biot3f1fGxJ/xDmYVXAEm1GG4YZUkM1jkbACcBfblRXfBTEnUOoFFjbKGwMGrC0gFZH
va8dVgRY1Bt5sejyf3/FW+YBPWfEfeCJCgGs7tXjtBhVrJltmwjgiVqWwGWrkj955o/MU3xb
LvPME/MqXWD8idT3P+VZPVJX09tFcS+mRAZS0jgLQ6fALmY7+/eiwBX2JVwpPT/FoVGgdita
oCIlRV8erfbkwOGdgz</vt:lpwstr>
  </property>
  <property fmtid="{D5CDD505-2E9C-101B-9397-08002B2CF9AE}" pid="7" name="_2015_ms_pID_7253431">
    <vt:lpwstr>lH4MxgFcOoOXJfXN8aQY2s7lBMGE6hFYWx0Ja1qFzgBXm80ya6NpwE
8AYXxYTOwig0yxlraj9T15ELWhQKjMoICEp9d003J0G6pzmV687BBsFQB2aDWCnEEnk9VQhA
57/DrilQVshDt/B4K/C/lZCf6aV7gSjQE0ebNRTSSenOjFI/FnPtDLm5DrydmcUQ3Suc4wsb
4NHq1oJCd3YLe4bqenBag3DBRhAzwXRowxHf</vt:lpwstr>
  </property>
  <property fmtid="{D5CDD505-2E9C-101B-9397-08002B2CF9AE}" pid="8" name="_2015_ms_pID_7253432">
    <vt:lpwstr>7w==</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1730281541</vt:lpwstr>
  </property>
</Properties>
</file>